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7" r:id="rId5"/>
    <p:sldId id="362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EE265D3-2E0F-4317-B3C1-30B756FBBF97}">
          <p14:sldIdLst>
            <p14:sldId id="257"/>
            <p14:sldId id="362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</p14:sldIdLst>
        </p14:section>
        <p14:section name="backup" id="{1692E682-680E-F448-B1D2-96D9BAE12FF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565E96-52B8-0762-F30B-274344588102}" name="Hyomin Choi" initials="HC" userId="S::hyomin.choi@interdigital.com::81686c44-5f8f-4be8-8472-42b7e6ab9ba6" providerId="AD"/>
  <p188:author id="{5A8741A9-91A3-8FBD-E634-5DDA7E78168B}" name="Dale Seed" initials="DS" userId="S::Dale.Seed@InterDigital.com::38d6738e-1a9b-40a9-90c6-d262c64718b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35D8"/>
    <a:srgbClr val="113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1" autoAdjust="0"/>
    <p:restoredTop sz="94865" autoAdjust="0"/>
  </p:normalViewPr>
  <p:slideViewPr>
    <p:cSldViewPr snapToGrid="0">
      <p:cViewPr varScale="1">
        <p:scale>
          <a:sx n="122" d="100"/>
          <a:sy n="122" d="100"/>
        </p:scale>
        <p:origin x="16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D03469-F846-8D45-BE08-2D15D1B54EA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134D7-8A73-7941-922D-2EAF5C71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6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C4129-D9BD-3ECD-2BE9-6EBE2EDDC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F5D07-44DE-8B81-1E10-FA77009AD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09737-DBE4-DA9F-0B81-2CEF38551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3C3EE-D4DB-EB16-FBF8-6B91E85C9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134D7-8A73-7941-922D-2EAF5C71E89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5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134D7-8A73-7941-922D-2EAF5C71E8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81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1C215-D828-6621-B2F3-48272374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66D0C-5E33-1B5F-BD79-6D6748AF6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7C409-2FC9-F54D-04C4-B3F5478C6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6C578-1358-38DE-52E8-F4AC2CC83F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134D7-8A73-7941-922D-2EAF5C71E8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80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D4BA8-4097-948E-CF8E-8DDD435CE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2F2D0-471F-3FD5-DCF0-EA2BB1045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139B1-201C-9D2F-9C7D-CEEDD6678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84F1A-8DE0-4DDD-4AD9-488BCC20F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134D7-8A73-7941-922D-2EAF5C71E8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108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B46FB-7E05-958F-315E-E7D3A34D3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CDA275-E679-DA8C-2566-4A228D319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B8F7C-E810-07D8-6406-081A40591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4A198-54ED-8DF4-610B-4DF89B1C1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134D7-8A73-7941-922D-2EAF5C71E8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89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AE4C9-A74D-D7CA-2CC2-1AC4DB94B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B4B652-C7B1-3B12-98D1-C4C639CDD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FB92A-F270-FCCC-E266-A15A98F41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8C963-416F-4409-F841-6BEFE9F4D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134D7-8A73-7941-922D-2EAF5C71E8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06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512C3-DEA8-BF44-70DF-24CBF5F6A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B55CF-94E7-5247-51AE-8A09A4212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6F843-4EB1-C8C4-145C-3C73BF80D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9A497-6C3E-11DA-A44F-BD6BC28608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134D7-8A73-7941-922D-2EAF5C71E89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2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59D4D-7A13-1CC7-76E4-F6B8E971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F0E82-DDD7-99DB-A416-5E4655952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FE336B-B6E2-CDD0-82A8-D6F915AAB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1CAF1-00E6-6B34-7A8A-71DDCBB25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134D7-8A73-7941-922D-2EAF5C71E89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55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A5D11-0FBB-EC7A-333A-CF9F2226C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778FB-5A88-2D4F-BD4D-91F58A2E2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C9DD3-A1BA-9601-BE08-8360CE12A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15CBD-8A76-923A-47BF-8C0B2C2ED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134D7-8A73-7941-922D-2EAF5C71E8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43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CB540-05CB-8947-00DC-3AFEF8F1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C8AEC-434B-8102-DB58-A8AE05D44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3A10C-746A-24C8-0991-81F2877EA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8EDA5-A045-82C8-D6B7-F328855C4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134D7-8A73-7941-922D-2EAF5C71E89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408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9A2D-6A58-C4EB-D0BE-3C004C30D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928F0E-240A-D204-DA9E-66F6AA191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2A599-3CBA-42C6-C97D-1F0C5DA04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90C05-9FB1-9A9D-BD5D-1A83EA4DC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134D7-8A73-7941-922D-2EAF5C71E89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51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C1840-8CA7-72FE-3774-E645B0153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9001A-BED2-7D88-A19A-7117DB99D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C1C16-5DF7-4C1D-F89B-4498DFC33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/>
              <a:t>The camera turns the raw image into an </a:t>
            </a:r>
            <a:r>
              <a:rPr lang="en-US" b="1"/>
              <a:t>image tensor</a:t>
            </a:r>
            <a:r>
              <a:rPr lang="en-US"/>
              <a:t> (numbers instead of pixels).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 first part of the neural network converts that into a </a:t>
            </a:r>
            <a:r>
              <a:rPr lang="en-US" b="1"/>
              <a:t>feature tensor</a:t>
            </a:r>
            <a:r>
              <a:rPr lang="en-US"/>
              <a:t>, which keeps only information useful for detection.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This feature tensor is </a:t>
            </a:r>
            <a:r>
              <a:rPr lang="en-US" b="1"/>
              <a:t>quantized and packed</a:t>
            </a:r>
            <a:r>
              <a:rPr lang="en-US"/>
              <a:t> into a 2‑D image so it can be efficiently sent over the network.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 server </a:t>
            </a:r>
            <a:r>
              <a:rPr lang="en-US" b="1"/>
              <a:t>reconstructs the tensor</a:t>
            </a:r>
            <a:r>
              <a:rPr lang="en-US"/>
              <a:t> and runs the second half of the model to find objects.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Only the final result—</a:t>
            </a:r>
            <a:r>
              <a:rPr lang="en-US" b="1" dirty="0"/>
              <a:t>label, confidence, and bounding box</a:t>
            </a:r>
            <a:r>
              <a:rPr lang="en-US" dirty="0"/>
              <a:t>—is sent back to the camera, not the image itself.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ED2C3-D6D8-827B-76BD-400A0D21A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134D7-8A73-7941-922D-2EAF5C71E89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538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F22AF25-04BE-A7E3-94DF-24746FFD9D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13183"/>
              </a:gs>
              <a:gs pos="100000">
                <a:schemeClr val="accent2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F9CAD-E096-6B7A-CB49-9FCE4F572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39788"/>
            <a:ext cx="9144000" cy="1627094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FDD2F-48F0-F63F-9BF5-7B253E351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943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9CC34B-2E81-D7E1-CBBE-CBA3EE1D709E}"/>
              </a:ext>
            </a:extLst>
          </p:cNvPr>
          <p:cNvCxnSpPr>
            <a:cxnSpLocks/>
          </p:cNvCxnSpPr>
          <p:nvPr userDrawn="1"/>
        </p:nvCxnSpPr>
        <p:spPr>
          <a:xfrm>
            <a:off x="1524000" y="2124635"/>
            <a:ext cx="15015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and black logo&#10;&#10;Description automatically generated">
            <a:extLst>
              <a:ext uri="{FF2B5EF4-FFF2-40B4-BE49-F238E27FC236}">
                <a16:creationId xmlns:a16="http://schemas.microsoft.com/office/drawing/2014/main" id="{43A0E5A2-19C1-E499-4205-117228CF37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0" y="1093088"/>
            <a:ext cx="2832847" cy="64824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41A0D-EC60-D8AD-F82B-F178C2731F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©2025 </a:t>
            </a:r>
            <a:r>
              <a:rPr lang="en-US" err="1"/>
              <a:t>InterDigital</a:t>
            </a:r>
            <a:r>
              <a:rPr lang="en-US"/>
              <a:t>, Inc.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2BB19-91C3-9D45-8B07-045E1F46C6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0A5017-E4C0-DF43-98C9-25D2E70029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35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2657F-768D-3792-C62C-AE3675CF0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307D5-068F-9CCF-10E2-FF0B44659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204A4-8170-14D8-1C45-EA8A571A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A5017-E4C0-DF43-98C9-25D2E70029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CB53F91-0037-80C8-7F60-F91181463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95663" y="6356351"/>
            <a:ext cx="7044002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©2025 InterDigital,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31436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1A12BE2-4BA4-18F7-DC25-CEFBAD4802F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13183"/>
              </a:gs>
              <a:gs pos="100000">
                <a:schemeClr val="accent2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EDEB5-7684-8CAD-6A15-FA7527E98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44516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A1F12-92BA-D29B-5FA3-836A7DAF0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463B8-2F5C-2490-45A1-7E65633AA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21027" y="6356350"/>
            <a:ext cx="673237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©2025 InterDigital, Inc.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98912-CF42-6457-5C62-8347586B8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0A5017-E4C0-DF43-98C9-25D2E70029D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D21BBEC-15C8-CF6D-07AB-30FDE27953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6356349"/>
            <a:ext cx="365125" cy="365125"/>
          </a:xfrm>
          <a:prstGeom prst="rect">
            <a:avLst/>
          </a:prstGeom>
        </p:spPr>
      </p:pic>
      <p:sp>
        <p:nvSpPr>
          <p:cNvPr id="11" name="Round Same Side Corner Rectangle 10">
            <a:extLst>
              <a:ext uri="{FF2B5EF4-FFF2-40B4-BE49-F238E27FC236}">
                <a16:creationId xmlns:a16="http://schemas.microsoft.com/office/drawing/2014/main" id="{C96589E5-92FB-DB35-F771-C71FF02F870D}"/>
              </a:ext>
            </a:extLst>
          </p:cNvPr>
          <p:cNvSpPr/>
          <p:nvPr userDrawn="1"/>
        </p:nvSpPr>
        <p:spPr>
          <a:xfrm rot="10800000">
            <a:off x="-7333" y="0"/>
            <a:ext cx="12192000" cy="31282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02246E-6E43-C7E6-B048-809A5C2337A9}"/>
              </a:ext>
            </a:extLst>
          </p:cNvPr>
          <p:cNvCxnSpPr>
            <a:cxnSpLocks/>
          </p:cNvCxnSpPr>
          <p:nvPr userDrawn="1"/>
        </p:nvCxnSpPr>
        <p:spPr>
          <a:xfrm>
            <a:off x="838200" y="4306361"/>
            <a:ext cx="10509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714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7BACA-CE93-CE40-8303-33430A2F4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D69F0-E526-AEFF-45BB-6E75E84D7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42550-4D82-C557-F3EC-3C3715C29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43199"/>
            <a:ext cx="5157787" cy="344646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3A8CF-B794-06E9-0378-4B965DDC8A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57FA1C-847E-DBA8-EAFF-E3B854150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43199"/>
            <a:ext cx="5183188" cy="344646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45937B-9F8D-5708-B3C6-E2CBCFD9BE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©2025 InterDigital, Inc. All Rights Reserved.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FC31A89-1822-47BD-4ADC-4CAAAA9FF3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0A5017-E4C0-DF43-98C9-25D2E700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7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3783-5F21-FFE2-6351-9A0B62C09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E3FAC2-E1F6-D2F6-BD62-86DE2894FC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©2025 InterDigital, Inc.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EF582-2D78-BAA1-ED52-91A7AFF27C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0A5017-E4C0-DF43-98C9-25D2E700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75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7FDA47-E4EB-8CB5-F695-753D10522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6314" y="6356350"/>
            <a:ext cx="675708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©2025 InterDigital, Inc.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9545F-39F8-8FA3-E240-7D145966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A5017-E4C0-DF43-98C9-25D2E700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AFD21-5C5F-96D9-7DC0-55D99D9F1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988BF-705E-0B49-AA66-91F7D98D7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B8935-CD10-C374-FEC1-C15343E51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02321-130C-742B-3969-EA9A363C14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©2025 InterDigital, Inc.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DAF32F-1E88-A306-8272-102F7DD673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0A5017-E4C0-DF43-98C9-25D2E700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69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0E6F8-505E-6DC0-3080-6147F2AB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6FD64-1D46-D9AB-43E2-27595D098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11357"/>
            <a:ext cx="5181600" cy="4765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3EE74-DCCF-8880-64E5-4E64FF226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11357"/>
            <a:ext cx="5181600" cy="4765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6506C-C2F5-1D7C-F9FC-4F8DF18B2F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©2025 InterDigital, Inc.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AEA4B4-2247-DFE7-B14D-3EDBBC977F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0A5017-E4C0-DF43-98C9-25D2E700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88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9E835C-EEF8-F19A-4A1B-6327CC022A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13183"/>
              </a:gs>
              <a:gs pos="100000">
                <a:schemeClr val="accent2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A0E6F8-505E-6DC0-3080-6147F2AB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6FD64-1D46-D9AB-43E2-27595D098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11357"/>
            <a:ext cx="5181600" cy="476560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3EE74-DCCF-8880-64E5-4E64FF226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11357"/>
            <a:ext cx="5181600" cy="476560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4F11EAB-7089-065E-F8BC-A08EC24142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6356349"/>
            <a:ext cx="365125" cy="365125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E130864-0BDE-0669-C2AD-56ADCF7034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©2025 InterDigital, Inc. All Rights Reserved.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2E8E56-25A1-4C07-3A87-F62D4E1B37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0A5017-E4C0-DF43-98C9-25D2E700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90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E258-E7D1-D020-84C4-2A9AA35A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08059" cy="82757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FFF258B-DF32-7B7F-A883-BD0D7F253A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42188" y="0"/>
            <a:ext cx="484981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20DDB7-8B43-6348-6BEC-7E9776F5B7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9930" y="1424642"/>
            <a:ext cx="5239684" cy="68673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6B3CF56-CC49-BAEB-0CE0-F52A374526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0900" y="1438275"/>
            <a:ext cx="673100" cy="6731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C7F0352-1B2F-36D2-D965-BADBC8AC0D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9930" y="2369345"/>
            <a:ext cx="5239684" cy="68673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A3B7807-6A3C-6844-93F8-7CFF7B17958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0900" y="2382978"/>
            <a:ext cx="673100" cy="6731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2FC87CA-8874-8CDE-B175-801D13316E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19930" y="3314047"/>
            <a:ext cx="5239684" cy="68673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2125F47-35F0-C922-7487-A3E88863AFA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50900" y="3327680"/>
            <a:ext cx="673100" cy="6731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E698F98-8C0F-A228-AD96-4A187D3FE38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19930" y="4258749"/>
            <a:ext cx="5239684" cy="68673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74F6AA6B-084E-3B72-96DE-71C929AB735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50900" y="4272382"/>
            <a:ext cx="673100" cy="6731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33AB31A-B29B-0345-0BC4-642A7E8FC6E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19930" y="5203452"/>
            <a:ext cx="5239684" cy="68673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7020A830-4BE7-97B3-CEA0-D63B8F21992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50900" y="5217085"/>
            <a:ext cx="673100" cy="6731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AF357-111F-D115-AC60-04089B71D21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©2025 InterDigital, Inc.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8BA67-B1DF-613B-3A7D-2DD8EB8183F5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060A5017-E4C0-DF43-98C9-25D2E700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5F71-AFC6-95AE-0FA7-020FFD36456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13183"/>
              </a:gs>
              <a:gs pos="100000">
                <a:schemeClr val="accent2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2E258-E7D1-D020-84C4-2A9AA35A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08059" cy="8275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FFF258B-DF32-7B7F-A883-BD0D7F253A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42188" y="0"/>
            <a:ext cx="4849812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20DDB7-8B43-6348-6BEC-7E9776F5B7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9930" y="1424642"/>
            <a:ext cx="5239684" cy="686733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6B3CF56-CC49-BAEB-0CE0-F52A374526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0900" y="1438275"/>
            <a:ext cx="673100" cy="67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C7F0352-1B2F-36D2-D965-BADBC8AC0D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9930" y="2369345"/>
            <a:ext cx="5239684" cy="686733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A3B7807-6A3C-6844-93F8-7CFF7B17958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0900" y="2382978"/>
            <a:ext cx="673100" cy="67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2FC87CA-8874-8CDE-B175-801D13316E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19930" y="3314047"/>
            <a:ext cx="5239684" cy="686733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2125F47-35F0-C922-7487-A3E88863AFA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50900" y="3327680"/>
            <a:ext cx="673100" cy="67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E698F98-8C0F-A228-AD96-4A187D3FE38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19930" y="4258749"/>
            <a:ext cx="5239684" cy="686733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74F6AA6B-084E-3B72-96DE-71C929AB735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50900" y="4272382"/>
            <a:ext cx="673100" cy="67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33AB31A-B29B-0345-0BC4-642A7E8FC6E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19930" y="5203452"/>
            <a:ext cx="5239684" cy="686733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7020A830-4BE7-97B3-CEA0-D63B8F21992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50900" y="5217085"/>
            <a:ext cx="673100" cy="67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2CE4078-C7BA-DC6E-87B8-A6A46CD3B9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6356349"/>
            <a:ext cx="365125" cy="365125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498BF44-9996-05C9-D5C3-21F920B061E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©2025 InterDigital, Inc. All Rights Reserved.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47AB715-9CF1-8A7C-8D52-52C605B6964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0A5017-E4C0-DF43-98C9-25D2E70029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1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EC2995-E0D1-02CF-2F57-026A2739B12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13183"/>
              </a:gs>
              <a:gs pos="100000">
                <a:schemeClr val="accent2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A0E6F8-505E-6DC0-3080-6147F2AB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6FD64-1D46-D9AB-43E2-27595D098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11357"/>
            <a:ext cx="5181600" cy="476560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3EE74-DCCF-8880-64E5-4E64FF226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11357"/>
            <a:ext cx="5181600" cy="476560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7CF47E4-30F3-3439-03B2-794FB15BA4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6356349"/>
            <a:ext cx="365125" cy="365125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E307F5-865D-6AF1-71C7-811AED6B74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©2025 InterDigital, Inc. All Rights Reserved.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61B0355-4402-4CE2-EA2C-52B5EAB74C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0A5017-E4C0-DF43-98C9-25D2E70029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34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E177C13-7383-96A6-7B8D-3F423910761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13183"/>
              </a:gs>
              <a:gs pos="100000">
                <a:schemeClr val="accent2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A0E6F8-505E-6DC0-3080-6147F2AB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7CF47E4-30F3-3439-03B2-794FB15BA4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6356349"/>
            <a:ext cx="365125" cy="365125"/>
          </a:xfrm>
          <a:prstGeom prst="rect">
            <a:avLst/>
          </a:prstGeom>
        </p:spPr>
      </p:pic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38E3A031-CBAA-79FC-6C8F-40181AC25C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557822"/>
            <a:ext cx="3482788" cy="4187342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lIns="182880" tIns="182880"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DC256FF4-2DFD-D9CC-0FEF-23672838FD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20988" y="1557822"/>
            <a:ext cx="3550024" cy="4187342"/>
          </a:xfrm>
          <a:prstGeom prst="roundRect">
            <a:avLst>
              <a:gd name="adj" fmla="val 0"/>
            </a:avLst>
          </a:prstGeom>
          <a:solidFill>
            <a:schemeClr val="accent3"/>
          </a:solidFill>
        </p:spPr>
        <p:txBody>
          <a:bodyPr lIns="182880" tIns="182880"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193E9D21-C50F-F5DC-5C45-3400A9450FF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871012" y="1557822"/>
            <a:ext cx="3482788" cy="4187342"/>
          </a:xfrm>
          <a:prstGeom prst="roundRect">
            <a:avLst>
              <a:gd name="adj" fmla="val 0"/>
            </a:avLst>
          </a:prstGeom>
          <a:solidFill>
            <a:schemeClr val="accent4"/>
          </a:solidFill>
        </p:spPr>
        <p:txBody>
          <a:bodyPr lIns="182880" tIns="182880"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86EF459-11DF-EF15-53EB-D059D02BCE1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41961" y="1708150"/>
            <a:ext cx="854075" cy="854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DD310C35-ACC3-AB00-914E-581617F4A7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91985" y="1708150"/>
            <a:ext cx="854075" cy="854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E4C84A4-0EE5-85C4-F532-72951C1445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74773" y="1708150"/>
            <a:ext cx="854075" cy="854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DB9E36-3F88-1413-39B3-18278620453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©2025 InterDigital, Inc.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BF867-5121-9B26-E1ED-C1954B514EF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0A5017-E4C0-DF43-98C9-25D2E70029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86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982267-B8DC-D141-ED1A-8E462B4028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13183"/>
              </a:gs>
              <a:gs pos="100000">
                <a:schemeClr val="accent2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A0E6F8-505E-6DC0-3080-6147F2AB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7CF47E4-30F3-3439-03B2-794FB15BA4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6356349"/>
            <a:ext cx="365125" cy="365125"/>
          </a:xfrm>
          <a:prstGeom prst="rect">
            <a:avLst/>
          </a:prstGeom>
        </p:spPr>
      </p:pic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38E3A031-CBAA-79FC-6C8F-40181AC25C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557822"/>
            <a:ext cx="3383280" cy="4187342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txBody>
          <a:bodyPr lIns="182880" tIns="182880" anchor="ctr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DC256FF4-2DFD-D9CC-0FEF-23672838FD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6733" y="1557822"/>
            <a:ext cx="3383280" cy="4187342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txBody>
          <a:bodyPr lIns="182880" tIns="182880" anchor="ctr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193E9D21-C50F-F5DC-5C45-3400A9450FF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75265" y="1557822"/>
            <a:ext cx="3383280" cy="4187342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txBody>
          <a:bodyPr lIns="182880" tIns="182880" anchor="ctr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86EF459-11DF-EF15-53EB-D059D02BCE1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41961" y="1708150"/>
            <a:ext cx="854075" cy="85407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DD310C35-ACC3-AB00-914E-581617F4A7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91985" y="1708150"/>
            <a:ext cx="854075" cy="85407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E4C84A4-0EE5-85C4-F532-72951C1445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74773" y="1708150"/>
            <a:ext cx="854075" cy="85407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EE08BC-2579-11DC-5E61-246E8286953D}"/>
              </a:ext>
            </a:extLst>
          </p:cNvPr>
          <p:cNvSpPr/>
          <p:nvPr userDrawn="1"/>
        </p:nvSpPr>
        <p:spPr>
          <a:xfrm>
            <a:off x="838200" y="5516564"/>
            <a:ext cx="338328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EB1E53-34F2-9E50-84C2-D3402AB05FE9}"/>
              </a:ext>
            </a:extLst>
          </p:cNvPr>
          <p:cNvSpPr/>
          <p:nvPr userDrawn="1"/>
        </p:nvSpPr>
        <p:spPr>
          <a:xfrm>
            <a:off x="4406733" y="5516564"/>
            <a:ext cx="338328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F9892F-A9D3-9E59-2577-56A7C1235503}"/>
              </a:ext>
            </a:extLst>
          </p:cNvPr>
          <p:cNvSpPr/>
          <p:nvPr userDrawn="1"/>
        </p:nvSpPr>
        <p:spPr>
          <a:xfrm>
            <a:off x="7975265" y="5516564"/>
            <a:ext cx="338328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35A5FBF-AF2F-C5F0-D9D8-05095A2158C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©2025 InterDigital, Inc. All Rights Reserved.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2402CD6-4E7F-4E6C-B1F5-87B355AEF28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0A5017-E4C0-DF43-98C9-25D2E70029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184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0E6F8-505E-6DC0-3080-6147F2AB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7CF47E4-30F3-3439-03B2-794FB15BA4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6356349"/>
            <a:ext cx="365125" cy="365125"/>
          </a:xfrm>
          <a:prstGeom prst="rect">
            <a:avLst/>
          </a:prstGeom>
        </p:spPr>
      </p:pic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38E3A031-CBAA-79FC-6C8F-40181AC25C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557822"/>
            <a:ext cx="3482788" cy="4187342"/>
          </a:xfrm>
          <a:prstGeom prst="roundRect">
            <a:avLst>
              <a:gd name="adj" fmla="val 0"/>
            </a:avLst>
          </a:prstGeom>
          <a:solidFill>
            <a:schemeClr val="tx1"/>
          </a:solidFill>
        </p:spPr>
        <p:txBody>
          <a:bodyPr lIns="182880" tIns="182880"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DC256FF4-2DFD-D9CC-0FEF-23672838FD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20988" y="1557822"/>
            <a:ext cx="3550024" cy="4187342"/>
          </a:xfrm>
          <a:prstGeom prst="roundRect">
            <a:avLst>
              <a:gd name="adj" fmla="val 0"/>
            </a:avLst>
          </a:prstGeom>
          <a:solidFill>
            <a:schemeClr val="accent2"/>
          </a:solidFill>
        </p:spPr>
        <p:txBody>
          <a:bodyPr lIns="182880" tIns="182880"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193E9D21-C50F-F5DC-5C45-3400A9450FF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871012" y="1557822"/>
            <a:ext cx="3482788" cy="4187342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lIns="182880" tIns="182880"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86EF459-11DF-EF15-53EB-D059D02BCE1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41961" y="1708150"/>
            <a:ext cx="854075" cy="854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DD310C35-ACC3-AB00-914E-581617F4A7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91985" y="1708150"/>
            <a:ext cx="854075" cy="854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E4C84A4-0EE5-85C4-F532-72951C1445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74773" y="1708150"/>
            <a:ext cx="854075" cy="854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5D19EB-F021-92BA-319B-5055594AB5A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©2025 InterDigital, Inc.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93A09-5472-6135-3B37-4C71492903F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60A5017-E4C0-DF43-98C9-25D2E700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56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FD68D15-17A5-0CC3-8752-5548C58AF525}"/>
              </a:ext>
            </a:extLst>
          </p:cNvPr>
          <p:cNvSpPr/>
          <p:nvPr userDrawn="1"/>
        </p:nvSpPr>
        <p:spPr>
          <a:xfrm>
            <a:off x="6993924" y="0"/>
            <a:ext cx="5198076" cy="6858000"/>
          </a:xfrm>
          <a:prstGeom prst="rect">
            <a:avLst/>
          </a:prstGeom>
          <a:gradFill flip="none" rotWithShape="1">
            <a:gsLst>
              <a:gs pos="0">
                <a:srgbClr val="113183"/>
              </a:gs>
              <a:gs pos="100000">
                <a:schemeClr val="accent2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EBE87-DD37-BD23-0D22-E83B56990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783434" cy="1112838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F0FC7-5815-E8F6-50F2-5237656F9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79104"/>
            <a:ext cx="5783434" cy="408988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FC10E8DA-F8CB-0BB5-DD0B-65E21563FE19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454349" y="457200"/>
            <a:ext cx="4274102" cy="555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C7060-2F99-71EF-7DBC-50B40FCA7FC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©2025 InterDigital, Inc.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7092791-B716-4113-6E7E-5D39ACF7817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0A5017-E4C0-DF43-98C9-25D2E70029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55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443C230-C939-57DC-A63A-4278E6565913}"/>
              </a:ext>
            </a:extLst>
          </p:cNvPr>
          <p:cNvSpPr/>
          <p:nvPr userDrawn="1"/>
        </p:nvSpPr>
        <p:spPr>
          <a:xfrm>
            <a:off x="0" y="0"/>
            <a:ext cx="7066722" cy="6858000"/>
          </a:xfrm>
          <a:prstGeom prst="rect">
            <a:avLst/>
          </a:prstGeom>
          <a:gradFill flip="none" rotWithShape="1">
            <a:gsLst>
              <a:gs pos="0">
                <a:srgbClr val="113183"/>
              </a:gs>
              <a:gs pos="100000">
                <a:schemeClr val="accent2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EBE87-DD37-BD23-0D22-E83B56990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783434" cy="1112838"/>
          </a:xfrm>
        </p:spPr>
        <p:txBody>
          <a:bodyPr anchor="ctr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F0FC7-5815-E8F6-50F2-5237656F9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79104"/>
            <a:ext cx="5783434" cy="408988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FC10E8DA-F8CB-0BB5-DD0B-65E21563FE19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454349" y="457200"/>
            <a:ext cx="4274102" cy="555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285D64C-BB9D-A1DA-0499-8DCE9733DB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6356349"/>
            <a:ext cx="365125" cy="365125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250892-84D5-3449-E409-393788886A6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©2025 InterDigital,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2AD2E6-68F8-4ECD-DE0D-5678261097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60A5017-E4C0-DF43-98C9-25D2E700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015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957610-2AC4-DF43-0570-7814B3BE9525}"/>
              </a:ext>
            </a:extLst>
          </p:cNvPr>
          <p:cNvSpPr/>
          <p:nvPr userDrawn="1"/>
        </p:nvSpPr>
        <p:spPr>
          <a:xfrm>
            <a:off x="0" y="0"/>
            <a:ext cx="12192000" cy="2584173"/>
          </a:xfrm>
          <a:prstGeom prst="rect">
            <a:avLst/>
          </a:prstGeom>
          <a:gradFill flip="none" rotWithShape="1">
            <a:gsLst>
              <a:gs pos="0">
                <a:srgbClr val="113183"/>
              </a:gs>
              <a:gs pos="100000">
                <a:schemeClr val="accent2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EBE87-DD37-BD23-0D22-E83B56990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4012" cy="1112838"/>
          </a:xfrm>
        </p:spPr>
        <p:txBody>
          <a:bodyPr anchor="ctr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F0FC7-5815-E8F6-50F2-5237656F9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190460"/>
            <a:ext cx="3255133" cy="267852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285D64C-BB9D-A1DA-0499-8DCE9733DB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6356349"/>
            <a:ext cx="365125" cy="365125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B659297-0959-1A00-2B22-A9D88BDD60A5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458495" y="3190460"/>
            <a:ext cx="3255133" cy="267852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AB24128-114D-7BED-FF1E-409634AA0F4D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8077201" y="3190460"/>
            <a:ext cx="3255133" cy="267852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DC4ED92-3C3E-4E55-063C-DDA985DF7CC4}"/>
              </a:ext>
            </a:extLst>
          </p:cNvPr>
          <p:cNvSpPr/>
          <p:nvPr userDrawn="1"/>
        </p:nvSpPr>
        <p:spPr>
          <a:xfrm>
            <a:off x="1945549" y="2027237"/>
            <a:ext cx="1043609" cy="10436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8A74E5-6A3E-BA80-B6C8-957F94EDDC89}"/>
              </a:ext>
            </a:extLst>
          </p:cNvPr>
          <p:cNvSpPr/>
          <p:nvPr userDrawn="1"/>
        </p:nvSpPr>
        <p:spPr>
          <a:xfrm>
            <a:off x="5464002" y="2027237"/>
            <a:ext cx="1043609" cy="10436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C88BE6-0989-0D94-C33C-18BF058168B9}"/>
              </a:ext>
            </a:extLst>
          </p:cNvPr>
          <p:cNvSpPr/>
          <p:nvPr userDrawn="1"/>
        </p:nvSpPr>
        <p:spPr>
          <a:xfrm>
            <a:off x="9081845" y="2027237"/>
            <a:ext cx="1043609" cy="10436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051A213-2056-16E1-B1C5-D679994EE1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95071" y="2057401"/>
            <a:ext cx="944563" cy="944562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CCFD1ABB-3CE2-6811-E589-22846981136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3645" y="2057401"/>
            <a:ext cx="944563" cy="94456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25244DAA-79B1-E196-6EF8-8064B7D7C52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21427" y="2057401"/>
            <a:ext cx="944563" cy="94456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5B473-673C-FD85-AE4D-CB0ECB5898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©2025 InterDigital, Inc. All Rights Reserved.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9516C2E-2046-EDC5-4FC3-A5F68FBD42F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60A5017-E4C0-DF43-98C9-25D2E700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56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9A6C7D-527F-153A-1BC0-6858546861C5}"/>
              </a:ext>
            </a:extLst>
          </p:cNvPr>
          <p:cNvSpPr/>
          <p:nvPr userDrawn="1"/>
        </p:nvSpPr>
        <p:spPr>
          <a:xfrm>
            <a:off x="0" y="0"/>
            <a:ext cx="12192000" cy="2891481"/>
          </a:xfrm>
          <a:prstGeom prst="rect">
            <a:avLst/>
          </a:prstGeom>
          <a:gradFill flip="none" rotWithShape="1">
            <a:gsLst>
              <a:gs pos="0">
                <a:srgbClr val="113183"/>
              </a:gs>
              <a:gs pos="100000">
                <a:schemeClr val="accent2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EBE87-DD37-BD23-0D22-E83B56990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4012" cy="1112838"/>
          </a:xfrm>
        </p:spPr>
        <p:txBody>
          <a:bodyPr anchor="ctr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285D64C-BB9D-A1DA-0499-8DCE9733DB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6356349"/>
            <a:ext cx="365125" cy="365125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BBD0903-3B1F-0C4B-6CA7-2DC4B50579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027238"/>
            <a:ext cx="3349625" cy="3717925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txBody>
          <a:bodyPr lIns="182880"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Round Same Side Corner Rectangle 17">
            <a:extLst>
              <a:ext uri="{FF2B5EF4-FFF2-40B4-BE49-F238E27FC236}">
                <a16:creationId xmlns:a16="http://schemas.microsoft.com/office/drawing/2014/main" id="{B7994B55-60A5-0FA1-1789-8D0DC9EF212C}"/>
              </a:ext>
            </a:extLst>
          </p:cNvPr>
          <p:cNvSpPr/>
          <p:nvPr userDrawn="1"/>
        </p:nvSpPr>
        <p:spPr>
          <a:xfrm rot="10800000">
            <a:off x="913454" y="5495195"/>
            <a:ext cx="3349625" cy="262324"/>
          </a:xfrm>
          <a:prstGeom prst="round2SameRect">
            <a:avLst>
              <a:gd name="adj1" fmla="val 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42C4EAB7-88D8-60DD-C959-C2B5C813748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9843" y="2027238"/>
            <a:ext cx="3349625" cy="3717925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txBody>
          <a:bodyPr lIns="182880"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B7A2CA68-130A-E213-3938-FAE0FDF2FE4C}"/>
              </a:ext>
            </a:extLst>
          </p:cNvPr>
          <p:cNvSpPr/>
          <p:nvPr userDrawn="1"/>
        </p:nvSpPr>
        <p:spPr>
          <a:xfrm rot="10800000">
            <a:off x="4458897" y="5495195"/>
            <a:ext cx="3349625" cy="262324"/>
          </a:xfrm>
          <a:prstGeom prst="round2SameRect">
            <a:avLst>
              <a:gd name="adj1" fmla="val 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B4106703-14A7-1B76-1E57-9938E3705C2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07179" y="2027238"/>
            <a:ext cx="3349625" cy="3717925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txBody>
          <a:bodyPr lIns="182880"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Round Same Side Corner Rectangle 21">
            <a:extLst>
              <a:ext uri="{FF2B5EF4-FFF2-40B4-BE49-F238E27FC236}">
                <a16:creationId xmlns:a16="http://schemas.microsoft.com/office/drawing/2014/main" id="{B2070175-B8BB-A86C-899B-19F6A165C526}"/>
              </a:ext>
            </a:extLst>
          </p:cNvPr>
          <p:cNvSpPr/>
          <p:nvPr userDrawn="1"/>
        </p:nvSpPr>
        <p:spPr>
          <a:xfrm rot="10800000">
            <a:off x="8006233" y="5495195"/>
            <a:ext cx="3349625" cy="262324"/>
          </a:xfrm>
          <a:prstGeom prst="round2SameRect">
            <a:avLst>
              <a:gd name="adj1" fmla="val 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CAF3FC-82A3-C14A-B302-F30DED3D3C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©2025 InterDigital, Inc.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C0FE7-F386-FDEE-AE70-FF7BC3984B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60A5017-E4C0-DF43-98C9-25D2E700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44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4F105E-7E9C-3C1B-BADA-0032C20FB6E0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gradFill flip="none" rotWithShape="1">
            <a:gsLst>
              <a:gs pos="0">
                <a:srgbClr val="113183"/>
              </a:gs>
              <a:gs pos="100000">
                <a:schemeClr val="accent2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EBE87-DD37-BD23-0D22-E83B56990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4012" cy="1112838"/>
          </a:xfrm>
        </p:spPr>
        <p:txBody>
          <a:bodyPr anchor="ctr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285D64C-BB9D-A1DA-0499-8DCE9733DB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6356349"/>
            <a:ext cx="365125" cy="365125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BBD0903-3B1F-0C4B-6CA7-2DC4B50579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16" y="1922929"/>
            <a:ext cx="3346704" cy="3822234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txBody>
          <a:bodyPr lIns="182880" tIns="182880"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42C4EAB7-88D8-60DD-C959-C2B5C813748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9843" y="1922929"/>
            <a:ext cx="3349625" cy="3822234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txBody>
          <a:bodyPr lIns="182880" tIns="182880"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B4106703-14A7-1B76-1E57-9938E3705C2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07179" y="1922929"/>
            <a:ext cx="3349625" cy="3822234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txBody>
          <a:bodyPr lIns="182880" tIns="182880"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27E3A2-15E7-B517-9A77-4148D3D75CD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41677" y="2106818"/>
            <a:ext cx="2765101" cy="13221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52001137-B613-7C37-73AC-8011541899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66324" y="2106818"/>
            <a:ext cx="2831264" cy="13221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7B80A433-7853-1DF6-C79C-A642F226803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56494" y="2106818"/>
            <a:ext cx="2793829" cy="13221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Round Same Side Corner Rectangle 12">
            <a:extLst>
              <a:ext uri="{FF2B5EF4-FFF2-40B4-BE49-F238E27FC236}">
                <a16:creationId xmlns:a16="http://schemas.microsoft.com/office/drawing/2014/main" id="{59EC7D0C-C9CD-882C-08FD-A5172F885B23}"/>
              </a:ext>
            </a:extLst>
          </p:cNvPr>
          <p:cNvSpPr/>
          <p:nvPr userDrawn="1"/>
        </p:nvSpPr>
        <p:spPr>
          <a:xfrm rot="10800000">
            <a:off x="835196" y="5745161"/>
            <a:ext cx="3409018" cy="262325"/>
          </a:xfrm>
          <a:prstGeom prst="round2SameRect">
            <a:avLst>
              <a:gd name="adj1" fmla="val 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 Same Side Corner Rectangle 14">
            <a:extLst>
              <a:ext uri="{FF2B5EF4-FFF2-40B4-BE49-F238E27FC236}">
                <a16:creationId xmlns:a16="http://schemas.microsoft.com/office/drawing/2014/main" id="{6FF523F5-7D95-AB37-23D1-2D5B1E65A247}"/>
              </a:ext>
            </a:extLst>
          </p:cNvPr>
          <p:cNvSpPr/>
          <p:nvPr userDrawn="1"/>
        </p:nvSpPr>
        <p:spPr>
          <a:xfrm rot="10800000">
            <a:off x="4441927" y="5745162"/>
            <a:ext cx="3375295" cy="262325"/>
          </a:xfrm>
          <a:prstGeom prst="round2SameRect">
            <a:avLst>
              <a:gd name="adj1" fmla="val 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E5B8ADD5-C4EF-B715-3A23-9147900B2C90}"/>
              </a:ext>
            </a:extLst>
          </p:cNvPr>
          <p:cNvSpPr/>
          <p:nvPr userDrawn="1"/>
        </p:nvSpPr>
        <p:spPr>
          <a:xfrm rot="10800000">
            <a:off x="7978503" y="5745161"/>
            <a:ext cx="3375295" cy="262325"/>
          </a:xfrm>
          <a:prstGeom prst="round2SameRect">
            <a:avLst>
              <a:gd name="adj1" fmla="val 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ED7D81-E18C-3E19-8DDA-81731EC8B37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©2025 InterDigital, Inc.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6DE1449-5A9E-F974-8717-4D1D405D5FB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60A5017-E4C0-DF43-98C9-25D2E700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84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0E1F8F-C1BB-D58B-10A1-E97B5C3770DE}"/>
              </a:ext>
            </a:extLst>
          </p:cNvPr>
          <p:cNvSpPr/>
          <p:nvPr userDrawn="1"/>
        </p:nvSpPr>
        <p:spPr>
          <a:xfrm>
            <a:off x="9448798" y="0"/>
            <a:ext cx="2743201" cy="6858000"/>
          </a:xfrm>
          <a:prstGeom prst="rect">
            <a:avLst/>
          </a:prstGeom>
          <a:gradFill flip="none" rotWithShape="1">
            <a:gsLst>
              <a:gs pos="0">
                <a:srgbClr val="113183"/>
              </a:gs>
              <a:gs pos="100000">
                <a:schemeClr val="accent2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EBE87-DD37-BD23-0D22-E83B56990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4012" cy="1112838"/>
          </a:xfrm>
        </p:spPr>
        <p:txBody>
          <a:bodyPr anchor="ctr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285D64C-BB9D-A1DA-0499-8DCE9733DB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6356349"/>
            <a:ext cx="365125" cy="365125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881250E-D6C7-20AB-05F6-22DA4BA8AA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789113"/>
            <a:ext cx="2401888" cy="4194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Placeholder 19">
            <a:extLst>
              <a:ext uri="{FF2B5EF4-FFF2-40B4-BE49-F238E27FC236}">
                <a16:creationId xmlns:a16="http://schemas.microsoft.com/office/drawing/2014/main" id="{6DA95E00-AF16-0440-DF8F-8BD1D3DC3EB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581400" y="1762125"/>
            <a:ext cx="3694113" cy="4221163"/>
          </a:xfrm>
          <a:solidFill>
            <a:schemeClr val="bg2"/>
          </a:solidFill>
        </p:spPr>
        <p:txBody>
          <a:bodyPr lIns="182880" tIns="182880"/>
          <a:lstStyle/>
          <a:p>
            <a:endParaRPr lang="en-US"/>
          </a:p>
        </p:txBody>
      </p:sp>
      <p:sp>
        <p:nvSpPr>
          <p:cNvPr id="22" name="Chart Placeholder 19">
            <a:extLst>
              <a:ext uri="{FF2B5EF4-FFF2-40B4-BE49-F238E27FC236}">
                <a16:creationId xmlns:a16="http://schemas.microsoft.com/office/drawing/2014/main" id="{2BF9B117-5995-556C-3328-CE531553CC08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616826" y="1762125"/>
            <a:ext cx="3719700" cy="4221163"/>
          </a:xfrm>
          <a:solidFill>
            <a:schemeClr val="bg2"/>
          </a:solidFill>
        </p:spPr>
        <p:txBody>
          <a:bodyPr lIns="182880" tIns="182880"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C3D33-D461-8884-FE82-6E07BF3C0D2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©2025 InterDigital, Inc.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F8F7E-A98E-30A2-1CA2-BC3C1D234A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0A5017-E4C0-DF43-98C9-25D2E70029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57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F22AF25-04BE-A7E3-94DF-24746FFD9D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13183"/>
              </a:gs>
              <a:gs pos="100000">
                <a:schemeClr val="accent2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/>
          </a:p>
        </p:txBody>
      </p:sp>
      <p:pic>
        <p:nvPicPr>
          <p:cNvPr id="10" name="Picture 9" descr="A blue and black logo&#10;&#10;Description automatically generated">
            <a:extLst>
              <a:ext uri="{FF2B5EF4-FFF2-40B4-BE49-F238E27FC236}">
                <a16:creationId xmlns:a16="http://schemas.microsoft.com/office/drawing/2014/main" id="{43A0E5A2-19C1-E499-4205-117228CF37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7051" y="1944346"/>
            <a:ext cx="2832847" cy="64824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41A0D-EC60-D8AD-F82B-F178C2731F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©2025 InterDigital, Inc.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2BB19-91C3-9D45-8B07-045E1F46C6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0A5017-E4C0-DF43-98C9-25D2E70029D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9B82AC7-57AF-B8CC-E7B5-5834CE3297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9680" y="2592595"/>
            <a:ext cx="9832639" cy="204932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7DA33F-2DDD-63D2-1708-8A56CEE37407}"/>
              </a:ext>
            </a:extLst>
          </p:cNvPr>
          <p:cNvCxnSpPr>
            <a:cxnSpLocks/>
          </p:cNvCxnSpPr>
          <p:nvPr userDrawn="1"/>
        </p:nvCxnSpPr>
        <p:spPr>
          <a:xfrm>
            <a:off x="4676172" y="2400296"/>
            <a:ext cx="61689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693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4FE16-6785-891E-F0FB-45CC69AB1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A31C3-C043-934C-BC33-5DC2733F8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1661"/>
            <a:ext cx="10515600" cy="4815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D1F0B-92A3-1D06-5C53-49472FCF74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95663" y="6356351"/>
            <a:ext cx="7044002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©2025 </a:t>
            </a:r>
            <a:r>
              <a:rPr lang="en-US" err="1"/>
              <a:t>InterDigital</a:t>
            </a:r>
            <a:r>
              <a:rPr lang="en-US"/>
              <a:t>, Inc.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5FDFA-3D22-4696-4D8A-4FF18672D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A5017-E4C0-DF43-98C9-25D2E70029D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43F52B-D08B-4070-A28C-10CBD250C3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8200" y="6356349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0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2" r:id="rId8"/>
    <p:sldLayoutId id="2147483668" r:id="rId9"/>
    <p:sldLayoutId id="2147483665" r:id="rId10"/>
    <p:sldLayoutId id="2147483666" r:id="rId11"/>
    <p:sldLayoutId id="2147483661" r:id="rId12"/>
    <p:sldLayoutId id="2147483662" r:id="rId13"/>
    <p:sldLayoutId id="2147483664" r:id="rId14"/>
    <p:sldLayoutId id="2147483663" r:id="rId15"/>
    <p:sldLayoutId id="2147483657" r:id="rId16"/>
    <p:sldLayoutId id="2147483658" r:id="rId17"/>
    <p:sldLayoutId id="2147483659" r:id="rId18"/>
    <p:sldLayoutId id="2147483660" r:id="rId19"/>
    <p:sldLayoutId id="2147483667" r:id="rId20"/>
    <p:sldLayoutId id="2147483669" r:id="rId21"/>
    <p:sldLayoutId id="2147483670" r:id="rId2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31EB947-7DF4-B2DE-688C-DD3D9887C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39788"/>
            <a:ext cx="9978736" cy="1627094"/>
          </a:xfrm>
        </p:spPr>
        <p:txBody>
          <a:bodyPr>
            <a:normAutofit/>
          </a:bodyPr>
          <a:lstStyle/>
          <a:p>
            <a:r>
              <a:rPr lang="en-US" dirty="0"/>
              <a:t>Split Inferencing and Feature Compression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516065A-4088-93A1-FE14-EFB64FF9D1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Step by step walkthrough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4AFB8-F460-403C-A386-7A76DEE374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95663" y="6356351"/>
            <a:ext cx="7044002" cy="365124"/>
          </a:xfrm>
        </p:spPr>
        <p:txBody>
          <a:bodyPr/>
          <a:lstStyle/>
          <a:p>
            <a:r>
              <a:rPr lang="en-US"/>
              <a:t>©2025 InterDigital,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9054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A00A4-9571-05CC-65D7-E88180AA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98132-865D-4F94-1D1E-901BDEE7C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©2026 InterDigital, Inc. All Rights Reserved.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C35D0E-E282-CAE5-B376-AC1B19C1FE23}"/>
              </a:ext>
            </a:extLst>
          </p:cNvPr>
          <p:cNvSpPr txBox="1"/>
          <p:nvPr/>
        </p:nvSpPr>
        <p:spPr>
          <a:xfrm>
            <a:off x="457200" y="32776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A1F29"/>
                </a:solidFill>
                <a:latin typeface="Calibri"/>
              </a:rPr>
              <a:t>The running example: detect a car in one camera frame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D6A917-C7D1-7CB2-9B04-C3EDB508E398}"/>
              </a:ext>
            </a:extLst>
          </p:cNvPr>
          <p:cNvSpPr/>
          <p:nvPr/>
        </p:nvSpPr>
        <p:spPr>
          <a:xfrm>
            <a:off x="457200" y="967848"/>
            <a:ext cx="1005840" cy="4572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3A0BA50-0169-6E9B-3E92-39EB1BDDBD86}"/>
              </a:ext>
            </a:extLst>
          </p:cNvPr>
          <p:cNvSpPr/>
          <p:nvPr/>
        </p:nvSpPr>
        <p:spPr>
          <a:xfrm>
            <a:off x="548640" y="1554480"/>
            <a:ext cx="5029200" cy="4297680"/>
          </a:xfrm>
          <a:prstGeom prst="roundRect">
            <a:avLst/>
          </a:prstGeom>
          <a:solidFill>
            <a:srgbClr val="E9EEF7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8BC754-386C-26FA-69D1-3641C66FD8AA}"/>
              </a:ext>
            </a:extLst>
          </p:cNvPr>
          <p:cNvSpPr txBox="1"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3D91"/>
                </a:solidFill>
                <a:latin typeface="Calibri"/>
              </a:rPr>
              <a:t>1920 × 1080 RGB frame (camera output)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F8562AD-530A-0A67-6BFF-8D859FEEF2F6}"/>
              </a:ext>
            </a:extLst>
          </p:cNvPr>
          <p:cNvSpPr/>
          <p:nvPr/>
        </p:nvSpPr>
        <p:spPr>
          <a:xfrm>
            <a:off x="731520" y="2057400"/>
            <a:ext cx="4663440" cy="1645920"/>
          </a:xfrm>
          <a:prstGeom prst="rect">
            <a:avLst/>
          </a:prstGeom>
          <a:solidFill>
            <a:srgbClr val="BF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37DB74-EB48-7BE3-B897-E532840C328F}"/>
              </a:ext>
            </a:extLst>
          </p:cNvPr>
          <p:cNvSpPr/>
          <p:nvPr/>
        </p:nvSpPr>
        <p:spPr>
          <a:xfrm>
            <a:off x="731520" y="3703320"/>
            <a:ext cx="4663440" cy="2011680"/>
          </a:xfrm>
          <a:prstGeom prst="rect">
            <a:avLst/>
          </a:prstGeom>
          <a:solidFill>
            <a:srgbClr val="3E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2E42B59-7EAF-238C-9590-7BCAB6FF8C40}"/>
              </a:ext>
            </a:extLst>
          </p:cNvPr>
          <p:cNvSpPr/>
          <p:nvPr/>
        </p:nvSpPr>
        <p:spPr>
          <a:xfrm>
            <a:off x="822960" y="4663440"/>
            <a:ext cx="457200" cy="73152"/>
          </a:xfrm>
          <a:prstGeom prst="rect">
            <a:avLst/>
          </a:prstGeom>
          <a:solidFill>
            <a:srgbClr val="F5E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F9BA9B6-5B9A-DA67-B078-16C17E141CA1}"/>
              </a:ext>
            </a:extLst>
          </p:cNvPr>
          <p:cNvSpPr/>
          <p:nvPr/>
        </p:nvSpPr>
        <p:spPr>
          <a:xfrm>
            <a:off x="1783080" y="4663440"/>
            <a:ext cx="457200" cy="73152"/>
          </a:xfrm>
          <a:prstGeom prst="rect">
            <a:avLst/>
          </a:prstGeom>
          <a:solidFill>
            <a:srgbClr val="F5E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3A5330E-A857-E06E-2B6C-9D3CC1EA05DF}"/>
              </a:ext>
            </a:extLst>
          </p:cNvPr>
          <p:cNvSpPr/>
          <p:nvPr/>
        </p:nvSpPr>
        <p:spPr>
          <a:xfrm>
            <a:off x="2743200" y="4663440"/>
            <a:ext cx="457200" cy="73152"/>
          </a:xfrm>
          <a:prstGeom prst="rect">
            <a:avLst/>
          </a:prstGeom>
          <a:solidFill>
            <a:srgbClr val="F5E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7EF4B4E-A39C-A37B-71F9-C721DD2F16C1}"/>
              </a:ext>
            </a:extLst>
          </p:cNvPr>
          <p:cNvSpPr/>
          <p:nvPr/>
        </p:nvSpPr>
        <p:spPr>
          <a:xfrm>
            <a:off x="3703320" y="4663440"/>
            <a:ext cx="457200" cy="73152"/>
          </a:xfrm>
          <a:prstGeom prst="rect">
            <a:avLst/>
          </a:prstGeom>
          <a:solidFill>
            <a:srgbClr val="F5E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81B2529-BF9D-8187-12EE-4DC4E7A9ACF7}"/>
              </a:ext>
            </a:extLst>
          </p:cNvPr>
          <p:cNvSpPr/>
          <p:nvPr/>
        </p:nvSpPr>
        <p:spPr>
          <a:xfrm>
            <a:off x="4663440" y="4663440"/>
            <a:ext cx="457200" cy="73152"/>
          </a:xfrm>
          <a:prstGeom prst="rect">
            <a:avLst/>
          </a:prstGeom>
          <a:solidFill>
            <a:srgbClr val="F5E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6F43BF54-6576-77FC-C851-AC62458518F2}"/>
              </a:ext>
            </a:extLst>
          </p:cNvPr>
          <p:cNvSpPr/>
          <p:nvPr/>
        </p:nvSpPr>
        <p:spPr>
          <a:xfrm>
            <a:off x="2011680" y="3520440"/>
            <a:ext cx="2103120" cy="1005840"/>
          </a:xfrm>
          <a:prstGeom prst="roundRect">
            <a:avLst/>
          </a:prstGeom>
          <a:solidFill>
            <a:srgbClr val="C9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10BE4DB1-2A98-C86B-3147-27236D426B73}"/>
              </a:ext>
            </a:extLst>
          </p:cNvPr>
          <p:cNvSpPr/>
          <p:nvPr/>
        </p:nvSpPr>
        <p:spPr>
          <a:xfrm>
            <a:off x="2286000" y="3337560"/>
            <a:ext cx="1554480" cy="411480"/>
          </a:xfrm>
          <a:prstGeom prst="roundRect">
            <a:avLst/>
          </a:prstGeom>
          <a:solidFill>
            <a:srgbClr val="8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2ECD235-0F20-3ED2-AAC3-8F115F8A692E}"/>
              </a:ext>
            </a:extLst>
          </p:cNvPr>
          <p:cNvSpPr/>
          <p:nvPr/>
        </p:nvSpPr>
        <p:spPr>
          <a:xfrm>
            <a:off x="2194560" y="4389120"/>
            <a:ext cx="320040" cy="320040"/>
          </a:xfrm>
          <a:prstGeom prst="ellipse">
            <a:avLst/>
          </a:prstGeom>
          <a:solidFill>
            <a:srgbClr val="1A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AA32A78-1258-709E-D23C-F8A217904440}"/>
              </a:ext>
            </a:extLst>
          </p:cNvPr>
          <p:cNvSpPr/>
          <p:nvPr/>
        </p:nvSpPr>
        <p:spPr>
          <a:xfrm>
            <a:off x="3611880" y="4389120"/>
            <a:ext cx="320040" cy="320040"/>
          </a:xfrm>
          <a:prstGeom prst="ellipse">
            <a:avLst/>
          </a:prstGeom>
          <a:solidFill>
            <a:srgbClr val="1A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9508539-3833-5BCB-B5BE-3B4EEF199523}"/>
              </a:ext>
            </a:extLst>
          </p:cNvPr>
          <p:cNvSpPr/>
          <p:nvPr/>
        </p:nvSpPr>
        <p:spPr>
          <a:xfrm>
            <a:off x="1920240" y="3246120"/>
            <a:ext cx="2286000" cy="1554480"/>
          </a:xfrm>
          <a:prstGeom prst="rect">
            <a:avLst/>
          </a:prstGeom>
          <a:noFill/>
          <a:ln w="2857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8F33940-4B62-6F0B-35FA-339BB88C09B8}"/>
              </a:ext>
            </a:extLst>
          </p:cNvPr>
          <p:cNvSpPr txBox="1"/>
          <p:nvPr/>
        </p:nvSpPr>
        <p:spPr>
          <a:xfrm>
            <a:off x="1920240" y="29718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car  0.94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B2C69E5-8E93-F5A8-7B2B-F7BCB7769960}"/>
              </a:ext>
            </a:extLst>
          </p:cNvPr>
          <p:cNvSpPr txBox="1"/>
          <p:nvPr/>
        </p:nvSpPr>
        <p:spPr>
          <a:xfrm>
            <a:off x="6035040" y="155448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What we ultimately want to ship over the air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CB3CAD-1725-0DCF-BC06-7139021AD923}"/>
              </a:ext>
            </a:extLst>
          </p:cNvPr>
          <p:cNvSpPr txBox="1"/>
          <p:nvPr/>
        </p:nvSpPr>
        <p:spPr>
          <a:xfrm>
            <a:off x="6035040" y="2011680"/>
            <a:ext cx="57607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300" b="0" i="0" dirty="0">
                <a:solidFill>
                  <a:srgbClr val="1A1F29"/>
                </a:solidFill>
                <a:latin typeface="Calibri"/>
              </a:rPr>
              <a:t>Input: one RGB frame with one car in it (could be a pedestrian, truck, etc.).</a:t>
            </a:r>
          </a:p>
          <a:p>
            <a:pPr algn="l">
              <a:spcAft>
                <a:spcPts val="700"/>
              </a:spcAft>
            </a:pPr>
            <a:r>
              <a:rPr sz="1400"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300" b="1" i="0" dirty="0">
                <a:solidFill>
                  <a:srgbClr val="1A1F29"/>
                </a:solidFill>
                <a:latin typeface="Calibri"/>
              </a:rPr>
              <a:t>Desired output for the UE / local display:</a:t>
            </a:r>
          </a:p>
          <a:p>
            <a:pPr algn="l">
              <a:spcAft>
                <a:spcPts val="700"/>
              </a:spcAft>
            </a:pPr>
            <a:r>
              <a:rPr sz="1400"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300" b="0" i="0" dirty="0">
                <a:solidFill>
                  <a:srgbClr val="2E8B57"/>
                </a:solidFill>
                <a:latin typeface="Calibri"/>
              </a:rPr>
              <a:t>class label = "car"</a:t>
            </a:r>
          </a:p>
          <a:p>
            <a:pPr algn="l">
              <a:spcAft>
                <a:spcPts val="700"/>
              </a:spcAft>
            </a:pPr>
            <a:r>
              <a:rPr sz="1400"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300" b="0" i="0" dirty="0">
                <a:solidFill>
                  <a:srgbClr val="2E8B57"/>
                </a:solidFill>
                <a:latin typeface="Calibri"/>
              </a:rPr>
              <a:t>confidence score = 0.94</a:t>
            </a:r>
          </a:p>
          <a:p>
            <a:pPr algn="l">
              <a:spcAft>
                <a:spcPts val="700"/>
              </a:spcAft>
            </a:pPr>
            <a:r>
              <a:rPr sz="1400"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300" b="0" i="0" dirty="0">
                <a:solidFill>
                  <a:srgbClr val="2E8B57"/>
                </a:solidFill>
                <a:latin typeface="Calibri"/>
              </a:rPr>
              <a:t>pixel bounding box = (x1, y1, x2, y2)</a:t>
            </a:r>
          </a:p>
          <a:p>
            <a:pPr algn="l">
              <a:spcAft>
                <a:spcPts val="700"/>
              </a:spcAft>
            </a:pPr>
            <a:r>
              <a:rPr sz="1400" b="1" dirty="0">
                <a:solidFill>
                  <a:srgbClr val="0B3D91"/>
                </a:solidFill>
                <a:latin typeface="Calibri"/>
              </a:rPr>
              <a:t>•  </a:t>
            </a:r>
          </a:p>
          <a:p>
            <a:pPr algn="l">
              <a:spcAft>
                <a:spcPts val="700"/>
              </a:spcAft>
            </a:pPr>
            <a:r>
              <a:rPr sz="1400"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300" b="0" i="1" dirty="0">
                <a:solidFill>
                  <a:srgbClr val="4A5568"/>
                </a:solidFill>
                <a:latin typeface="Calibri"/>
              </a:rPr>
              <a:t>Constraint: the link budget cannot tolerate pushing raw 1920×1080×3 frames at video frame rate to the edge server.</a:t>
            </a:r>
          </a:p>
          <a:p>
            <a:pPr algn="l">
              <a:spcAft>
                <a:spcPts val="700"/>
              </a:spcAft>
            </a:pPr>
            <a:r>
              <a:rPr sz="1400"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400" b="1" i="0" dirty="0">
                <a:solidFill>
                  <a:srgbClr val="F58A1F"/>
                </a:solidFill>
                <a:latin typeface="Calibri"/>
              </a:rPr>
              <a:t>Question: what do we actually need to transmit?</a:t>
            </a:r>
          </a:p>
        </p:txBody>
      </p:sp>
    </p:spTree>
    <p:extLst>
      <p:ext uri="{BB962C8B-B14F-4D97-AF65-F5344CB8AC3E}">
        <p14:creationId xmlns:p14="http://schemas.microsoft.com/office/powerpoint/2010/main" val="3786896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B9B33-4801-A99C-3B02-F3513B849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©2026 InterDigital, Inc. All Rights Reserved.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D6A46B-D730-2B95-BB9F-023191B576B5}"/>
              </a:ext>
            </a:extLst>
          </p:cNvPr>
          <p:cNvSpPr txBox="1"/>
          <p:nvPr/>
        </p:nvSpPr>
        <p:spPr>
          <a:xfrm>
            <a:off x="472440" y="361299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F29"/>
                </a:solidFill>
                <a:latin typeface="Calibri"/>
              </a:rPr>
              <a:t>What is a 'tensor'? — just a multi-dimensional array of numbers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F6804A-A2BA-BCFC-E9F0-B4752FA9924D}"/>
              </a:ext>
            </a:extLst>
          </p:cNvPr>
          <p:cNvSpPr/>
          <p:nvPr/>
        </p:nvSpPr>
        <p:spPr>
          <a:xfrm>
            <a:off x="472440" y="955659"/>
            <a:ext cx="1005840" cy="4572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9188B-1BD5-7776-4513-0575B99B38F4}"/>
              </a:ext>
            </a:extLst>
          </p:cNvPr>
          <p:cNvSpPr txBox="1"/>
          <p:nvPr/>
        </p:nvSpPr>
        <p:spPr>
          <a:xfrm>
            <a:off x="472440" y="1184259"/>
            <a:ext cx="11247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1A1F29"/>
                </a:solidFill>
                <a:latin typeface="Calibri"/>
              </a:rPr>
              <a:t>Think of any sampled signal arranged on a grid. A wireless engineer already works with 1-D arrays (IQ samples) and 2-D arrays (channel matrices). Tensors just generalize that idea to more dimensions.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B84BC-A29C-290D-ADBE-FBCAEC67934A}"/>
              </a:ext>
            </a:extLst>
          </p:cNvPr>
          <p:cNvSpPr txBox="1"/>
          <p:nvPr/>
        </p:nvSpPr>
        <p:spPr>
          <a:xfrm>
            <a:off x="472440" y="1915779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1-D tensor  (vector)  — e.g. one row of IQ samples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0F82A5-3F49-E7F6-09EE-8EC79D2FB90C}"/>
              </a:ext>
            </a:extLst>
          </p:cNvPr>
          <p:cNvSpPr/>
          <p:nvPr/>
        </p:nvSpPr>
        <p:spPr>
          <a:xfrm>
            <a:off x="472440" y="2281539"/>
            <a:ext cx="457200" cy="45720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B53B1D-0CC9-7E38-980B-0A76315EAF39}"/>
              </a:ext>
            </a:extLst>
          </p:cNvPr>
          <p:cNvSpPr/>
          <p:nvPr/>
        </p:nvSpPr>
        <p:spPr>
          <a:xfrm>
            <a:off x="975360" y="2281539"/>
            <a:ext cx="457200" cy="45720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EAAD2E-6DD6-9BF9-3EBD-1B3D5676D64E}"/>
              </a:ext>
            </a:extLst>
          </p:cNvPr>
          <p:cNvSpPr/>
          <p:nvPr/>
        </p:nvSpPr>
        <p:spPr>
          <a:xfrm>
            <a:off x="1478280" y="2281539"/>
            <a:ext cx="457200" cy="45720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25A2F0-B307-55E0-3A86-502593D8406E}"/>
              </a:ext>
            </a:extLst>
          </p:cNvPr>
          <p:cNvSpPr/>
          <p:nvPr/>
        </p:nvSpPr>
        <p:spPr>
          <a:xfrm>
            <a:off x="1981200" y="2281539"/>
            <a:ext cx="457200" cy="45720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16B49B-2410-2A7E-22CD-C41250C522E8}"/>
              </a:ext>
            </a:extLst>
          </p:cNvPr>
          <p:cNvSpPr/>
          <p:nvPr/>
        </p:nvSpPr>
        <p:spPr>
          <a:xfrm>
            <a:off x="2484120" y="2281539"/>
            <a:ext cx="457200" cy="45720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A524BE-B2A4-6998-A5BA-FB1DF88F120E}"/>
              </a:ext>
            </a:extLst>
          </p:cNvPr>
          <p:cNvSpPr/>
          <p:nvPr/>
        </p:nvSpPr>
        <p:spPr>
          <a:xfrm>
            <a:off x="2987040" y="2281539"/>
            <a:ext cx="457200" cy="45720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A25E1B-9635-DA23-49A5-EE60F3F84335}"/>
              </a:ext>
            </a:extLst>
          </p:cNvPr>
          <p:cNvSpPr/>
          <p:nvPr/>
        </p:nvSpPr>
        <p:spPr>
          <a:xfrm>
            <a:off x="3489960" y="2281539"/>
            <a:ext cx="457200" cy="45720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FD3CB5-182C-1559-6B74-A5FED3D770A8}"/>
              </a:ext>
            </a:extLst>
          </p:cNvPr>
          <p:cNvSpPr/>
          <p:nvPr/>
        </p:nvSpPr>
        <p:spPr>
          <a:xfrm>
            <a:off x="3992880" y="2281539"/>
            <a:ext cx="457200" cy="45720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BD206D-FCE5-8CBA-68AC-B85FF460E683}"/>
              </a:ext>
            </a:extLst>
          </p:cNvPr>
          <p:cNvSpPr/>
          <p:nvPr/>
        </p:nvSpPr>
        <p:spPr>
          <a:xfrm>
            <a:off x="4495800" y="2281539"/>
            <a:ext cx="457200" cy="45720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37975F-1E29-C814-6F97-2BC19C3645E3}"/>
              </a:ext>
            </a:extLst>
          </p:cNvPr>
          <p:cNvSpPr/>
          <p:nvPr/>
        </p:nvSpPr>
        <p:spPr>
          <a:xfrm>
            <a:off x="4998720" y="2281539"/>
            <a:ext cx="457200" cy="45720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6079F4-43C2-C117-D9D2-951443A0B725}"/>
              </a:ext>
            </a:extLst>
          </p:cNvPr>
          <p:cNvSpPr txBox="1"/>
          <p:nvPr/>
        </p:nvSpPr>
        <p:spPr>
          <a:xfrm>
            <a:off x="5684520" y="2387029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4A5568"/>
                </a:solidFill>
                <a:latin typeface="Calibri"/>
              </a:rPr>
              <a:t>shape = [N] — sequence of floats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B241AB-A46A-9960-7875-E0F4D7AB3397}"/>
              </a:ext>
            </a:extLst>
          </p:cNvPr>
          <p:cNvSpPr txBox="1"/>
          <p:nvPr/>
        </p:nvSpPr>
        <p:spPr>
          <a:xfrm>
            <a:off x="472440" y="3104499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2-D tensor  (matrix)  — e.g. a grayscale image or a channel response H[f,t]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492F06-368E-0364-727B-1658D55EDF8B}"/>
              </a:ext>
            </a:extLst>
          </p:cNvPr>
          <p:cNvSpPr/>
          <p:nvPr/>
        </p:nvSpPr>
        <p:spPr>
          <a:xfrm>
            <a:off x="472440" y="347025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3F87FC-F713-1DE2-249F-4DE2CC91581B}"/>
              </a:ext>
            </a:extLst>
          </p:cNvPr>
          <p:cNvSpPr/>
          <p:nvPr/>
        </p:nvSpPr>
        <p:spPr>
          <a:xfrm>
            <a:off x="975360" y="347025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FFDC3B-A39A-BDD2-6D31-556C7D9CEB3E}"/>
              </a:ext>
            </a:extLst>
          </p:cNvPr>
          <p:cNvSpPr/>
          <p:nvPr/>
        </p:nvSpPr>
        <p:spPr>
          <a:xfrm>
            <a:off x="1478280" y="347025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BAC31D-648E-FA61-A777-A01076603062}"/>
              </a:ext>
            </a:extLst>
          </p:cNvPr>
          <p:cNvSpPr/>
          <p:nvPr/>
        </p:nvSpPr>
        <p:spPr>
          <a:xfrm>
            <a:off x="1981200" y="347025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697031-35F2-43FF-3880-BE748CAECA02}"/>
              </a:ext>
            </a:extLst>
          </p:cNvPr>
          <p:cNvSpPr/>
          <p:nvPr/>
        </p:nvSpPr>
        <p:spPr>
          <a:xfrm>
            <a:off x="2484120" y="347025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FA7921-396B-F180-DBA9-17D2CD1F16B5}"/>
              </a:ext>
            </a:extLst>
          </p:cNvPr>
          <p:cNvSpPr/>
          <p:nvPr/>
        </p:nvSpPr>
        <p:spPr>
          <a:xfrm>
            <a:off x="2987040" y="347025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438999-0E74-E588-D861-E6C922960BAA}"/>
              </a:ext>
            </a:extLst>
          </p:cNvPr>
          <p:cNvSpPr/>
          <p:nvPr/>
        </p:nvSpPr>
        <p:spPr>
          <a:xfrm>
            <a:off x="3489960" y="347025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5CADC7-6CDC-13DA-3C02-87BB9B0F9190}"/>
              </a:ext>
            </a:extLst>
          </p:cNvPr>
          <p:cNvSpPr/>
          <p:nvPr/>
        </p:nvSpPr>
        <p:spPr>
          <a:xfrm>
            <a:off x="3992880" y="347025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D2654C-2594-E630-F700-62537EEA0828}"/>
              </a:ext>
            </a:extLst>
          </p:cNvPr>
          <p:cNvSpPr/>
          <p:nvPr/>
        </p:nvSpPr>
        <p:spPr>
          <a:xfrm>
            <a:off x="4495800" y="347025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AFAB46-22A4-A506-2BFE-FD94165B820F}"/>
              </a:ext>
            </a:extLst>
          </p:cNvPr>
          <p:cNvSpPr/>
          <p:nvPr/>
        </p:nvSpPr>
        <p:spPr>
          <a:xfrm>
            <a:off x="4998720" y="347025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701A2F-AE93-E401-54E5-F0CEC0410BAF}"/>
              </a:ext>
            </a:extLst>
          </p:cNvPr>
          <p:cNvSpPr/>
          <p:nvPr/>
        </p:nvSpPr>
        <p:spPr>
          <a:xfrm>
            <a:off x="472440" y="379029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251495A-7746-9415-1520-F1CE8E354FD0}"/>
              </a:ext>
            </a:extLst>
          </p:cNvPr>
          <p:cNvSpPr/>
          <p:nvPr/>
        </p:nvSpPr>
        <p:spPr>
          <a:xfrm>
            <a:off x="975360" y="379029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20605B-9C78-2F06-A126-EBFF300CFE5D}"/>
              </a:ext>
            </a:extLst>
          </p:cNvPr>
          <p:cNvSpPr/>
          <p:nvPr/>
        </p:nvSpPr>
        <p:spPr>
          <a:xfrm>
            <a:off x="1478280" y="379029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DCE513-C20E-3C23-BE8A-C8325EEBDFFE}"/>
              </a:ext>
            </a:extLst>
          </p:cNvPr>
          <p:cNvSpPr/>
          <p:nvPr/>
        </p:nvSpPr>
        <p:spPr>
          <a:xfrm>
            <a:off x="1981200" y="379029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BAC22A-33B4-6DD5-A789-B536BAEEF96D}"/>
              </a:ext>
            </a:extLst>
          </p:cNvPr>
          <p:cNvSpPr/>
          <p:nvPr/>
        </p:nvSpPr>
        <p:spPr>
          <a:xfrm>
            <a:off x="2484120" y="379029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ECEC203-090D-17BF-0D52-459E4A76257C}"/>
              </a:ext>
            </a:extLst>
          </p:cNvPr>
          <p:cNvSpPr/>
          <p:nvPr/>
        </p:nvSpPr>
        <p:spPr>
          <a:xfrm>
            <a:off x="2987040" y="379029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04063D6-483E-EF33-3163-CC0E5E7D24DF}"/>
              </a:ext>
            </a:extLst>
          </p:cNvPr>
          <p:cNvSpPr/>
          <p:nvPr/>
        </p:nvSpPr>
        <p:spPr>
          <a:xfrm>
            <a:off x="3489960" y="379029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2697182-03AB-611B-C763-12DF140F7B9A}"/>
              </a:ext>
            </a:extLst>
          </p:cNvPr>
          <p:cNvSpPr/>
          <p:nvPr/>
        </p:nvSpPr>
        <p:spPr>
          <a:xfrm>
            <a:off x="3992880" y="379029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8CCFA4-B802-2910-B929-001E6DA97506}"/>
              </a:ext>
            </a:extLst>
          </p:cNvPr>
          <p:cNvSpPr/>
          <p:nvPr/>
        </p:nvSpPr>
        <p:spPr>
          <a:xfrm>
            <a:off x="4495800" y="379029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F82DC2C-311A-ADB1-0054-5FD0CB2BA0D2}"/>
              </a:ext>
            </a:extLst>
          </p:cNvPr>
          <p:cNvSpPr/>
          <p:nvPr/>
        </p:nvSpPr>
        <p:spPr>
          <a:xfrm>
            <a:off x="4998720" y="379029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0B985B-C699-511C-B91C-1194CDD2DC7B}"/>
              </a:ext>
            </a:extLst>
          </p:cNvPr>
          <p:cNvSpPr/>
          <p:nvPr/>
        </p:nvSpPr>
        <p:spPr>
          <a:xfrm>
            <a:off x="472440" y="411033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80C2D30-AF62-DF4E-A3F9-5CEEE81FA198}"/>
              </a:ext>
            </a:extLst>
          </p:cNvPr>
          <p:cNvSpPr/>
          <p:nvPr/>
        </p:nvSpPr>
        <p:spPr>
          <a:xfrm>
            <a:off x="975360" y="411033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82EA69C-ADA0-D7AC-E3E2-58AC59199A82}"/>
              </a:ext>
            </a:extLst>
          </p:cNvPr>
          <p:cNvSpPr/>
          <p:nvPr/>
        </p:nvSpPr>
        <p:spPr>
          <a:xfrm>
            <a:off x="1478280" y="411033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0812BDC-6455-9DD1-7F34-44B38CE5E25A}"/>
              </a:ext>
            </a:extLst>
          </p:cNvPr>
          <p:cNvSpPr/>
          <p:nvPr/>
        </p:nvSpPr>
        <p:spPr>
          <a:xfrm>
            <a:off x="1981200" y="411033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38DA15-0E45-970D-45D0-4721011A2F11}"/>
              </a:ext>
            </a:extLst>
          </p:cNvPr>
          <p:cNvSpPr/>
          <p:nvPr/>
        </p:nvSpPr>
        <p:spPr>
          <a:xfrm>
            <a:off x="2484120" y="411033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9CA535A-C024-41CB-1046-56166A12768D}"/>
              </a:ext>
            </a:extLst>
          </p:cNvPr>
          <p:cNvSpPr/>
          <p:nvPr/>
        </p:nvSpPr>
        <p:spPr>
          <a:xfrm>
            <a:off x="2987040" y="411033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F8C44F0-54B7-7F13-58B9-C5A5669E2305}"/>
              </a:ext>
            </a:extLst>
          </p:cNvPr>
          <p:cNvSpPr/>
          <p:nvPr/>
        </p:nvSpPr>
        <p:spPr>
          <a:xfrm>
            <a:off x="3489960" y="411033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6C7865-31B8-4B07-71C6-3E786D4A2919}"/>
              </a:ext>
            </a:extLst>
          </p:cNvPr>
          <p:cNvSpPr/>
          <p:nvPr/>
        </p:nvSpPr>
        <p:spPr>
          <a:xfrm>
            <a:off x="3992880" y="411033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F695C88-2556-59A4-0F78-595B754BE35E}"/>
              </a:ext>
            </a:extLst>
          </p:cNvPr>
          <p:cNvSpPr/>
          <p:nvPr/>
        </p:nvSpPr>
        <p:spPr>
          <a:xfrm>
            <a:off x="4495800" y="411033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E46EEC5-488A-4690-A0B1-AB42AB85D45E}"/>
              </a:ext>
            </a:extLst>
          </p:cNvPr>
          <p:cNvSpPr/>
          <p:nvPr/>
        </p:nvSpPr>
        <p:spPr>
          <a:xfrm>
            <a:off x="4998720" y="4110339"/>
            <a:ext cx="457200" cy="27432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6DAEA3-2FC3-B209-4408-6D861950591A}"/>
              </a:ext>
            </a:extLst>
          </p:cNvPr>
          <p:cNvSpPr txBox="1"/>
          <p:nvPr/>
        </p:nvSpPr>
        <p:spPr>
          <a:xfrm>
            <a:off x="5684520" y="3667189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4A5568"/>
                </a:solidFill>
                <a:latin typeface="Calibri"/>
              </a:rPr>
              <a:t>shape = [H, W] — a grid of numbers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9CEE3E-B486-4832-B08E-695C6B874F32}"/>
              </a:ext>
            </a:extLst>
          </p:cNvPr>
          <p:cNvSpPr txBox="1"/>
          <p:nvPr/>
        </p:nvSpPr>
        <p:spPr>
          <a:xfrm>
            <a:off x="472440" y="4658979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3-D tensor  — e.g. an RGB image:  shape  [H, W, 3]   (or, as neural networks prefer, [3, H, W])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4D7CDC8-BDA4-6506-1C2D-D33258D01653}"/>
              </a:ext>
            </a:extLst>
          </p:cNvPr>
          <p:cNvSpPr/>
          <p:nvPr/>
        </p:nvSpPr>
        <p:spPr>
          <a:xfrm>
            <a:off x="472440" y="5024739"/>
            <a:ext cx="365760" cy="246888"/>
          </a:xfrm>
          <a:prstGeom prst="rect">
            <a:avLst/>
          </a:prstGeom>
          <a:solidFill>
            <a:srgbClr val="E45A5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27A0743-427C-1291-E6FE-52CE1B9029AC}"/>
              </a:ext>
            </a:extLst>
          </p:cNvPr>
          <p:cNvSpPr/>
          <p:nvPr/>
        </p:nvSpPr>
        <p:spPr>
          <a:xfrm>
            <a:off x="883920" y="5024739"/>
            <a:ext cx="365760" cy="246888"/>
          </a:xfrm>
          <a:prstGeom prst="rect">
            <a:avLst/>
          </a:prstGeom>
          <a:solidFill>
            <a:srgbClr val="E45A5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664F9C8-4BDA-8C97-68C2-9B517FDDA7B6}"/>
              </a:ext>
            </a:extLst>
          </p:cNvPr>
          <p:cNvSpPr/>
          <p:nvPr/>
        </p:nvSpPr>
        <p:spPr>
          <a:xfrm>
            <a:off x="1295400" y="5024739"/>
            <a:ext cx="365760" cy="246888"/>
          </a:xfrm>
          <a:prstGeom prst="rect">
            <a:avLst/>
          </a:prstGeom>
          <a:solidFill>
            <a:srgbClr val="E45A5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F57B361-BD4B-0DAA-12AB-97737FE38B78}"/>
              </a:ext>
            </a:extLst>
          </p:cNvPr>
          <p:cNvSpPr/>
          <p:nvPr/>
        </p:nvSpPr>
        <p:spPr>
          <a:xfrm>
            <a:off x="1706880" y="5024739"/>
            <a:ext cx="365760" cy="246888"/>
          </a:xfrm>
          <a:prstGeom prst="rect">
            <a:avLst/>
          </a:prstGeom>
          <a:solidFill>
            <a:srgbClr val="E45A5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727912-2576-EEB9-33F6-964FA355F6AA}"/>
              </a:ext>
            </a:extLst>
          </p:cNvPr>
          <p:cNvSpPr/>
          <p:nvPr/>
        </p:nvSpPr>
        <p:spPr>
          <a:xfrm>
            <a:off x="2118360" y="5024739"/>
            <a:ext cx="365760" cy="246888"/>
          </a:xfrm>
          <a:prstGeom prst="rect">
            <a:avLst/>
          </a:prstGeom>
          <a:solidFill>
            <a:srgbClr val="E45A5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CDD5D7E-D96C-BCA9-213C-7271E79DFBEB}"/>
              </a:ext>
            </a:extLst>
          </p:cNvPr>
          <p:cNvSpPr/>
          <p:nvPr/>
        </p:nvSpPr>
        <p:spPr>
          <a:xfrm>
            <a:off x="2529840" y="5024739"/>
            <a:ext cx="365760" cy="246888"/>
          </a:xfrm>
          <a:prstGeom prst="rect">
            <a:avLst/>
          </a:prstGeom>
          <a:solidFill>
            <a:srgbClr val="E45A5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81FC383-DE51-0A74-CB7C-71E101DDBDD6}"/>
              </a:ext>
            </a:extLst>
          </p:cNvPr>
          <p:cNvSpPr/>
          <p:nvPr/>
        </p:nvSpPr>
        <p:spPr>
          <a:xfrm>
            <a:off x="472440" y="5299059"/>
            <a:ext cx="365760" cy="246888"/>
          </a:xfrm>
          <a:prstGeom prst="rect">
            <a:avLst/>
          </a:prstGeom>
          <a:solidFill>
            <a:srgbClr val="E45A5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7D2AF30-63DB-3252-3B3C-83DED13D0229}"/>
              </a:ext>
            </a:extLst>
          </p:cNvPr>
          <p:cNvSpPr/>
          <p:nvPr/>
        </p:nvSpPr>
        <p:spPr>
          <a:xfrm>
            <a:off x="883920" y="5299059"/>
            <a:ext cx="365760" cy="246888"/>
          </a:xfrm>
          <a:prstGeom prst="rect">
            <a:avLst/>
          </a:prstGeom>
          <a:solidFill>
            <a:srgbClr val="E45A5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718EF4F-17FC-1C09-596A-DEF7CBC17E80}"/>
              </a:ext>
            </a:extLst>
          </p:cNvPr>
          <p:cNvSpPr/>
          <p:nvPr/>
        </p:nvSpPr>
        <p:spPr>
          <a:xfrm>
            <a:off x="1295400" y="5299059"/>
            <a:ext cx="365760" cy="246888"/>
          </a:xfrm>
          <a:prstGeom prst="rect">
            <a:avLst/>
          </a:prstGeom>
          <a:solidFill>
            <a:srgbClr val="E45A5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976F4B8-3A1E-4BCC-E923-195AB8CC8671}"/>
              </a:ext>
            </a:extLst>
          </p:cNvPr>
          <p:cNvSpPr/>
          <p:nvPr/>
        </p:nvSpPr>
        <p:spPr>
          <a:xfrm>
            <a:off x="1706880" y="5299059"/>
            <a:ext cx="365760" cy="246888"/>
          </a:xfrm>
          <a:prstGeom prst="rect">
            <a:avLst/>
          </a:prstGeom>
          <a:solidFill>
            <a:srgbClr val="E45A5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DCB5953-BDEA-A153-D896-4CE5EF6D3E7C}"/>
              </a:ext>
            </a:extLst>
          </p:cNvPr>
          <p:cNvSpPr/>
          <p:nvPr/>
        </p:nvSpPr>
        <p:spPr>
          <a:xfrm>
            <a:off x="2118360" y="5299059"/>
            <a:ext cx="365760" cy="246888"/>
          </a:xfrm>
          <a:prstGeom prst="rect">
            <a:avLst/>
          </a:prstGeom>
          <a:solidFill>
            <a:srgbClr val="E45A5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14A9902-93AE-8878-3E58-8B1615D93077}"/>
              </a:ext>
            </a:extLst>
          </p:cNvPr>
          <p:cNvSpPr/>
          <p:nvPr/>
        </p:nvSpPr>
        <p:spPr>
          <a:xfrm>
            <a:off x="2529840" y="5299059"/>
            <a:ext cx="365760" cy="246888"/>
          </a:xfrm>
          <a:prstGeom prst="rect">
            <a:avLst/>
          </a:prstGeom>
          <a:solidFill>
            <a:srgbClr val="E45A5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F76411C-C9CA-248A-8B78-8CEB5923AF5E}"/>
              </a:ext>
            </a:extLst>
          </p:cNvPr>
          <p:cNvSpPr/>
          <p:nvPr/>
        </p:nvSpPr>
        <p:spPr>
          <a:xfrm>
            <a:off x="609600" y="5161899"/>
            <a:ext cx="365760" cy="246888"/>
          </a:xfrm>
          <a:prstGeom prst="rect">
            <a:avLst/>
          </a:prstGeom>
          <a:solidFill>
            <a:srgbClr val="4CAF50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104DF48-F6CC-0823-0472-BEA3CB992783}"/>
              </a:ext>
            </a:extLst>
          </p:cNvPr>
          <p:cNvSpPr/>
          <p:nvPr/>
        </p:nvSpPr>
        <p:spPr>
          <a:xfrm>
            <a:off x="1021080" y="5161899"/>
            <a:ext cx="365760" cy="246888"/>
          </a:xfrm>
          <a:prstGeom prst="rect">
            <a:avLst/>
          </a:prstGeom>
          <a:solidFill>
            <a:srgbClr val="4CAF50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0FE1696-3F36-5A9B-BDDE-1A13C4B7BEE0}"/>
              </a:ext>
            </a:extLst>
          </p:cNvPr>
          <p:cNvSpPr/>
          <p:nvPr/>
        </p:nvSpPr>
        <p:spPr>
          <a:xfrm>
            <a:off x="1432560" y="5161899"/>
            <a:ext cx="365760" cy="246888"/>
          </a:xfrm>
          <a:prstGeom prst="rect">
            <a:avLst/>
          </a:prstGeom>
          <a:solidFill>
            <a:srgbClr val="4CAF50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F635CE8-1319-B21F-A3D7-00C745BF96CD}"/>
              </a:ext>
            </a:extLst>
          </p:cNvPr>
          <p:cNvSpPr/>
          <p:nvPr/>
        </p:nvSpPr>
        <p:spPr>
          <a:xfrm>
            <a:off x="1844040" y="5161899"/>
            <a:ext cx="365760" cy="246888"/>
          </a:xfrm>
          <a:prstGeom prst="rect">
            <a:avLst/>
          </a:prstGeom>
          <a:solidFill>
            <a:srgbClr val="4CAF50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E505CEF-B168-EADA-3810-5D52D6EC862C}"/>
              </a:ext>
            </a:extLst>
          </p:cNvPr>
          <p:cNvSpPr/>
          <p:nvPr/>
        </p:nvSpPr>
        <p:spPr>
          <a:xfrm>
            <a:off x="2255520" y="5161899"/>
            <a:ext cx="365760" cy="246888"/>
          </a:xfrm>
          <a:prstGeom prst="rect">
            <a:avLst/>
          </a:prstGeom>
          <a:solidFill>
            <a:srgbClr val="4CAF50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4DEFADC-80AF-8462-3D5C-E76BD0139774}"/>
              </a:ext>
            </a:extLst>
          </p:cNvPr>
          <p:cNvSpPr/>
          <p:nvPr/>
        </p:nvSpPr>
        <p:spPr>
          <a:xfrm>
            <a:off x="2667000" y="5161899"/>
            <a:ext cx="365760" cy="246888"/>
          </a:xfrm>
          <a:prstGeom prst="rect">
            <a:avLst/>
          </a:prstGeom>
          <a:solidFill>
            <a:srgbClr val="4CAF50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656BE25-460C-252F-1EBD-8681D992D68A}"/>
              </a:ext>
            </a:extLst>
          </p:cNvPr>
          <p:cNvSpPr/>
          <p:nvPr/>
        </p:nvSpPr>
        <p:spPr>
          <a:xfrm>
            <a:off x="609600" y="5436219"/>
            <a:ext cx="365760" cy="246888"/>
          </a:xfrm>
          <a:prstGeom prst="rect">
            <a:avLst/>
          </a:prstGeom>
          <a:solidFill>
            <a:srgbClr val="4CAF50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35B0126-1270-BE1E-A9EC-3CF407CFA730}"/>
              </a:ext>
            </a:extLst>
          </p:cNvPr>
          <p:cNvSpPr/>
          <p:nvPr/>
        </p:nvSpPr>
        <p:spPr>
          <a:xfrm>
            <a:off x="1021080" y="5436219"/>
            <a:ext cx="365760" cy="246888"/>
          </a:xfrm>
          <a:prstGeom prst="rect">
            <a:avLst/>
          </a:prstGeom>
          <a:solidFill>
            <a:srgbClr val="4CAF50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796093C-14BD-7350-A0B3-317B0E8A0704}"/>
              </a:ext>
            </a:extLst>
          </p:cNvPr>
          <p:cNvSpPr/>
          <p:nvPr/>
        </p:nvSpPr>
        <p:spPr>
          <a:xfrm>
            <a:off x="1432560" y="5436219"/>
            <a:ext cx="365760" cy="246888"/>
          </a:xfrm>
          <a:prstGeom prst="rect">
            <a:avLst/>
          </a:prstGeom>
          <a:solidFill>
            <a:srgbClr val="4CAF50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D309DB8-EDE6-B88A-F5A1-3A92A6127DFD}"/>
              </a:ext>
            </a:extLst>
          </p:cNvPr>
          <p:cNvSpPr/>
          <p:nvPr/>
        </p:nvSpPr>
        <p:spPr>
          <a:xfrm>
            <a:off x="1844040" y="5436219"/>
            <a:ext cx="365760" cy="246888"/>
          </a:xfrm>
          <a:prstGeom prst="rect">
            <a:avLst/>
          </a:prstGeom>
          <a:solidFill>
            <a:srgbClr val="4CAF50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8E84B0D-3606-4AB4-ED62-B57A8124F8A6}"/>
              </a:ext>
            </a:extLst>
          </p:cNvPr>
          <p:cNvSpPr/>
          <p:nvPr/>
        </p:nvSpPr>
        <p:spPr>
          <a:xfrm>
            <a:off x="2255520" y="5436219"/>
            <a:ext cx="365760" cy="246888"/>
          </a:xfrm>
          <a:prstGeom prst="rect">
            <a:avLst/>
          </a:prstGeom>
          <a:solidFill>
            <a:srgbClr val="4CAF50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2A64C85-1AD5-2F5B-60DE-B8C0F4E9D583}"/>
              </a:ext>
            </a:extLst>
          </p:cNvPr>
          <p:cNvSpPr/>
          <p:nvPr/>
        </p:nvSpPr>
        <p:spPr>
          <a:xfrm>
            <a:off x="2667000" y="5436219"/>
            <a:ext cx="365760" cy="246888"/>
          </a:xfrm>
          <a:prstGeom prst="rect">
            <a:avLst/>
          </a:prstGeom>
          <a:solidFill>
            <a:srgbClr val="4CAF50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2A5B30B-CC97-3244-D4A9-ED28ECAD611F}"/>
              </a:ext>
            </a:extLst>
          </p:cNvPr>
          <p:cNvSpPr/>
          <p:nvPr/>
        </p:nvSpPr>
        <p:spPr>
          <a:xfrm>
            <a:off x="746760" y="5299059"/>
            <a:ext cx="365760" cy="246888"/>
          </a:xfrm>
          <a:prstGeom prst="rect">
            <a:avLst/>
          </a:prstGeom>
          <a:solidFill>
            <a:srgbClr val="4286F4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9D7E676-A482-CA21-1190-BB3E61AB7018}"/>
              </a:ext>
            </a:extLst>
          </p:cNvPr>
          <p:cNvSpPr/>
          <p:nvPr/>
        </p:nvSpPr>
        <p:spPr>
          <a:xfrm>
            <a:off x="1158240" y="5299059"/>
            <a:ext cx="365760" cy="246888"/>
          </a:xfrm>
          <a:prstGeom prst="rect">
            <a:avLst/>
          </a:prstGeom>
          <a:solidFill>
            <a:srgbClr val="4286F4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C0F9BD6-1373-3660-743D-F4D64AE849EF}"/>
              </a:ext>
            </a:extLst>
          </p:cNvPr>
          <p:cNvSpPr/>
          <p:nvPr/>
        </p:nvSpPr>
        <p:spPr>
          <a:xfrm>
            <a:off x="1569720" y="5299059"/>
            <a:ext cx="365760" cy="246888"/>
          </a:xfrm>
          <a:prstGeom prst="rect">
            <a:avLst/>
          </a:prstGeom>
          <a:solidFill>
            <a:srgbClr val="4286F4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E6616E8-B4B2-F64F-D277-FE8E46CAEFE4}"/>
              </a:ext>
            </a:extLst>
          </p:cNvPr>
          <p:cNvSpPr/>
          <p:nvPr/>
        </p:nvSpPr>
        <p:spPr>
          <a:xfrm>
            <a:off x="1981200" y="5299059"/>
            <a:ext cx="365760" cy="246888"/>
          </a:xfrm>
          <a:prstGeom prst="rect">
            <a:avLst/>
          </a:prstGeom>
          <a:solidFill>
            <a:srgbClr val="4286F4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74CA1BB-E148-29CA-6D37-A165075DE32A}"/>
              </a:ext>
            </a:extLst>
          </p:cNvPr>
          <p:cNvSpPr/>
          <p:nvPr/>
        </p:nvSpPr>
        <p:spPr>
          <a:xfrm>
            <a:off x="2392680" y="5299059"/>
            <a:ext cx="365760" cy="246888"/>
          </a:xfrm>
          <a:prstGeom prst="rect">
            <a:avLst/>
          </a:prstGeom>
          <a:solidFill>
            <a:srgbClr val="4286F4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A718740-EA10-A323-6193-0093730B8CE5}"/>
              </a:ext>
            </a:extLst>
          </p:cNvPr>
          <p:cNvSpPr/>
          <p:nvPr/>
        </p:nvSpPr>
        <p:spPr>
          <a:xfrm>
            <a:off x="2804160" y="5299059"/>
            <a:ext cx="365760" cy="246888"/>
          </a:xfrm>
          <a:prstGeom prst="rect">
            <a:avLst/>
          </a:prstGeom>
          <a:solidFill>
            <a:srgbClr val="4286F4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A615C81-242B-39F7-1583-6FE5EC461A6A}"/>
              </a:ext>
            </a:extLst>
          </p:cNvPr>
          <p:cNvSpPr/>
          <p:nvPr/>
        </p:nvSpPr>
        <p:spPr>
          <a:xfrm>
            <a:off x="746760" y="5573379"/>
            <a:ext cx="365760" cy="246888"/>
          </a:xfrm>
          <a:prstGeom prst="rect">
            <a:avLst/>
          </a:prstGeom>
          <a:solidFill>
            <a:srgbClr val="4286F4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5CB4EA2-FBDD-6C46-6CD5-B99827A10C47}"/>
              </a:ext>
            </a:extLst>
          </p:cNvPr>
          <p:cNvSpPr/>
          <p:nvPr/>
        </p:nvSpPr>
        <p:spPr>
          <a:xfrm>
            <a:off x="1158240" y="5573379"/>
            <a:ext cx="365760" cy="246888"/>
          </a:xfrm>
          <a:prstGeom prst="rect">
            <a:avLst/>
          </a:prstGeom>
          <a:solidFill>
            <a:srgbClr val="4286F4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D4132BD-A429-5ED4-8C8C-2B4FD1C136EA}"/>
              </a:ext>
            </a:extLst>
          </p:cNvPr>
          <p:cNvSpPr/>
          <p:nvPr/>
        </p:nvSpPr>
        <p:spPr>
          <a:xfrm>
            <a:off x="1569720" y="5573379"/>
            <a:ext cx="365760" cy="246888"/>
          </a:xfrm>
          <a:prstGeom prst="rect">
            <a:avLst/>
          </a:prstGeom>
          <a:solidFill>
            <a:srgbClr val="4286F4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A879AF-DEA9-9FD0-6C99-90928B2EBE82}"/>
              </a:ext>
            </a:extLst>
          </p:cNvPr>
          <p:cNvSpPr/>
          <p:nvPr/>
        </p:nvSpPr>
        <p:spPr>
          <a:xfrm>
            <a:off x="1981200" y="5573379"/>
            <a:ext cx="365760" cy="246888"/>
          </a:xfrm>
          <a:prstGeom prst="rect">
            <a:avLst/>
          </a:prstGeom>
          <a:solidFill>
            <a:srgbClr val="4286F4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BA8F3FF-74DD-9143-FDB2-AD0A407F30C2}"/>
              </a:ext>
            </a:extLst>
          </p:cNvPr>
          <p:cNvSpPr/>
          <p:nvPr/>
        </p:nvSpPr>
        <p:spPr>
          <a:xfrm>
            <a:off x="2392680" y="5573379"/>
            <a:ext cx="365760" cy="246888"/>
          </a:xfrm>
          <a:prstGeom prst="rect">
            <a:avLst/>
          </a:prstGeom>
          <a:solidFill>
            <a:srgbClr val="4286F4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D54C40C-A3DD-176F-2CCD-B4AAB3C36B5E}"/>
              </a:ext>
            </a:extLst>
          </p:cNvPr>
          <p:cNvSpPr/>
          <p:nvPr/>
        </p:nvSpPr>
        <p:spPr>
          <a:xfrm>
            <a:off x="2804160" y="5573379"/>
            <a:ext cx="365760" cy="246888"/>
          </a:xfrm>
          <a:prstGeom prst="rect">
            <a:avLst/>
          </a:prstGeom>
          <a:solidFill>
            <a:srgbClr val="4286F4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52E6C90-C8DF-AAA0-FD7F-7D32C1E2554F}"/>
              </a:ext>
            </a:extLst>
          </p:cNvPr>
          <p:cNvSpPr txBox="1"/>
          <p:nvPr/>
        </p:nvSpPr>
        <p:spPr>
          <a:xfrm>
            <a:off x="5684520" y="5067334"/>
            <a:ext cx="5943600" cy="6463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Each 'slice' in depth is called a channel. R, G, B for an image.
In feature tensors, each channel carries a different learned pattern — we'll see next.</a:t>
            </a:r>
          </a:p>
        </p:txBody>
      </p:sp>
    </p:spTree>
    <p:extLst>
      <p:ext uri="{BB962C8B-B14F-4D97-AF65-F5344CB8AC3E}">
        <p14:creationId xmlns:p14="http://schemas.microsoft.com/office/powerpoint/2010/main" val="2062772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97020-EEC3-7668-36A9-1DC1306C5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8909E-9D69-3846-160A-2D93B5D03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©2026 InterDigital, Inc. All Rights Reserved.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76F049-E0B1-98BE-85AE-56E6316D528C}"/>
              </a:ext>
            </a:extLst>
          </p:cNvPr>
          <p:cNvSpPr txBox="1"/>
          <p:nvPr/>
        </p:nvSpPr>
        <p:spPr>
          <a:xfrm>
            <a:off x="457200" y="37401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F29"/>
                </a:solidFill>
                <a:latin typeface="Calibri"/>
              </a:rPr>
              <a:t>Input frame → image tensor  (preprocessing)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9C2D83-7DD5-D891-795E-6ECB48E4C610}"/>
              </a:ext>
            </a:extLst>
          </p:cNvPr>
          <p:cNvSpPr/>
          <p:nvPr/>
        </p:nvSpPr>
        <p:spPr>
          <a:xfrm>
            <a:off x="457200" y="968372"/>
            <a:ext cx="1005840" cy="4572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8BEDFD-5AE2-008D-5ADE-FFD5FA5643F7}"/>
              </a:ext>
            </a:extLst>
          </p:cNvPr>
          <p:cNvSpPr/>
          <p:nvPr/>
        </p:nvSpPr>
        <p:spPr>
          <a:xfrm>
            <a:off x="457200" y="1645920"/>
            <a:ext cx="2743200" cy="1645920"/>
          </a:xfrm>
          <a:prstGeom prst="roundRect">
            <a:avLst/>
          </a:prstGeom>
          <a:solidFill>
            <a:srgbClr val="4A5568"/>
          </a:solidFill>
          <a:ln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81189-537E-304F-1F1C-0F77256E7173}"/>
              </a:ext>
            </a:extLst>
          </p:cNvPr>
          <p:cNvSpPr txBox="1"/>
          <p:nvPr/>
        </p:nvSpPr>
        <p:spPr>
          <a:xfrm>
            <a:off x="457200" y="1832033"/>
            <a:ext cx="27432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Raw frame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35DEFB-61C9-7D05-E94C-B963CAE66756}"/>
              </a:ext>
            </a:extLst>
          </p:cNvPr>
          <p:cNvSpPr txBox="1"/>
          <p:nvPr/>
        </p:nvSpPr>
        <p:spPr>
          <a:xfrm>
            <a:off x="457200" y="2477131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[1920, 1080, 3]   uint8</a:t>
            </a:r>
          </a:p>
        </p:txBody>
      </p:sp>
      <p:cxnSp>
        <p:nvCxnSpPr>
          <p:cNvPr id="8" name="Connector 9">
            <a:extLst>
              <a:ext uri="{FF2B5EF4-FFF2-40B4-BE49-F238E27FC236}">
                <a16:creationId xmlns:a16="http://schemas.microsoft.com/office/drawing/2014/main" id="{E60EE2EE-2DF4-044C-4076-1B719BA7EE54}"/>
              </a:ext>
            </a:extLst>
          </p:cNvPr>
          <p:cNvCxnSpPr/>
          <p:nvPr/>
        </p:nvCxnSpPr>
        <p:spPr>
          <a:xfrm>
            <a:off x="3246120" y="2468880"/>
            <a:ext cx="731519" cy="0"/>
          </a:xfrm>
          <a:prstGeom prst="line">
            <a:avLst/>
          </a:prstGeom>
          <a:ln w="25400">
            <a:solidFill>
              <a:srgbClr val="0B3D9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A115A9F-1173-27E0-863E-22A6248C9462}"/>
              </a:ext>
            </a:extLst>
          </p:cNvPr>
          <p:cNvSpPr/>
          <p:nvPr/>
        </p:nvSpPr>
        <p:spPr>
          <a:xfrm>
            <a:off x="4069080" y="1645920"/>
            <a:ext cx="2743200" cy="1645920"/>
          </a:xfrm>
          <a:prstGeom prst="roundRect">
            <a:avLst/>
          </a:prstGeom>
          <a:solidFill>
            <a:srgbClr val="0B3D91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BF4FBB-D878-2073-FC83-1C147F4BC570}"/>
              </a:ext>
            </a:extLst>
          </p:cNvPr>
          <p:cNvSpPr txBox="1"/>
          <p:nvPr/>
        </p:nvSpPr>
        <p:spPr>
          <a:xfrm>
            <a:off x="4069080" y="1832033"/>
            <a:ext cx="27432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Scaled &amp; padded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DC4D9-7EB2-1AC8-902C-E0DBE1978FBB}"/>
              </a:ext>
            </a:extLst>
          </p:cNvPr>
          <p:cNvSpPr txBox="1"/>
          <p:nvPr/>
        </p:nvSpPr>
        <p:spPr>
          <a:xfrm>
            <a:off x="4069080" y="2477131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640 × 640 × 3   uint8</a:t>
            </a:r>
          </a:p>
        </p:txBody>
      </p:sp>
      <p:cxnSp>
        <p:nvCxnSpPr>
          <p:cNvPr id="12" name="Connector 13">
            <a:extLst>
              <a:ext uri="{FF2B5EF4-FFF2-40B4-BE49-F238E27FC236}">
                <a16:creationId xmlns:a16="http://schemas.microsoft.com/office/drawing/2014/main" id="{1B01EC13-A469-5BE7-5D29-B46266A0935A}"/>
              </a:ext>
            </a:extLst>
          </p:cNvPr>
          <p:cNvCxnSpPr/>
          <p:nvPr/>
        </p:nvCxnSpPr>
        <p:spPr>
          <a:xfrm>
            <a:off x="6858000" y="2468880"/>
            <a:ext cx="731520" cy="0"/>
          </a:xfrm>
          <a:prstGeom prst="line">
            <a:avLst/>
          </a:prstGeom>
          <a:ln w="25400">
            <a:solidFill>
              <a:srgbClr val="0B3D9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5ADD9EF-972C-AD48-AA5F-C14A7680149A}"/>
              </a:ext>
            </a:extLst>
          </p:cNvPr>
          <p:cNvSpPr/>
          <p:nvPr/>
        </p:nvSpPr>
        <p:spPr>
          <a:xfrm>
            <a:off x="7680960" y="1645920"/>
            <a:ext cx="4023360" cy="1645920"/>
          </a:xfrm>
          <a:prstGeom prst="roundRect">
            <a:avLst/>
          </a:prstGeom>
          <a:solidFill>
            <a:srgbClr val="F58A1F"/>
          </a:solidFill>
          <a:ln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2CBFC-8B7F-BE0F-08F1-C71564FD31BE}"/>
              </a:ext>
            </a:extLst>
          </p:cNvPr>
          <p:cNvSpPr txBox="1"/>
          <p:nvPr/>
        </p:nvSpPr>
        <p:spPr>
          <a:xfrm>
            <a:off x="7680960" y="1832033"/>
            <a:ext cx="40233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Image tensor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3AFA15-2569-3041-BE6D-523E19C271FF}"/>
              </a:ext>
            </a:extLst>
          </p:cNvPr>
          <p:cNvSpPr txBox="1"/>
          <p:nvPr/>
        </p:nvSpPr>
        <p:spPr>
          <a:xfrm>
            <a:off x="7680960" y="2477131"/>
            <a:ext cx="40233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[3, 640, 640]   float32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E89D41-8B66-1403-99A3-481EB70042A7}"/>
              </a:ext>
            </a:extLst>
          </p:cNvPr>
          <p:cNvSpPr txBox="1"/>
          <p:nvPr/>
        </p:nvSpPr>
        <p:spPr>
          <a:xfrm>
            <a:off x="457200" y="3657600"/>
            <a:ext cx="11247120" cy="14157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Rescale so the longest side fits 640 pixels while preserving aspect ratio. Pad the rest with grey (value 114).</a:t>
            </a:r>
          </a:p>
          <a:p>
            <a:pPr algn="l">
              <a:spcAft>
                <a:spcPts val="8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Reorder the axes from [H, W, C] to [C, H, W]. Neural networks expect channel-first input — this is just a memory-layout convention.</a:t>
            </a:r>
          </a:p>
          <a:p>
            <a:pPr algn="l">
              <a:spcAft>
                <a:spcPts val="8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Convert from 8-bit integers (0–255) to 32-bit floats — neural </a:t>
            </a:r>
            <a:r>
              <a:rPr sz="1600" dirty="0">
                <a:solidFill>
                  <a:srgbClr val="1A1F29"/>
                </a:solidFill>
                <a:latin typeface="Calibri"/>
              </a:rPr>
              <a:t>network 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weights are floats, so inputs must match.</a:t>
            </a:r>
          </a:p>
          <a:p>
            <a:pPr algn="l">
              <a:spcAft>
                <a:spcPts val="8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1" i="0" dirty="0">
                <a:solidFill>
                  <a:srgbClr val="0B3D91"/>
                </a:solidFill>
                <a:latin typeface="Calibri"/>
              </a:rPr>
              <a:t>Result: a 3-channel, 640×640 grid of floats. The car occupies some rectangular region of that grid — nothing fancy yet.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AB8991C-73AB-A0BD-E57F-6765DFFBC978}"/>
              </a:ext>
            </a:extLst>
          </p:cNvPr>
          <p:cNvSpPr/>
          <p:nvPr/>
        </p:nvSpPr>
        <p:spPr>
          <a:xfrm>
            <a:off x="457200" y="5506442"/>
            <a:ext cx="11247120" cy="685800"/>
          </a:xfrm>
          <a:prstGeom prst="roundRect">
            <a:avLst>
              <a:gd name="adj" fmla="val 4000"/>
            </a:avLst>
          </a:prstGeom>
          <a:solidFill>
            <a:srgbClr val="1E2433"/>
          </a:solidFill>
          <a:ln w="6350">
            <a:solidFill>
              <a:srgbClr val="3A4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A5818F-DB39-C77D-AFAE-AB0FA1A99F16}"/>
              </a:ext>
            </a:extLst>
          </p:cNvPr>
          <p:cNvSpPr txBox="1"/>
          <p:nvPr/>
        </p:nvSpPr>
        <p:spPr>
          <a:xfrm>
            <a:off x="566928" y="5579594"/>
            <a:ext cx="11027664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E6EEF7"/>
                </a:solidFill>
                <a:latin typeface="Consolas"/>
              </a:rPr>
              <a:t># demo/models/yolox.py — YoloXPreprocess.__call__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6EEF7"/>
                </a:solidFill>
                <a:latin typeface="Consolas"/>
              </a:rPr>
              <a:t>img_out = img_out.transpose(2, 0, 1)  # (H, W, 3) → (3, H, W)</a:t>
            </a:r>
          </a:p>
        </p:txBody>
      </p:sp>
    </p:spTree>
    <p:extLst>
      <p:ext uri="{BB962C8B-B14F-4D97-AF65-F5344CB8AC3E}">
        <p14:creationId xmlns:p14="http://schemas.microsoft.com/office/powerpoint/2010/main" val="97470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5458F-C9AF-7886-F5F5-CE4A657F3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56C6B-B609-A7A8-EC14-26608976B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©2026 InterDigital, Inc. All Rights Reserved.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FDFDC9-4ADE-D9E3-56DC-F07CB9521E61}"/>
              </a:ext>
            </a:extLst>
          </p:cNvPr>
          <p:cNvSpPr txBox="1"/>
          <p:nvPr/>
        </p:nvSpPr>
        <p:spPr>
          <a:xfrm>
            <a:off x="472440" y="362684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F29"/>
                </a:solidFill>
                <a:latin typeface="Calibri"/>
              </a:rPr>
              <a:t>Visualizing the split point feature tensor  [128, 40, 40]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BDE0CF-3497-35BF-93F2-672AE45CFC13}"/>
              </a:ext>
            </a:extLst>
          </p:cNvPr>
          <p:cNvSpPr/>
          <p:nvPr/>
        </p:nvSpPr>
        <p:spPr>
          <a:xfrm>
            <a:off x="472440" y="957044"/>
            <a:ext cx="1005840" cy="4572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33A47DC-8A27-C148-5301-DB4C482A19F6}"/>
              </a:ext>
            </a:extLst>
          </p:cNvPr>
          <p:cNvSpPr/>
          <p:nvPr/>
        </p:nvSpPr>
        <p:spPr>
          <a:xfrm>
            <a:off x="457200" y="1463040"/>
            <a:ext cx="4114800" cy="2743200"/>
          </a:xfrm>
          <a:prstGeom prst="roundRect">
            <a:avLst/>
          </a:prstGeom>
          <a:solidFill>
            <a:srgbClr val="E9EEF7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079F3E-3D45-3DAE-17DE-12F867981CA0}"/>
              </a:ext>
            </a:extLst>
          </p:cNvPr>
          <p:cNvSpPr txBox="1"/>
          <p:nvPr/>
        </p:nvSpPr>
        <p:spPr>
          <a:xfrm>
            <a:off x="457200" y="1508760"/>
            <a:ext cx="4114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B3D91"/>
                </a:solidFill>
                <a:latin typeface="Calibri"/>
              </a:rPr>
              <a:t>640 × 640 image tensor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F34FA5-F1AE-9C60-5576-8C8D244605EB}"/>
              </a:ext>
            </a:extLst>
          </p:cNvPr>
          <p:cNvSpPr/>
          <p:nvPr/>
        </p:nvSpPr>
        <p:spPr>
          <a:xfrm>
            <a:off x="640080" y="1828800"/>
            <a:ext cx="3749039" cy="2286000"/>
          </a:xfrm>
          <a:prstGeom prst="rect">
            <a:avLst/>
          </a:prstGeom>
          <a:solidFill>
            <a:srgbClr val="CCD7E9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874314-CC43-A6A6-F181-D275BBFACBE6}"/>
              </a:ext>
            </a:extLst>
          </p:cNvPr>
          <p:cNvSpPr/>
          <p:nvPr/>
        </p:nvSpPr>
        <p:spPr>
          <a:xfrm>
            <a:off x="1811654" y="2900362"/>
            <a:ext cx="1757362" cy="1071562"/>
          </a:xfrm>
          <a:prstGeom prst="rect">
            <a:avLst/>
          </a:prstGeom>
          <a:noFill/>
          <a:ln w="25400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BF0051-988E-5081-A20A-34F7B257480C}"/>
              </a:ext>
            </a:extLst>
          </p:cNvPr>
          <p:cNvSpPr txBox="1"/>
          <p:nvPr/>
        </p:nvSpPr>
        <p:spPr>
          <a:xfrm>
            <a:off x="1811654" y="2626042"/>
            <a:ext cx="175736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C1272D"/>
                </a:solidFill>
                <a:latin typeface="Calibri"/>
              </a:rPr>
              <a:t>pixels ≈ (200,300) → (500,600)</a:t>
            </a:r>
          </a:p>
        </p:txBody>
      </p:sp>
      <p:cxnSp>
        <p:nvCxnSpPr>
          <p:cNvPr id="10" name="Connector 11">
            <a:extLst>
              <a:ext uri="{FF2B5EF4-FFF2-40B4-BE49-F238E27FC236}">
                <a16:creationId xmlns:a16="http://schemas.microsoft.com/office/drawing/2014/main" id="{F4C149ED-035A-505B-B84B-8CCD4A674B57}"/>
              </a:ext>
            </a:extLst>
          </p:cNvPr>
          <p:cNvCxnSpPr/>
          <p:nvPr/>
        </p:nvCxnSpPr>
        <p:spPr>
          <a:xfrm>
            <a:off x="4754880" y="2743200"/>
            <a:ext cx="1280160" cy="0"/>
          </a:xfrm>
          <a:prstGeom prst="line">
            <a:avLst/>
          </a:prstGeom>
          <a:ln w="25400">
            <a:solidFill>
              <a:srgbClr val="0B3D9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1485D66-342F-6E5E-697E-9746D7785F30}"/>
              </a:ext>
            </a:extLst>
          </p:cNvPr>
          <p:cNvSpPr txBox="1"/>
          <p:nvPr/>
        </p:nvSpPr>
        <p:spPr>
          <a:xfrm>
            <a:off x="4754880" y="2788920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B3D91"/>
                </a:solidFill>
                <a:latin typeface="Calibri"/>
              </a:rPr>
              <a:t>backbone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DF7CA18-5833-47A6-AF78-87E4D0D27D67}"/>
              </a:ext>
            </a:extLst>
          </p:cNvPr>
          <p:cNvSpPr/>
          <p:nvPr/>
        </p:nvSpPr>
        <p:spPr>
          <a:xfrm>
            <a:off x="6217920" y="1463040"/>
            <a:ext cx="5486400" cy="2743200"/>
          </a:xfrm>
          <a:prstGeom prst="round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DF6B71-47C4-2994-4713-04DCBF3BE9DE}"/>
              </a:ext>
            </a:extLst>
          </p:cNvPr>
          <p:cNvSpPr txBox="1"/>
          <p:nvPr/>
        </p:nvSpPr>
        <p:spPr>
          <a:xfrm>
            <a:off x="6217920" y="1508760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B3D91"/>
                </a:solidFill>
                <a:latin typeface="Calibri"/>
              </a:rPr>
              <a:t>Feature tensor  [128, 40, 40]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E18117-53AC-B3A4-A0F8-9FF6F8344B54}"/>
              </a:ext>
            </a:extLst>
          </p:cNvPr>
          <p:cNvSpPr/>
          <p:nvPr/>
        </p:nvSpPr>
        <p:spPr>
          <a:xfrm>
            <a:off x="6400800" y="1828800"/>
            <a:ext cx="20116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D158BF-1D07-782D-5AC3-991EE2EB0DD0}"/>
              </a:ext>
            </a:extLst>
          </p:cNvPr>
          <p:cNvSpPr/>
          <p:nvPr/>
        </p:nvSpPr>
        <p:spPr>
          <a:xfrm>
            <a:off x="6905670" y="2865762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41A667-6122-393E-7A17-6AB10C321D1E}"/>
              </a:ext>
            </a:extLst>
          </p:cNvPr>
          <p:cNvSpPr/>
          <p:nvPr/>
        </p:nvSpPr>
        <p:spPr>
          <a:xfrm>
            <a:off x="7541466" y="3007341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F2DE67-5B42-2893-C6E4-8BC32C0EDFDC}"/>
              </a:ext>
            </a:extLst>
          </p:cNvPr>
          <p:cNvSpPr/>
          <p:nvPr/>
        </p:nvSpPr>
        <p:spPr>
          <a:xfrm>
            <a:off x="6515117" y="3375225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0E17EE-53DA-5BC3-74F1-5B71C3427CCE}"/>
              </a:ext>
            </a:extLst>
          </p:cNvPr>
          <p:cNvSpPr/>
          <p:nvPr/>
        </p:nvSpPr>
        <p:spPr>
          <a:xfrm>
            <a:off x="6899357" y="3650033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E099C8-BCC5-F114-156F-33ED8FF9BE5F}"/>
              </a:ext>
            </a:extLst>
          </p:cNvPr>
          <p:cNvSpPr/>
          <p:nvPr/>
        </p:nvSpPr>
        <p:spPr>
          <a:xfrm>
            <a:off x="7945474" y="2747837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DCDFBA-4B2B-4654-1601-928B56BB4C58}"/>
              </a:ext>
            </a:extLst>
          </p:cNvPr>
          <p:cNvSpPr/>
          <p:nvPr/>
        </p:nvSpPr>
        <p:spPr>
          <a:xfrm>
            <a:off x="6753914" y="3023221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6C7C00-E2AF-E571-8CA0-23B02E4043A0}"/>
              </a:ext>
            </a:extLst>
          </p:cNvPr>
          <p:cNvSpPr/>
          <p:nvPr/>
        </p:nvSpPr>
        <p:spPr>
          <a:xfrm>
            <a:off x="7401194" y="3208061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A2DB56-C19E-A9DE-DAC3-A356DA55C1D7}"/>
              </a:ext>
            </a:extLst>
          </p:cNvPr>
          <p:cNvSpPr/>
          <p:nvPr/>
        </p:nvSpPr>
        <p:spPr>
          <a:xfrm>
            <a:off x="6603485" y="3237558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A3F382-B0E8-6B9C-0BF8-E5342EFA6C36}"/>
              </a:ext>
            </a:extLst>
          </p:cNvPr>
          <p:cNvSpPr/>
          <p:nvPr/>
        </p:nvSpPr>
        <p:spPr>
          <a:xfrm>
            <a:off x="7015650" y="1974118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BE6F83-374B-7BCD-D7AA-6EBC635A6539}"/>
              </a:ext>
            </a:extLst>
          </p:cNvPr>
          <p:cNvSpPr/>
          <p:nvPr/>
        </p:nvSpPr>
        <p:spPr>
          <a:xfrm>
            <a:off x="7313575" y="3169095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3B1F0-D970-3AD7-F9F5-694E8D229D6C}"/>
              </a:ext>
            </a:extLst>
          </p:cNvPr>
          <p:cNvSpPr/>
          <p:nvPr/>
        </p:nvSpPr>
        <p:spPr>
          <a:xfrm>
            <a:off x="6510528" y="1938528"/>
            <a:ext cx="20116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5BCD52-C558-7133-7C1A-F713C740AD7E}"/>
              </a:ext>
            </a:extLst>
          </p:cNvPr>
          <p:cNvSpPr/>
          <p:nvPr/>
        </p:nvSpPr>
        <p:spPr>
          <a:xfrm>
            <a:off x="7842667" y="3630247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DA13CD-2976-140F-1CA5-43594DF6BC03}"/>
              </a:ext>
            </a:extLst>
          </p:cNvPr>
          <p:cNvSpPr/>
          <p:nvPr/>
        </p:nvSpPr>
        <p:spPr>
          <a:xfrm>
            <a:off x="7993434" y="2802434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A11815E-752F-8C51-7954-B454EB64AB15}"/>
              </a:ext>
            </a:extLst>
          </p:cNvPr>
          <p:cNvSpPr/>
          <p:nvPr/>
        </p:nvSpPr>
        <p:spPr>
          <a:xfrm>
            <a:off x="8128875" y="2199281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79EB8A-4F51-0593-2112-2C04A06B9F38}"/>
              </a:ext>
            </a:extLst>
          </p:cNvPr>
          <p:cNvSpPr/>
          <p:nvPr/>
        </p:nvSpPr>
        <p:spPr>
          <a:xfrm>
            <a:off x="6978952" y="3707354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F7BC19-2DF8-F32C-35F5-189639532461}"/>
              </a:ext>
            </a:extLst>
          </p:cNvPr>
          <p:cNvSpPr/>
          <p:nvPr/>
        </p:nvSpPr>
        <p:spPr>
          <a:xfrm>
            <a:off x="7690681" y="2552958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E1E57C-56EB-5796-DF36-B54D1D2DC536}"/>
              </a:ext>
            </a:extLst>
          </p:cNvPr>
          <p:cNvSpPr/>
          <p:nvPr/>
        </p:nvSpPr>
        <p:spPr>
          <a:xfrm>
            <a:off x="7272356" y="2639625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47F611-F661-A199-7245-B2CDCF8ABCF9}"/>
              </a:ext>
            </a:extLst>
          </p:cNvPr>
          <p:cNvSpPr/>
          <p:nvPr/>
        </p:nvSpPr>
        <p:spPr>
          <a:xfrm>
            <a:off x="7617023" y="3600891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5C4B34-768A-41C9-951E-7028D9ACE7F9}"/>
              </a:ext>
            </a:extLst>
          </p:cNvPr>
          <p:cNvSpPr/>
          <p:nvPr/>
        </p:nvSpPr>
        <p:spPr>
          <a:xfrm>
            <a:off x="8215880" y="3517844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57852C-F067-61CE-9A0D-EF0A96955476}"/>
              </a:ext>
            </a:extLst>
          </p:cNvPr>
          <p:cNvSpPr/>
          <p:nvPr/>
        </p:nvSpPr>
        <p:spPr>
          <a:xfrm>
            <a:off x="7768211" y="2313330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DD3B261-F38D-06DA-43C4-B5436BBFE967}"/>
              </a:ext>
            </a:extLst>
          </p:cNvPr>
          <p:cNvSpPr/>
          <p:nvPr/>
        </p:nvSpPr>
        <p:spPr>
          <a:xfrm>
            <a:off x="8277882" y="3601750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3F99A1-7A85-4228-DF86-EE369F8037A8}"/>
              </a:ext>
            </a:extLst>
          </p:cNvPr>
          <p:cNvSpPr/>
          <p:nvPr/>
        </p:nvSpPr>
        <p:spPr>
          <a:xfrm>
            <a:off x="6620256" y="2048256"/>
            <a:ext cx="20116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DF9501-6624-F804-E54C-141A0ADDA7F2}"/>
              </a:ext>
            </a:extLst>
          </p:cNvPr>
          <p:cNvSpPr/>
          <p:nvPr/>
        </p:nvSpPr>
        <p:spPr>
          <a:xfrm>
            <a:off x="7951853" y="2506496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2B0BF9-37C7-525A-AEE4-1D4512AFAE77}"/>
              </a:ext>
            </a:extLst>
          </p:cNvPr>
          <p:cNvSpPr/>
          <p:nvPr/>
        </p:nvSpPr>
        <p:spPr>
          <a:xfrm>
            <a:off x="7708128" y="2634769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5736B6E-9FAB-4D21-664D-7E2C1F98384B}"/>
              </a:ext>
            </a:extLst>
          </p:cNvPr>
          <p:cNvSpPr/>
          <p:nvPr/>
        </p:nvSpPr>
        <p:spPr>
          <a:xfrm>
            <a:off x="8195301" y="3859345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A38687-7F18-7EF4-FB8E-6570C78A503B}"/>
              </a:ext>
            </a:extLst>
          </p:cNvPr>
          <p:cNvSpPr/>
          <p:nvPr/>
        </p:nvSpPr>
        <p:spPr>
          <a:xfrm>
            <a:off x="8102618" y="2852815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43AD2DF-AD10-2B02-01A2-9F194FEC70C5}"/>
              </a:ext>
            </a:extLst>
          </p:cNvPr>
          <p:cNvSpPr/>
          <p:nvPr/>
        </p:nvSpPr>
        <p:spPr>
          <a:xfrm>
            <a:off x="7222290" y="3475364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F074DF1-CC3F-306D-D088-D417E249A7EF}"/>
              </a:ext>
            </a:extLst>
          </p:cNvPr>
          <p:cNvSpPr/>
          <p:nvPr/>
        </p:nvSpPr>
        <p:spPr>
          <a:xfrm>
            <a:off x="6788470" y="3207360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B00BF1A-0373-FDDA-6AE5-7F53484D0BED}"/>
              </a:ext>
            </a:extLst>
          </p:cNvPr>
          <p:cNvSpPr/>
          <p:nvPr/>
        </p:nvSpPr>
        <p:spPr>
          <a:xfrm>
            <a:off x="7959885" y="2714682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557D5A0-4F53-BEE2-49A2-EB8D50B7FEC4}"/>
              </a:ext>
            </a:extLst>
          </p:cNvPr>
          <p:cNvSpPr/>
          <p:nvPr/>
        </p:nvSpPr>
        <p:spPr>
          <a:xfrm>
            <a:off x="8415413" y="3017793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E833D99-6E7D-CA91-2B0D-7C13DA3035C7}"/>
              </a:ext>
            </a:extLst>
          </p:cNvPr>
          <p:cNvSpPr/>
          <p:nvPr/>
        </p:nvSpPr>
        <p:spPr>
          <a:xfrm>
            <a:off x="7249704" y="2273421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8EE5FA5-16DC-0155-D437-D1719F08524A}"/>
              </a:ext>
            </a:extLst>
          </p:cNvPr>
          <p:cNvSpPr/>
          <p:nvPr/>
        </p:nvSpPr>
        <p:spPr>
          <a:xfrm>
            <a:off x="6766210" y="2482624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0034EDB-5BB9-935D-6B17-B1BB9D8A59CC}"/>
              </a:ext>
            </a:extLst>
          </p:cNvPr>
          <p:cNvSpPr/>
          <p:nvPr/>
        </p:nvSpPr>
        <p:spPr>
          <a:xfrm>
            <a:off x="6729984" y="2157984"/>
            <a:ext cx="20116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1B0B86B-99F0-0F8B-7D9C-7DAAF539E174}"/>
              </a:ext>
            </a:extLst>
          </p:cNvPr>
          <p:cNvSpPr/>
          <p:nvPr/>
        </p:nvSpPr>
        <p:spPr>
          <a:xfrm>
            <a:off x="7882025" y="2520797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C65196C-338B-DAEB-FBE3-EAAF11AC2A3D}"/>
              </a:ext>
            </a:extLst>
          </p:cNvPr>
          <p:cNvSpPr/>
          <p:nvPr/>
        </p:nvSpPr>
        <p:spPr>
          <a:xfrm>
            <a:off x="8329068" y="2794660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5F915CD-720D-07EF-2EF6-390DC7681A3C}"/>
              </a:ext>
            </a:extLst>
          </p:cNvPr>
          <p:cNvSpPr/>
          <p:nvPr/>
        </p:nvSpPr>
        <p:spPr>
          <a:xfrm>
            <a:off x="8379244" y="2905779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0EF0C5-514C-F6D7-AF4B-B80AD40AE944}"/>
              </a:ext>
            </a:extLst>
          </p:cNvPr>
          <p:cNvSpPr/>
          <p:nvPr/>
        </p:nvSpPr>
        <p:spPr>
          <a:xfrm>
            <a:off x="7724978" y="3368090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719BC1D-CB1B-B40D-5337-97A4535FDE4B}"/>
              </a:ext>
            </a:extLst>
          </p:cNvPr>
          <p:cNvSpPr/>
          <p:nvPr/>
        </p:nvSpPr>
        <p:spPr>
          <a:xfrm>
            <a:off x="7793061" y="3326806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628AD29-D78E-66C5-2330-E50D4562F6A7}"/>
              </a:ext>
            </a:extLst>
          </p:cNvPr>
          <p:cNvSpPr/>
          <p:nvPr/>
        </p:nvSpPr>
        <p:spPr>
          <a:xfrm>
            <a:off x="7702312" y="2998558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25C74DA-927E-EDE6-F7C6-D412EF55C705}"/>
              </a:ext>
            </a:extLst>
          </p:cNvPr>
          <p:cNvSpPr/>
          <p:nvPr/>
        </p:nvSpPr>
        <p:spPr>
          <a:xfrm>
            <a:off x="7234282" y="2772520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B77C7C6-08DA-60C6-DF27-144D6474B981}"/>
              </a:ext>
            </a:extLst>
          </p:cNvPr>
          <p:cNvSpPr/>
          <p:nvPr/>
        </p:nvSpPr>
        <p:spPr>
          <a:xfrm>
            <a:off x="7726809" y="3202245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4BCC822-D11D-38E6-5546-2BCB566F40F9}"/>
              </a:ext>
            </a:extLst>
          </p:cNvPr>
          <p:cNvSpPr/>
          <p:nvPr/>
        </p:nvSpPr>
        <p:spPr>
          <a:xfrm>
            <a:off x="7542793" y="3257032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72788C6-1B57-F7AE-9C92-4A70816BC874}"/>
              </a:ext>
            </a:extLst>
          </p:cNvPr>
          <p:cNvSpPr/>
          <p:nvPr/>
        </p:nvSpPr>
        <p:spPr>
          <a:xfrm>
            <a:off x="7891286" y="3347749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57C8078-2836-9B63-CFF4-59791D5C444E}"/>
              </a:ext>
            </a:extLst>
          </p:cNvPr>
          <p:cNvSpPr/>
          <p:nvPr/>
        </p:nvSpPr>
        <p:spPr>
          <a:xfrm>
            <a:off x="6839712" y="2267712"/>
            <a:ext cx="20116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FC82717-F6AC-1244-2BF1-BD6B69C2E9A4}"/>
              </a:ext>
            </a:extLst>
          </p:cNvPr>
          <p:cNvSpPr/>
          <p:nvPr/>
        </p:nvSpPr>
        <p:spPr>
          <a:xfrm>
            <a:off x="8021069" y="3169196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CDA73EB-D2CC-6FBE-4C87-81FBD3D0F520}"/>
              </a:ext>
            </a:extLst>
          </p:cNvPr>
          <p:cNvSpPr/>
          <p:nvPr/>
        </p:nvSpPr>
        <p:spPr>
          <a:xfrm>
            <a:off x="7543705" y="3587379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A852F74-A2FA-491E-304F-35A3E6F63EC7}"/>
              </a:ext>
            </a:extLst>
          </p:cNvPr>
          <p:cNvSpPr/>
          <p:nvPr/>
        </p:nvSpPr>
        <p:spPr>
          <a:xfrm>
            <a:off x="6969690" y="2464395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3507794-E1A6-AC75-C2FB-3526E4CC99F9}"/>
              </a:ext>
            </a:extLst>
          </p:cNvPr>
          <p:cNvSpPr/>
          <p:nvPr/>
        </p:nvSpPr>
        <p:spPr>
          <a:xfrm>
            <a:off x="8604760" y="2795441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27C7B3B-5AD7-AF62-49A6-845A3D13FA35}"/>
              </a:ext>
            </a:extLst>
          </p:cNvPr>
          <p:cNvSpPr/>
          <p:nvPr/>
        </p:nvSpPr>
        <p:spPr>
          <a:xfrm>
            <a:off x="7960836" y="2915151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0E8D64B-174C-1335-92F5-B99B42733F7D}"/>
              </a:ext>
            </a:extLst>
          </p:cNvPr>
          <p:cNvSpPr/>
          <p:nvPr/>
        </p:nvSpPr>
        <p:spPr>
          <a:xfrm>
            <a:off x="7474373" y="3000505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F6E53CF-FDED-6F1B-31B7-A030F54DBFE8}"/>
              </a:ext>
            </a:extLst>
          </p:cNvPr>
          <p:cNvSpPr/>
          <p:nvPr/>
        </p:nvSpPr>
        <p:spPr>
          <a:xfrm>
            <a:off x="7453061" y="3014415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77B9B5C-F314-5560-796C-602AE1AA369F}"/>
              </a:ext>
            </a:extLst>
          </p:cNvPr>
          <p:cNvSpPr/>
          <p:nvPr/>
        </p:nvSpPr>
        <p:spPr>
          <a:xfrm>
            <a:off x="6977923" y="3348158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B458BA5-BBAE-9690-B122-F6B7CAE669A4}"/>
              </a:ext>
            </a:extLst>
          </p:cNvPr>
          <p:cNvSpPr/>
          <p:nvPr/>
        </p:nvSpPr>
        <p:spPr>
          <a:xfrm>
            <a:off x="7469762" y="2745780"/>
            <a:ext cx="109728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12FDEAB-BCBC-6F68-4CAD-CDDC07921C03}"/>
              </a:ext>
            </a:extLst>
          </p:cNvPr>
          <p:cNvSpPr/>
          <p:nvPr/>
        </p:nvSpPr>
        <p:spPr>
          <a:xfrm>
            <a:off x="7345851" y="2684723"/>
            <a:ext cx="109728" cy="1097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924FE42-5B24-DA44-9644-D6F20DFD14E6}"/>
              </a:ext>
            </a:extLst>
          </p:cNvPr>
          <p:cNvSpPr/>
          <p:nvPr/>
        </p:nvSpPr>
        <p:spPr>
          <a:xfrm>
            <a:off x="7443216" y="3172968"/>
            <a:ext cx="955548" cy="955548"/>
          </a:xfrm>
          <a:prstGeom prst="rect">
            <a:avLst/>
          </a:prstGeom>
          <a:noFill/>
          <a:ln w="25400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2D1C42-9029-A743-5BEA-BA0074C5067D}"/>
              </a:ext>
            </a:extLst>
          </p:cNvPr>
          <p:cNvSpPr txBox="1"/>
          <p:nvPr/>
        </p:nvSpPr>
        <p:spPr>
          <a:xfrm>
            <a:off x="8961120" y="1965960"/>
            <a:ext cx="26517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C1272D"/>
                </a:solidFill>
                <a:latin typeface="Calibri"/>
              </a:rPr>
              <a:t>cells ≈ (12,18) → (31,37)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CDAD69D-43B6-E7FD-7058-9D9668A4A12A}"/>
              </a:ext>
            </a:extLst>
          </p:cNvPr>
          <p:cNvSpPr txBox="1"/>
          <p:nvPr/>
        </p:nvSpPr>
        <p:spPr>
          <a:xfrm>
            <a:off x="8961120" y="3017520"/>
            <a:ext cx="26517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4A5568"/>
                </a:solidFill>
                <a:latin typeface="Calibri"/>
              </a:rPr>
              <a:t>128 channels stacked in depth.
Each slice is one pattern's heatmap.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A9B09A-3699-F6A8-3B3A-F40F2FA5EE85}"/>
              </a:ext>
            </a:extLst>
          </p:cNvPr>
          <p:cNvSpPr txBox="1"/>
          <p:nvPr/>
        </p:nvSpPr>
        <p:spPr>
          <a:xfrm>
            <a:off x="457200" y="4663440"/>
            <a:ext cx="11247120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A1F29"/>
                </a:solidFill>
                <a:latin typeface="Calibri"/>
              </a:rPr>
              <a:t>Car's pixel region maps to a block of cells in the feature grid. Everywhere the car is, most of the 128 channels have high activations.</a:t>
            </a:r>
          </a:p>
          <a:p>
            <a:pPr algn="l">
              <a:spcAft>
                <a:spcPts val="600"/>
              </a:spcAft>
            </a:pPr>
            <a:r>
              <a:rPr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A1F29"/>
                </a:solidFill>
                <a:latin typeface="Calibri"/>
              </a:rPr>
              <a:t>Sky and bare road map to near-zero activations across most channels — they carry almost no task-relevant information.</a:t>
            </a:r>
          </a:p>
          <a:p>
            <a:pPr algn="l">
              <a:spcAft>
                <a:spcPts val="600"/>
              </a:spcAft>
            </a:pPr>
            <a:r>
              <a:rPr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F58A1F"/>
                </a:solidFill>
                <a:latin typeface="Calibri"/>
              </a:rPr>
              <a:t>Key insight: if we only need the detector to work, we only need to preserve these high-activation regions.</a:t>
            </a:r>
          </a:p>
        </p:txBody>
      </p:sp>
    </p:spTree>
    <p:extLst>
      <p:ext uri="{BB962C8B-B14F-4D97-AF65-F5344CB8AC3E}">
        <p14:creationId xmlns:p14="http://schemas.microsoft.com/office/powerpoint/2010/main" val="1180307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F7432-9E7B-96CD-15C7-6FB630E12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F12FE-A174-71C0-76CC-1688D63C7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©2026 InterDigital, Inc. All Rights Reserved.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78137-0D4F-73C5-4991-8DF42F79F9EA}"/>
              </a:ext>
            </a:extLst>
          </p:cNvPr>
          <p:cNvSpPr txBox="1"/>
          <p:nvPr/>
        </p:nvSpPr>
        <p:spPr>
          <a:xfrm>
            <a:off x="457200" y="341114"/>
            <a:ext cx="11247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A1F29"/>
                </a:solidFill>
                <a:latin typeface="Calibri"/>
              </a:rPr>
              <a:t>Multi-scale features  (Feature Pyramid Network)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F4C252-AC68-7D0F-6452-DAC5389664E1}"/>
              </a:ext>
            </a:extLst>
          </p:cNvPr>
          <p:cNvSpPr/>
          <p:nvPr/>
        </p:nvSpPr>
        <p:spPr>
          <a:xfrm>
            <a:off x="457200" y="935474"/>
            <a:ext cx="1005840" cy="4572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A69F8-49D1-EC17-337D-049ABB425B42}"/>
              </a:ext>
            </a:extLst>
          </p:cNvPr>
          <p:cNvSpPr txBox="1"/>
          <p:nvPr/>
        </p:nvSpPr>
        <p:spPr>
          <a:xfrm>
            <a:off x="457200" y="1269564"/>
            <a:ext cx="11247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1A1F29"/>
                </a:solidFill>
                <a:latin typeface="Calibri"/>
              </a:rPr>
              <a:t>Some detectors — e.g. Faster R-CNN with FPN — produce feature tensors at several spatial scales at once. Think of this as a multi-carrier transmission where each 'carrier' is tuned to a different object size.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709B273-9BCA-6288-4E76-849C2898F583}"/>
              </a:ext>
            </a:extLst>
          </p:cNvPr>
          <p:cNvSpPr/>
          <p:nvPr/>
        </p:nvSpPr>
        <p:spPr>
          <a:xfrm>
            <a:off x="4297680" y="2286000"/>
            <a:ext cx="3657600" cy="868680"/>
          </a:xfrm>
          <a:prstGeom prst="roundRect">
            <a:avLst/>
          </a:prstGeom>
          <a:solidFill>
            <a:srgbClr val="4D8BFF"/>
          </a:solidFill>
          <a:ln>
            <a:solidFill>
              <a:srgbClr val="4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F794F-0E87-B369-2782-C10AC691253A}"/>
              </a:ext>
            </a:extLst>
          </p:cNvPr>
          <p:cNvSpPr txBox="1"/>
          <p:nvPr/>
        </p:nvSpPr>
        <p:spPr>
          <a:xfrm>
            <a:off x="4297680" y="2391490"/>
            <a:ext cx="36576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P3  —  80 × 80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2CBF49-4A93-1DA6-70A6-8E710B046F82}"/>
              </a:ext>
            </a:extLst>
          </p:cNvPr>
          <p:cNvSpPr txBox="1"/>
          <p:nvPr/>
        </p:nvSpPr>
        <p:spPr>
          <a:xfrm>
            <a:off x="4297680" y="2818358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small / distant objects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EE2EBC9-D81B-1788-5005-2C692A316524}"/>
              </a:ext>
            </a:extLst>
          </p:cNvPr>
          <p:cNvSpPr/>
          <p:nvPr/>
        </p:nvSpPr>
        <p:spPr>
          <a:xfrm>
            <a:off x="4754880" y="3291840"/>
            <a:ext cx="2743200" cy="868680"/>
          </a:xfrm>
          <a:prstGeom prst="roundRect">
            <a:avLst/>
          </a:prstGeom>
          <a:solidFill>
            <a:srgbClr val="0B3D91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8999ED-095D-DA34-C289-A1F85B954A95}"/>
              </a:ext>
            </a:extLst>
          </p:cNvPr>
          <p:cNvSpPr txBox="1"/>
          <p:nvPr/>
        </p:nvSpPr>
        <p:spPr>
          <a:xfrm>
            <a:off x="4754880" y="3397330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P4  —  40 × 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A6F4D1-F364-BD40-F52D-A7EEDA3CF66B}"/>
              </a:ext>
            </a:extLst>
          </p:cNvPr>
          <p:cNvSpPr txBox="1"/>
          <p:nvPr/>
        </p:nvSpPr>
        <p:spPr>
          <a:xfrm>
            <a:off x="4754880" y="3824198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mid-size objects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F1556B1-A2B2-8F65-413B-42F3B7C208F8}"/>
              </a:ext>
            </a:extLst>
          </p:cNvPr>
          <p:cNvSpPr/>
          <p:nvPr/>
        </p:nvSpPr>
        <p:spPr>
          <a:xfrm>
            <a:off x="5212080" y="4297680"/>
            <a:ext cx="1828800" cy="868680"/>
          </a:xfrm>
          <a:prstGeom prst="roundRect">
            <a:avLst/>
          </a:prstGeom>
          <a:solidFill>
            <a:srgbClr val="F58A1F"/>
          </a:solidFill>
          <a:ln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336607-DB92-C8BC-C6D3-14DD3A23D7BC}"/>
              </a:ext>
            </a:extLst>
          </p:cNvPr>
          <p:cNvSpPr txBox="1"/>
          <p:nvPr/>
        </p:nvSpPr>
        <p:spPr>
          <a:xfrm>
            <a:off x="5212080" y="4403170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P5  —  20 × 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44312E-BE8E-D8E5-1FE2-CC1633A39EBD}"/>
              </a:ext>
            </a:extLst>
          </p:cNvPr>
          <p:cNvSpPr txBox="1"/>
          <p:nvPr/>
        </p:nvSpPr>
        <p:spPr>
          <a:xfrm>
            <a:off x="5212080" y="4830038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large / near objects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812580-A2BB-E401-FD2A-19DB1E8BDAD6}"/>
              </a:ext>
            </a:extLst>
          </p:cNvPr>
          <p:cNvSpPr txBox="1"/>
          <p:nvPr/>
        </p:nvSpPr>
        <p:spPr>
          <a:xfrm>
            <a:off x="457200" y="5394960"/>
            <a:ext cx="11247120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For our running example, the car is mid-size, so it lights up P4/P5 most strongly. A far-away pedestrian would activate P3 more.</a:t>
            </a:r>
          </a:p>
          <a:p>
            <a:pPr algn="l">
              <a:spcAft>
                <a:spcPts val="6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Every scale goes through the same compression pipeline; they're just separate feature tensors tagged with different names.</a:t>
            </a:r>
          </a:p>
          <a:p>
            <a:pPr algn="l">
              <a:spcAft>
                <a:spcPts val="6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1" i="0" dirty="0">
                <a:solidFill>
                  <a:srgbClr val="0B3D91"/>
                </a:solidFill>
                <a:latin typeface="Calibri"/>
              </a:rPr>
              <a:t>This is exactly the shape produced by the Faster R-CNN backbone used in the testbed implementation (Part B).</a:t>
            </a:r>
          </a:p>
        </p:txBody>
      </p:sp>
    </p:spTree>
    <p:extLst>
      <p:ext uri="{BB962C8B-B14F-4D97-AF65-F5344CB8AC3E}">
        <p14:creationId xmlns:p14="http://schemas.microsoft.com/office/powerpoint/2010/main" val="335298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6A533-4BC2-6183-4378-7BD5C6CB8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85743-B39A-E349-B80C-7308B2848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1600" dirty="0"/>
              <a:t>©2026 InterDigital, Inc. All Rights Reserved.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A9A8B5-73FE-55BB-193D-AE2C7246BAF0}"/>
              </a:ext>
            </a:extLst>
          </p:cNvPr>
          <p:cNvSpPr txBox="1"/>
          <p:nvPr/>
        </p:nvSpPr>
        <p:spPr>
          <a:xfrm>
            <a:off x="457200" y="411480"/>
            <a:ext cx="88773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F29"/>
                </a:solidFill>
                <a:latin typeface="Calibri"/>
              </a:rPr>
              <a:t>Coding for humans  vs.  coding for machines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8DF5F0-416F-3B50-86C6-D261A749A568}"/>
              </a:ext>
            </a:extLst>
          </p:cNvPr>
          <p:cNvSpPr/>
          <p:nvPr/>
        </p:nvSpPr>
        <p:spPr>
          <a:xfrm>
            <a:off x="457200" y="1005840"/>
            <a:ext cx="641939" cy="4572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62FAA7-3CAD-35C1-7F45-2877D7D1274D}"/>
              </a:ext>
            </a:extLst>
          </p:cNvPr>
          <p:cNvSpPr/>
          <p:nvPr/>
        </p:nvSpPr>
        <p:spPr>
          <a:xfrm>
            <a:off x="457200" y="1554480"/>
            <a:ext cx="3017520" cy="64008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7A7A29-5502-0EC8-4F13-C30C808BE91C}"/>
              </a:ext>
            </a:extLst>
          </p:cNvPr>
          <p:cNvSpPr txBox="1"/>
          <p:nvPr/>
        </p:nvSpPr>
        <p:spPr>
          <a:xfrm>
            <a:off x="594360" y="1751410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Concern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06C556-8110-9CD7-C72D-5DCC3EFFF86F}"/>
              </a:ext>
            </a:extLst>
          </p:cNvPr>
          <p:cNvSpPr/>
          <p:nvPr/>
        </p:nvSpPr>
        <p:spPr>
          <a:xfrm>
            <a:off x="3474720" y="1554480"/>
            <a:ext cx="4023360" cy="64008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A0A689-AE90-3D6E-1BB9-987D0843E19A}"/>
              </a:ext>
            </a:extLst>
          </p:cNvPr>
          <p:cNvSpPr txBox="1"/>
          <p:nvPr/>
        </p:nvSpPr>
        <p:spPr>
          <a:xfrm>
            <a:off x="3611880" y="1751410"/>
            <a:ext cx="37490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Coding for humans (JPEG / H.264)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0901C6-5B06-7111-B3EE-5B8DC7E8C3F7}"/>
              </a:ext>
            </a:extLst>
          </p:cNvPr>
          <p:cNvSpPr/>
          <p:nvPr/>
        </p:nvSpPr>
        <p:spPr>
          <a:xfrm>
            <a:off x="7498080" y="1554480"/>
            <a:ext cx="4206240" cy="64008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7BBC7-5229-6F24-CCD0-001FBFDB8479}"/>
              </a:ext>
            </a:extLst>
          </p:cNvPr>
          <p:cNvSpPr txBox="1"/>
          <p:nvPr/>
        </p:nvSpPr>
        <p:spPr>
          <a:xfrm>
            <a:off x="7635240" y="1751410"/>
            <a:ext cx="39319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Coding for machines (this pipeline)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AF7A35-4A9D-632D-68A2-D9AF01A95F68}"/>
              </a:ext>
            </a:extLst>
          </p:cNvPr>
          <p:cNvSpPr/>
          <p:nvPr/>
        </p:nvSpPr>
        <p:spPr>
          <a:xfrm>
            <a:off x="457200" y="2194560"/>
            <a:ext cx="3017520" cy="64008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F00ADF-B6A7-1D3B-43F4-1E3D4D9F7094}"/>
              </a:ext>
            </a:extLst>
          </p:cNvPr>
          <p:cNvSpPr txBox="1"/>
          <p:nvPr/>
        </p:nvSpPr>
        <p:spPr>
          <a:xfrm>
            <a:off x="594360" y="2391490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What we preserve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AD067B-1C17-4448-2E9F-34FD483526F9}"/>
              </a:ext>
            </a:extLst>
          </p:cNvPr>
          <p:cNvSpPr/>
          <p:nvPr/>
        </p:nvSpPr>
        <p:spPr>
          <a:xfrm>
            <a:off x="3474720" y="2194560"/>
            <a:ext cx="4023360" cy="64008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34E7DA-E15A-A677-980D-975F4AA5B6A1}"/>
              </a:ext>
            </a:extLst>
          </p:cNvPr>
          <p:cNvSpPr txBox="1"/>
          <p:nvPr/>
        </p:nvSpPr>
        <p:spPr>
          <a:xfrm>
            <a:off x="3611880" y="2391490"/>
            <a:ext cx="37490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A1F29"/>
                </a:solidFill>
                <a:latin typeface="Calibri"/>
              </a:rPr>
              <a:t>Colour, sharpness, visible detail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C2572C-AEC1-9C6C-54AD-CB4BE472F286}"/>
              </a:ext>
            </a:extLst>
          </p:cNvPr>
          <p:cNvSpPr/>
          <p:nvPr/>
        </p:nvSpPr>
        <p:spPr>
          <a:xfrm>
            <a:off x="7498080" y="2194560"/>
            <a:ext cx="4206240" cy="64008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4755B9-FE87-56DB-DEF3-371B484EA82B}"/>
              </a:ext>
            </a:extLst>
          </p:cNvPr>
          <p:cNvSpPr txBox="1"/>
          <p:nvPr/>
        </p:nvSpPr>
        <p:spPr>
          <a:xfrm>
            <a:off x="7635240" y="2268379"/>
            <a:ext cx="39319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A1F29"/>
                </a:solidFill>
                <a:latin typeface="Calibri"/>
              </a:rPr>
              <a:t>Feature tensor activations at positions that matter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CB2F2D-E795-7CA8-1B8E-D0F8EF5733BD}"/>
              </a:ext>
            </a:extLst>
          </p:cNvPr>
          <p:cNvSpPr/>
          <p:nvPr/>
        </p:nvSpPr>
        <p:spPr>
          <a:xfrm>
            <a:off x="457200" y="2834640"/>
            <a:ext cx="30175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BE919E-5D60-A20B-6C1D-30733D15F90B}"/>
              </a:ext>
            </a:extLst>
          </p:cNvPr>
          <p:cNvSpPr txBox="1"/>
          <p:nvPr/>
        </p:nvSpPr>
        <p:spPr>
          <a:xfrm>
            <a:off x="594360" y="3031570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Compression target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A73228-D7AF-119C-9418-4F4B45A46EB6}"/>
              </a:ext>
            </a:extLst>
          </p:cNvPr>
          <p:cNvSpPr/>
          <p:nvPr/>
        </p:nvSpPr>
        <p:spPr>
          <a:xfrm>
            <a:off x="3474720" y="2834640"/>
            <a:ext cx="40233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398A8F-E41C-1177-4B5B-6458EB1E8C59}"/>
              </a:ext>
            </a:extLst>
          </p:cNvPr>
          <p:cNvSpPr txBox="1"/>
          <p:nvPr/>
        </p:nvSpPr>
        <p:spPr>
          <a:xfrm>
            <a:off x="3611880" y="3031570"/>
            <a:ext cx="37490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A1F29"/>
                </a:solidFill>
                <a:latin typeface="Calibri"/>
              </a:rPr>
              <a:t>Pixel values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D748F9-54C3-392B-3899-E5778D1A860F}"/>
              </a:ext>
            </a:extLst>
          </p:cNvPr>
          <p:cNvSpPr/>
          <p:nvPr/>
        </p:nvSpPr>
        <p:spPr>
          <a:xfrm>
            <a:off x="7498080" y="2834640"/>
            <a:ext cx="4206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CD5F67-685F-BD84-B4E3-95C43D38392C}"/>
              </a:ext>
            </a:extLst>
          </p:cNvPr>
          <p:cNvSpPr txBox="1"/>
          <p:nvPr/>
        </p:nvSpPr>
        <p:spPr>
          <a:xfrm>
            <a:off x="7635240" y="3031570"/>
            <a:ext cx="39319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A1F29"/>
                </a:solidFill>
                <a:latin typeface="Calibri"/>
              </a:rPr>
              <a:t>Float32 activations in [128, 40, 40]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114361-D8EC-FBB3-4CE2-DCFB8C37F171}"/>
              </a:ext>
            </a:extLst>
          </p:cNvPr>
          <p:cNvSpPr/>
          <p:nvPr/>
        </p:nvSpPr>
        <p:spPr>
          <a:xfrm>
            <a:off x="457200" y="3474720"/>
            <a:ext cx="3017520" cy="64008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3A6E43-0C51-1D90-3C86-ACAF3BBD2871}"/>
              </a:ext>
            </a:extLst>
          </p:cNvPr>
          <p:cNvSpPr txBox="1"/>
          <p:nvPr/>
        </p:nvSpPr>
        <p:spPr>
          <a:xfrm>
            <a:off x="594360" y="3671650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Quality metric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802FCC-7E83-6527-A360-BEAA1ACD3ABC}"/>
              </a:ext>
            </a:extLst>
          </p:cNvPr>
          <p:cNvSpPr/>
          <p:nvPr/>
        </p:nvSpPr>
        <p:spPr>
          <a:xfrm>
            <a:off x="3474720" y="3474720"/>
            <a:ext cx="4023360" cy="64008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05625E-7387-8E29-6D21-59B6846B9E59}"/>
              </a:ext>
            </a:extLst>
          </p:cNvPr>
          <p:cNvSpPr txBox="1"/>
          <p:nvPr/>
        </p:nvSpPr>
        <p:spPr>
          <a:xfrm>
            <a:off x="3611880" y="3671650"/>
            <a:ext cx="37490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A1F29"/>
                </a:solidFill>
                <a:latin typeface="Calibri"/>
              </a:rPr>
              <a:t>PSNR, SSIM — perceptual fidelity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40834B-4305-FE94-5972-AB0785149AE4}"/>
              </a:ext>
            </a:extLst>
          </p:cNvPr>
          <p:cNvSpPr/>
          <p:nvPr/>
        </p:nvSpPr>
        <p:spPr>
          <a:xfrm>
            <a:off x="7498080" y="3474720"/>
            <a:ext cx="4206240" cy="64008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9CC164-393F-22C1-BAD1-8CBDD4A41E6E}"/>
              </a:ext>
            </a:extLst>
          </p:cNvPr>
          <p:cNvSpPr txBox="1"/>
          <p:nvPr/>
        </p:nvSpPr>
        <p:spPr>
          <a:xfrm>
            <a:off x="7635240" y="3671650"/>
            <a:ext cx="39319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A1F29"/>
                </a:solidFill>
                <a:latin typeface="Calibri"/>
              </a:rPr>
              <a:t>mAP, detection F1 — task fidelity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EFFD7A-8E36-71B8-84BB-76F3DC1B30D8}"/>
              </a:ext>
            </a:extLst>
          </p:cNvPr>
          <p:cNvSpPr/>
          <p:nvPr/>
        </p:nvSpPr>
        <p:spPr>
          <a:xfrm>
            <a:off x="457200" y="4114800"/>
            <a:ext cx="30175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201624-C44E-D74F-C1D5-19D708B0BBAD}"/>
              </a:ext>
            </a:extLst>
          </p:cNvPr>
          <p:cNvSpPr txBox="1"/>
          <p:nvPr/>
        </p:nvSpPr>
        <p:spPr>
          <a:xfrm>
            <a:off x="594360" y="4311730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Transmission payload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500219-CE29-8ABD-B169-64944918A512}"/>
              </a:ext>
            </a:extLst>
          </p:cNvPr>
          <p:cNvSpPr/>
          <p:nvPr/>
        </p:nvSpPr>
        <p:spPr>
          <a:xfrm>
            <a:off x="3474720" y="4114800"/>
            <a:ext cx="40233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C99822-5D63-B72B-C887-F2025A48AE3D}"/>
              </a:ext>
            </a:extLst>
          </p:cNvPr>
          <p:cNvSpPr txBox="1"/>
          <p:nvPr/>
        </p:nvSpPr>
        <p:spPr>
          <a:xfrm>
            <a:off x="3611880" y="4311730"/>
            <a:ext cx="37490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A1F29"/>
                </a:solidFill>
                <a:latin typeface="Calibri"/>
              </a:rPr>
              <a:t>Compressed pixel frame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D40293D-D620-BF29-9EEC-B03F1CB078F8}"/>
              </a:ext>
            </a:extLst>
          </p:cNvPr>
          <p:cNvSpPr/>
          <p:nvPr/>
        </p:nvSpPr>
        <p:spPr>
          <a:xfrm>
            <a:off x="7498080" y="4114800"/>
            <a:ext cx="4206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F31B14-28DD-1156-32EE-7E8339248467}"/>
              </a:ext>
            </a:extLst>
          </p:cNvPr>
          <p:cNvSpPr txBox="1"/>
          <p:nvPr/>
        </p:nvSpPr>
        <p:spPr>
          <a:xfrm>
            <a:off x="7635240" y="4311730"/>
            <a:ext cx="39319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A1F29"/>
                </a:solidFill>
                <a:latin typeface="Calibri"/>
              </a:rPr>
              <a:t>Compressed feature image + metadata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2BBF13-A86C-6F3A-C893-0609E642927E}"/>
              </a:ext>
            </a:extLst>
          </p:cNvPr>
          <p:cNvSpPr/>
          <p:nvPr/>
        </p:nvSpPr>
        <p:spPr>
          <a:xfrm>
            <a:off x="457200" y="4754880"/>
            <a:ext cx="3017520" cy="64008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88EF35-BFD2-A2AE-B1FE-CFCCED33BADB}"/>
              </a:ext>
            </a:extLst>
          </p:cNvPr>
          <p:cNvSpPr txBox="1"/>
          <p:nvPr/>
        </p:nvSpPr>
        <p:spPr>
          <a:xfrm>
            <a:off x="594360" y="4951810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Downstream consumer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08EEBA9-6B89-1B08-511C-A8996BEA5A5D}"/>
              </a:ext>
            </a:extLst>
          </p:cNvPr>
          <p:cNvSpPr/>
          <p:nvPr/>
        </p:nvSpPr>
        <p:spPr>
          <a:xfrm>
            <a:off x="3474720" y="4754880"/>
            <a:ext cx="4023360" cy="64008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2AA3B2-DC15-A02F-DE52-6F26CD289C11}"/>
              </a:ext>
            </a:extLst>
          </p:cNvPr>
          <p:cNvSpPr txBox="1"/>
          <p:nvPr/>
        </p:nvSpPr>
        <p:spPr>
          <a:xfrm>
            <a:off x="3611880" y="4951810"/>
            <a:ext cx="37490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A1F29"/>
                </a:solidFill>
                <a:latin typeface="Calibri"/>
              </a:rPr>
              <a:t>Human eyes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224EAC-A280-9D46-1698-6DDD145A554F}"/>
              </a:ext>
            </a:extLst>
          </p:cNvPr>
          <p:cNvSpPr/>
          <p:nvPr/>
        </p:nvSpPr>
        <p:spPr>
          <a:xfrm>
            <a:off x="7498080" y="4754880"/>
            <a:ext cx="4206240" cy="640080"/>
          </a:xfrm>
          <a:prstGeom prst="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BB10C7-420B-6523-DD73-014884BC4657}"/>
              </a:ext>
            </a:extLst>
          </p:cNvPr>
          <p:cNvSpPr txBox="1"/>
          <p:nvPr/>
        </p:nvSpPr>
        <p:spPr>
          <a:xfrm>
            <a:off x="7635240" y="4951810"/>
            <a:ext cx="39319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A1F29"/>
                </a:solidFill>
                <a:latin typeface="Calibri"/>
              </a:rPr>
              <a:t>Second half of the neural network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26BBFFAA-6645-C444-E0C3-8F14E6794F9D}"/>
              </a:ext>
            </a:extLst>
          </p:cNvPr>
          <p:cNvSpPr/>
          <p:nvPr/>
        </p:nvSpPr>
        <p:spPr>
          <a:xfrm>
            <a:off x="472440" y="5543155"/>
            <a:ext cx="11247120" cy="640080"/>
          </a:xfrm>
          <a:prstGeom prst="roundRect">
            <a:avLst/>
          </a:prstGeom>
          <a:solidFill>
            <a:srgbClr val="FFF4E3"/>
          </a:solidFill>
          <a:ln w="1270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0EE5F5-FA2A-14EF-142A-F7F5F873DFD2}"/>
              </a:ext>
            </a:extLst>
          </p:cNvPr>
          <p:cNvSpPr txBox="1"/>
          <p:nvPr/>
        </p:nvSpPr>
        <p:spPr>
          <a:xfrm>
            <a:off x="655320" y="5740085"/>
            <a:ext cx="109728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A1F29"/>
                </a:solidFill>
                <a:latin typeface="Calibri"/>
              </a:rPr>
              <a:t>Because the decoder is a neural network — not a human eye — we can be far more aggressive about what we discard.</a:t>
            </a:r>
          </a:p>
        </p:txBody>
      </p:sp>
    </p:spTree>
    <p:extLst>
      <p:ext uri="{BB962C8B-B14F-4D97-AF65-F5344CB8AC3E}">
        <p14:creationId xmlns:p14="http://schemas.microsoft.com/office/powerpoint/2010/main" val="3237723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E1298-43CF-57E9-A264-B4C2AECF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67500-2283-B727-B437-F6E00D9E96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©2026 InterDigital, Inc. All Rights Reserved.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290A63-52BC-697B-606C-D0C71F6E4D0D}"/>
              </a:ext>
            </a:extLst>
          </p:cNvPr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F29"/>
                </a:solidFill>
                <a:latin typeface="Calibri"/>
              </a:rPr>
              <a:t>Payload budget  —  why raw feature tensors won't fit on the air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89EFA4-594A-D2BE-C2C8-D8D445673E6E}"/>
              </a:ext>
            </a:extLst>
          </p:cNvPr>
          <p:cNvSpPr/>
          <p:nvPr/>
        </p:nvSpPr>
        <p:spPr>
          <a:xfrm>
            <a:off x="457200" y="960120"/>
            <a:ext cx="1005840" cy="4572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D0F3E45-2DE1-4144-5349-F32B51AC0864}"/>
              </a:ext>
            </a:extLst>
          </p:cNvPr>
          <p:cNvSpPr/>
          <p:nvPr/>
        </p:nvSpPr>
        <p:spPr>
          <a:xfrm>
            <a:off x="457200" y="1554480"/>
            <a:ext cx="3840480" cy="2011680"/>
          </a:xfrm>
          <a:prstGeom prst="round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65C630-8CD1-55FC-1291-D7CA5CFDB854}"/>
              </a:ext>
            </a:extLst>
          </p:cNvPr>
          <p:cNvSpPr txBox="1"/>
          <p:nvPr/>
        </p:nvSpPr>
        <p:spPr>
          <a:xfrm>
            <a:off x="457200" y="1645920"/>
            <a:ext cx="3840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0B3D91"/>
                </a:solidFill>
                <a:latin typeface="Calibri"/>
              </a:rPr>
              <a:t>Raw feature tensor (float32)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FDCEBE-53C8-8231-F3BE-67FD16997C65}"/>
              </a:ext>
            </a:extLst>
          </p:cNvPr>
          <p:cNvSpPr txBox="1"/>
          <p:nvPr/>
        </p:nvSpPr>
        <p:spPr>
          <a:xfrm>
            <a:off x="457200" y="2234922"/>
            <a:ext cx="3840480" cy="1107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1A1F29"/>
                </a:solidFill>
                <a:latin typeface="Calibri"/>
              </a:rPr>
              <a:t>128 × 40 × 40 values
= 204,800 numbers
× 4 bytes each
≈ 800 KB / frame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EF678FE-E97C-31E5-3F58-C6B615B6BBFA}"/>
              </a:ext>
            </a:extLst>
          </p:cNvPr>
          <p:cNvSpPr/>
          <p:nvPr/>
        </p:nvSpPr>
        <p:spPr>
          <a:xfrm>
            <a:off x="4480560" y="1554480"/>
            <a:ext cx="3840480" cy="2011680"/>
          </a:xfrm>
          <a:prstGeom prst="round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819B92-9183-20FD-5860-A67B6D5E66F0}"/>
              </a:ext>
            </a:extLst>
          </p:cNvPr>
          <p:cNvSpPr txBox="1"/>
          <p:nvPr/>
        </p:nvSpPr>
        <p:spPr>
          <a:xfrm>
            <a:off x="4480560" y="1645920"/>
            <a:ext cx="3840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0B3D91"/>
                </a:solidFill>
                <a:latin typeface="Calibri"/>
              </a:rPr>
              <a:t>At 30 fps that's...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534BAB-E4E3-791F-4431-CCD81A6B32CA}"/>
              </a:ext>
            </a:extLst>
          </p:cNvPr>
          <p:cNvSpPr txBox="1"/>
          <p:nvPr/>
        </p:nvSpPr>
        <p:spPr>
          <a:xfrm>
            <a:off x="4480560" y="2373422"/>
            <a:ext cx="3840480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1A1F29"/>
                </a:solidFill>
                <a:latin typeface="Calibri"/>
              </a:rPr>
              <a:t>800 KB × 30 fps × 8 bits
≈  192 Mbps  per camera
(before any channel coding)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D277A16-7628-0FDF-2DE4-EB409F3C387D}"/>
              </a:ext>
            </a:extLst>
          </p:cNvPr>
          <p:cNvSpPr/>
          <p:nvPr/>
        </p:nvSpPr>
        <p:spPr>
          <a:xfrm>
            <a:off x="8503920" y="1554480"/>
            <a:ext cx="3200400" cy="2011680"/>
          </a:xfrm>
          <a:prstGeom prst="roundRect">
            <a:avLst/>
          </a:prstGeom>
          <a:solidFill>
            <a:srgbClr val="FFE8E8"/>
          </a:solidFill>
          <a:ln w="12700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B2608C-07ED-EE95-3AE6-43A46364F106}"/>
              </a:ext>
            </a:extLst>
          </p:cNvPr>
          <p:cNvSpPr txBox="1"/>
          <p:nvPr/>
        </p:nvSpPr>
        <p:spPr>
          <a:xfrm>
            <a:off x="8503920" y="1645920"/>
            <a:ext cx="3200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i="0" dirty="0">
                <a:solidFill>
                  <a:srgbClr val="C1272D"/>
                </a:solidFill>
                <a:latin typeface="Calibri"/>
              </a:rPr>
              <a:t>Result</a:t>
            </a:r>
            <a:endParaRPr sz="1600" b="1" i="0" dirty="0">
              <a:solidFill>
                <a:srgbClr val="C1272D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10A836-6ECD-1718-BA86-281BBD6746B5}"/>
              </a:ext>
            </a:extLst>
          </p:cNvPr>
          <p:cNvSpPr txBox="1"/>
          <p:nvPr/>
        </p:nvSpPr>
        <p:spPr>
          <a:xfrm>
            <a:off x="8503920" y="2373422"/>
            <a:ext cx="3200400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C1272D"/>
                </a:solidFill>
                <a:latin typeface="Calibri"/>
              </a:rPr>
              <a:t>Not affordable in any
real cellular uplink.
We need compression.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370ED3-08CE-CCA1-8F1D-93276AD22402}"/>
              </a:ext>
            </a:extLst>
          </p:cNvPr>
          <p:cNvSpPr txBox="1"/>
          <p:nvPr/>
        </p:nvSpPr>
        <p:spPr>
          <a:xfrm>
            <a:off x="374650" y="3948786"/>
            <a:ext cx="114427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1" dirty="0">
                <a:solidFill>
                  <a:srgbClr val="1A1F29"/>
                </a:solidFill>
                <a:latin typeface="Calibri"/>
              </a:rPr>
              <a:t>Three simple tricks bring this down to something a standard video codec can handle — without hurting detection accuracy.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4A65017-8FC3-0C35-311E-D873D0FF9252}"/>
              </a:ext>
            </a:extLst>
          </p:cNvPr>
          <p:cNvSpPr/>
          <p:nvPr/>
        </p:nvSpPr>
        <p:spPr>
          <a:xfrm>
            <a:off x="457200" y="4572000"/>
            <a:ext cx="3657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415F399-60BF-F7B3-22A5-7863E3B6FC94}"/>
              </a:ext>
            </a:extLst>
          </p:cNvPr>
          <p:cNvSpPr/>
          <p:nvPr/>
        </p:nvSpPr>
        <p:spPr>
          <a:xfrm>
            <a:off x="457200" y="4572000"/>
            <a:ext cx="3657600" cy="411480"/>
          </a:xfrm>
          <a:prstGeom prst="roundRect">
            <a:avLst/>
          </a:prstGeom>
          <a:solidFill>
            <a:srgbClr val="0B3D91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2D66A6-4226-3A6D-EAF5-544CC63B80EB}"/>
              </a:ext>
            </a:extLst>
          </p:cNvPr>
          <p:cNvSpPr txBox="1"/>
          <p:nvPr/>
        </p:nvSpPr>
        <p:spPr>
          <a:xfrm>
            <a:off x="457200" y="4654630"/>
            <a:ext cx="36576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A.  Quantization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17BA10-E0B5-A8B9-B641-604347AA9649}"/>
              </a:ext>
            </a:extLst>
          </p:cNvPr>
          <p:cNvSpPr txBox="1"/>
          <p:nvPr/>
        </p:nvSpPr>
        <p:spPr>
          <a:xfrm>
            <a:off x="457200" y="5256460"/>
            <a:ext cx="36576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1A1F29"/>
                </a:solidFill>
                <a:latin typeface="Calibri"/>
              </a:rPr>
              <a:t>float32 → uint8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DB89AE-54E3-7797-E416-24E1D2271D0C}"/>
              </a:ext>
            </a:extLst>
          </p:cNvPr>
          <p:cNvSpPr txBox="1"/>
          <p:nvPr/>
        </p:nvSpPr>
        <p:spPr>
          <a:xfrm>
            <a:off x="457200" y="5866210"/>
            <a:ext cx="36576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0B3D91"/>
                </a:solidFill>
                <a:latin typeface="Calibri"/>
              </a:rPr>
              <a:t>×4 smaller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CA82EC6-C649-CA93-BA53-70C2E900E93F}"/>
              </a:ext>
            </a:extLst>
          </p:cNvPr>
          <p:cNvSpPr/>
          <p:nvPr/>
        </p:nvSpPr>
        <p:spPr>
          <a:xfrm>
            <a:off x="4251960" y="4572000"/>
            <a:ext cx="3657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F54BF10-4BEB-CCE5-40A1-B1BCBE10FCFC}"/>
              </a:ext>
            </a:extLst>
          </p:cNvPr>
          <p:cNvSpPr/>
          <p:nvPr/>
        </p:nvSpPr>
        <p:spPr>
          <a:xfrm>
            <a:off x="4251960" y="4572000"/>
            <a:ext cx="3657600" cy="411480"/>
          </a:xfrm>
          <a:prstGeom prst="roundRect">
            <a:avLst/>
          </a:prstGeom>
          <a:solidFill>
            <a:srgbClr val="F58A1F"/>
          </a:solidFill>
          <a:ln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FDBCFC-6B1F-929F-E586-C252110CE4F2}"/>
              </a:ext>
            </a:extLst>
          </p:cNvPr>
          <p:cNvSpPr txBox="1"/>
          <p:nvPr/>
        </p:nvSpPr>
        <p:spPr>
          <a:xfrm>
            <a:off x="4251960" y="4654630"/>
            <a:ext cx="36576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B.  Tiling (3D → 2D)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BE163E-A8F4-1270-97D5-E0356595F686}"/>
              </a:ext>
            </a:extLst>
          </p:cNvPr>
          <p:cNvSpPr txBox="1"/>
          <p:nvPr/>
        </p:nvSpPr>
        <p:spPr>
          <a:xfrm>
            <a:off x="4251960" y="5256460"/>
            <a:ext cx="36576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1A1F29"/>
                </a:solidFill>
                <a:latin typeface="Calibri"/>
              </a:rPr>
              <a:t>128 channels into one image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087AB7-F2E2-85BD-A92D-5B2CA10ECA51}"/>
              </a:ext>
            </a:extLst>
          </p:cNvPr>
          <p:cNvSpPr txBox="1"/>
          <p:nvPr/>
        </p:nvSpPr>
        <p:spPr>
          <a:xfrm>
            <a:off x="4251960" y="5866210"/>
            <a:ext cx="36576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F58A1F"/>
                </a:solidFill>
                <a:latin typeface="Calibri"/>
              </a:rPr>
              <a:t>codec-friendly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33F63EE-4DF2-E02F-2B8D-EF87EBAD40D3}"/>
              </a:ext>
            </a:extLst>
          </p:cNvPr>
          <p:cNvSpPr/>
          <p:nvPr/>
        </p:nvSpPr>
        <p:spPr>
          <a:xfrm>
            <a:off x="8046720" y="4572000"/>
            <a:ext cx="3657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A8C6874-968E-4C1C-3531-27392EAF00BF}"/>
              </a:ext>
            </a:extLst>
          </p:cNvPr>
          <p:cNvSpPr/>
          <p:nvPr/>
        </p:nvSpPr>
        <p:spPr>
          <a:xfrm>
            <a:off x="8046720" y="4572000"/>
            <a:ext cx="3657600" cy="411480"/>
          </a:xfrm>
          <a:prstGeom prst="roundRect">
            <a:avLst/>
          </a:prstGeom>
          <a:solidFill>
            <a:srgbClr val="2E8B57"/>
          </a:solidFill>
          <a:ln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54CD04-CEF0-2347-9AAC-4DC43476D6EC}"/>
              </a:ext>
            </a:extLst>
          </p:cNvPr>
          <p:cNvSpPr txBox="1"/>
          <p:nvPr/>
        </p:nvSpPr>
        <p:spPr>
          <a:xfrm>
            <a:off x="8046720" y="4654630"/>
            <a:ext cx="36576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C.  Symmetric flip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41C665-70C7-6414-8BD2-D43017403057}"/>
              </a:ext>
            </a:extLst>
          </p:cNvPr>
          <p:cNvSpPr txBox="1"/>
          <p:nvPr/>
        </p:nvSpPr>
        <p:spPr>
          <a:xfrm>
            <a:off x="8046720" y="5256460"/>
            <a:ext cx="36576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1A1F29"/>
                </a:solidFill>
                <a:latin typeface="Calibri"/>
              </a:rPr>
              <a:t>mirror alternate tiles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59ED3D-4959-4F85-2962-2B4CAF5DF78D}"/>
              </a:ext>
            </a:extLst>
          </p:cNvPr>
          <p:cNvSpPr txBox="1"/>
          <p:nvPr/>
        </p:nvSpPr>
        <p:spPr>
          <a:xfrm>
            <a:off x="8046720" y="5866210"/>
            <a:ext cx="36576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2E8B57"/>
                </a:solidFill>
                <a:latin typeface="Calibri"/>
              </a:rPr>
              <a:t>boosts codec gain</a:t>
            </a:r>
          </a:p>
        </p:txBody>
      </p:sp>
    </p:spTree>
    <p:extLst>
      <p:ext uri="{BB962C8B-B14F-4D97-AF65-F5344CB8AC3E}">
        <p14:creationId xmlns:p14="http://schemas.microsoft.com/office/powerpoint/2010/main" val="1889575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D4563-4908-D664-ED2C-4005650D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E3427-F29D-3EFD-AB9F-60EB62FBC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©2026 InterDigital, Inc. All Rights Reserved.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D7523F-7AE8-3577-01F9-5B614190571B}"/>
              </a:ext>
            </a:extLst>
          </p:cNvPr>
          <p:cNvSpPr txBox="1"/>
          <p:nvPr/>
        </p:nvSpPr>
        <p:spPr>
          <a:xfrm>
            <a:off x="457200" y="437436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A1F29"/>
                </a:solidFill>
                <a:latin typeface="Calibri"/>
              </a:rPr>
              <a:t>Quantization  —  float32 → uint8 (×4 size reduction)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39F1EA-7670-DD9A-FCEF-8723D35D6B9E}"/>
              </a:ext>
            </a:extLst>
          </p:cNvPr>
          <p:cNvSpPr/>
          <p:nvPr/>
        </p:nvSpPr>
        <p:spPr>
          <a:xfrm>
            <a:off x="457200" y="1031796"/>
            <a:ext cx="1005840" cy="4572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1A504-E079-4851-B938-12DF328FDBCD}"/>
              </a:ext>
            </a:extLst>
          </p:cNvPr>
          <p:cNvSpPr txBox="1"/>
          <p:nvPr/>
        </p:nvSpPr>
        <p:spPr>
          <a:xfrm>
            <a:off x="438144" y="1401875"/>
            <a:ext cx="5577840" cy="41447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1" i="0" dirty="0">
                <a:solidFill>
                  <a:srgbClr val="1A1F29"/>
                </a:solidFill>
                <a:latin typeface="Calibri"/>
              </a:rPr>
              <a:t>Every float32 activation value is re-expressed as one of 256 integer levels.</a:t>
            </a:r>
          </a:p>
          <a:p>
            <a:pPr algn="l">
              <a:spcAft>
                <a:spcPts val="8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The codec tracks the per-frame range [</a:t>
            </a:r>
            <a:r>
              <a:rPr sz="1600" b="0" i="0" dirty="0" err="1">
                <a:solidFill>
                  <a:srgbClr val="1A1F29"/>
                </a:solidFill>
                <a:latin typeface="Calibri"/>
              </a:rPr>
              <a:t>rmin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1A1F29"/>
                </a:solidFill>
                <a:latin typeface="Calibri"/>
              </a:rPr>
              <a:t>rmax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] across the entire feature tensor, so the 256 levels cover the actual values present in this frame.</a:t>
            </a:r>
          </a:p>
          <a:p>
            <a:pPr algn="l">
              <a:spcAft>
                <a:spcPts val="8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Linear mapping:   uint8  =  round( (x − </a:t>
            </a:r>
            <a:r>
              <a:rPr sz="1600" b="0" i="0" dirty="0" err="1">
                <a:solidFill>
                  <a:srgbClr val="1A1F29"/>
                </a:solidFill>
                <a:latin typeface="Calibri"/>
              </a:rPr>
              <a:t>rmin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) / (</a:t>
            </a:r>
            <a:r>
              <a:rPr sz="1600" b="0" i="0" dirty="0" err="1">
                <a:solidFill>
                  <a:srgbClr val="1A1F29"/>
                </a:solidFill>
                <a:latin typeface="Calibri"/>
              </a:rPr>
              <a:t>rmax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 − </a:t>
            </a:r>
            <a:r>
              <a:rPr sz="1600" b="0" i="0" dirty="0" err="1">
                <a:solidFill>
                  <a:srgbClr val="1A1F29"/>
                </a:solidFill>
                <a:latin typeface="Calibri"/>
              </a:rPr>
              <a:t>rmin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) × 255 ).</a:t>
            </a:r>
          </a:p>
          <a:p>
            <a:pPr algn="l">
              <a:spcAft>
                <a:spcPts val="8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The (</a:t>
            </a:r>
            <a:r>
              <a:rPr sz="1600" b="0" i="0" dirty="0" err="1">
                <a:solidFill>
                  <a:srgbClr val="1A1F29"/>
                </a:solidFill>
                <a:latin typeface="Calibri"/>
              </a:rPr>
              <a:t>rmin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1A1F29"/>
                </a:solidFill>
                <a:latin typeface="Calibri"/>
              </a:rPr>
              <a:t>rmax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) pair travels as tiny metadata alongside the payload so the receiver can invert the mapping.</a:t>
            </a:r>
          </a:p>
          <a:p>
            <a:pPr algn="l">
              <a:spcAft>
                <a:spcPts val="8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1" dirty="0">
                <a:solidFill>
                  <a:srgbClr val="2E8B57"/>
                </a:solidFill>
                <a:latin typeface="Calibri"/>
              </a:rPr>
              <a:t>Detection networks are trained to be robust to small quantization error, so the task accuracy loss is typically &lt;1 </a:t>
            </a:r>
            <a:r>
              <a:rPr sz="1600" b="0" i="1" dirty="0" err="1">
                <a:solidFill>
                  <a:srgbClr val="2E8B57"/>
                </a:solidFill>
                <a:latin typeface="Calibri"/>
              </a:rPr>
              <a:t>mAP</a:t>
            </a:r>
            <a:r>
              <a:rPr sz="1600" b="0" i="1" dirty="0">
                <a:solidFill>
                  <a:srgbClr val="2E8B57"/>
                </a:solidFill>
                <a:latin typeface="Calibri"/>
              </a:rPr>
              <a:t> point.</a:t>
            </a:r>
          </a:p>
          <a:p>
            <a:pPr algn="l">
              <a:spcAft>
                <a:spcPts val="8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1" dirty="0">
                <a:solidFill>
                  <a:srgbClr val="4A5568"/>
                </a:solidFill>
                <a:latin typeface="Calibri"/>
              </a:rPr>
              <a:t>Wireless analogy: same idea as uniform quantization of an ADC — just applied to feature activations instead of IQ samples.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8BCD819-3F72-F8B0-5B34-27853232FA5F}"/>
              </a:ext>
            </a:extLst>
          </p:cNvPr>
          <p:cNvSpPr/>
          <p:nvPr/>
        </p:nvSpPr>
        <p:spPr>
          <a:xfrm>
            <a:off x="6267456" y="1234440"/>
            <a:ext cx="5486400" cy="4389120"/>
          </a:xfrm>
          <a:prstGeom prst="round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61D573-C4EA-F269-39E0-1E94CD31B2BB}"/>
              </a:ext>
            </a:extLst>
          </p:cNvPr>
          <p:cNvSpPr txBox="1"/>
          <p:nvPr/>
        </p:nvSpPr>
        <p:spPr>
          <a:xfrm>
            <a:off x="6214920" y="1401875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0B3D91"/>
                </a:solidFill>
                <a:latin typeface="Calibri"/>
              </a:rPr>
              <a:t>One tensor value, as it travels through the pipeline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3958B8-43BE-8594-D560-9719CB38DF95}"/>
              </a:ext>
            </a:extLst>
          </p:cNvPr>
          <p:cNvSpPr txBox="1"/>
          <p:nvPr/>
        </p:nvSpPr>
        <p:spPr>
          <a:xfrm>
            <a:off x="6400800" y="2194560"/>
            <a:ext cx="51206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</a:rPr>
              <a:t>float32 in  [−3.7,  +8.2]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35F1A0-5380-DD43-ECEF-009C3010AEE4}"/>
              </a:ext>
            </a:extLst>
          </p:cNvPr>
          <p:cNvSpPr/>
          <p:nvPr/>
        </p:nvSpPr>
        <p:spPr>
          <a:xfrm>
            <a:off x="6400800" y="2560320"/>
            <a:ext cx="5120640" cy="109728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256C3A-05F5-4AFC-2285-D0F2CFE65C54}"/>
              </a:ext>
            </a:extLst>
          </p:cNvPr>
          <p:cNvSpPr/>
          <p:nvPr/>
        </p:nvSpPr>
        <p:spPr>
          <a:xfrm>
            <a:off x="6397800" y="2468880"/>
            <a:ext cx="6000" cy="274320"/>
          </a:xfrm>
          <a:prstGeom prst="rect">
            <a:avLst/>
          </a:prstGeom>
          <a:solidFill>
            <a:srgbClr val="1A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660C7C-B985-AF19-42E7-7A1992995DDB}"/>
              </a:ext>
            </a:extLst>
          </p:cNvPr>
          <p:cNvSpPr txBox="1"/>
          <p:nvPr/>
        </p:nvSpPr>
        <p:spPr>
          <a:xfrm>
            <a:off x="6035040" y="2743200"/>
            <a:ext cx="7315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dirty="0">
                <a:solidFill>
                  <a:srgbClr val="1A1F29"/>
                </a:solidFill>
                <a:latin typeface="Calibri"/>
              </a:rPr>
              <a:t>-3.7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7B3261-5C09-C387-7C34-9521D1890D53}"/>
              </a:ext>
            </a:extLst>
          </p:cNvPr>
          <p:cNvSpPr/>
          <p:nvPr/>
        </p:nvSpPr>
        <p:spPr>
          <a:xfrm>
            <a:off x="8855707" y="2468880"/>
            <a:ext cx="6000" cy="274320"/>
          </a:xfrm>
          <a:prstGeom prst="rect">
            <a:avLst/>
          </a:prstGeom>
          <a:solidFill>
            <a:srgbClr val="1A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492D51-5069-C7A2-36DC-2C02869EDEA9}"/>
              </a:ext>
            </a:extLst>
          </p:cNvPr>
          <p:cNvSpPr txBox="1"/>
          <p:nvPr/>
        </p:nvSpPr>
        <p:spPr>
          <a:xfrm>
            <a:off x="8492947" y="2743200"/>
            <a:ext cx="7315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1A1F29"/>
                </a:solidFill>
                <a:latin typeface="Calibri"/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D03C83-A4C8-E831-3FAB-532F2FEDC681}"/>
              </a:ext>
            </a:extLst>
          </p:cNvPr>
          <p:cNvSpPr/>
          <p:nvPr/>
        </p:nvSpPr>
        <p:spPr>
          <a:xfrm>
            <a:off x="11518440" y="2468880"/>
            <a:ext cx="6000" cy="274320"/>
          </a:xfrm>
          <a:prstGeom prst="rect">
            <a:avLst/>
          </a:prstGeom>
          <a:solidFill>
            <a:srgbClr val="1A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64B7F-B28D-9A7C-5589-BB436530714B}"/>
              </a:ext>
            </a:extLst>
          </p:cNvPr>
          <p:cNvSpPr txBox="1"/>
          <p:nvPr/>
        </p:nvSpPr>
        <p:spPr>
          <a:xfrm>
            <a:off x="11155680" y="2743200"/>
            <a:ext cx="7315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1A1F29"/>
                </a:solidFill>
                <a:latin typeface="Calibri"/>
              </a:rPr>
              <a:t>+8.2</a:t>
            </a:r>
          </a:p>
        </p:txBody>
      </p:sp>
      <p:cxnSp>
        <p:nvCxnSpPr>
          <p:cNvPr id="16" name="Connector 17">
            <a:extLst>
              <a:ext uri="{FF2B5EF4-FFF2-40B4-BE49-F238E27FC236}">
                <a16:creationId xmlns:a16="http://schemas.microsoft.com/office/drawing/2014/main" id="{91A05E43-0B2A-94E1-CE23-24E68F90E79C}"/>
              </a:ext>
            </a:extLst>
          </p:cNvPr>
          <p:cNvCxnSpPr/>
          <p:nvPr/>
        </p:nvCxnSpPr>
        <p:spPr>
          <a:xfrm>
            <a:off x="8961120" y="3383280"/>
            <a:ext cx="0" cy="640080"/>
          </a:xfrm>
          <a:prstGeom prst="line">
            <a:avLst/>
          </a:prstGeom>
          <a:ln w="31750">
            <a:solidFill>
              <a:srgbClr val="F58A1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B41FEB8-3DDA-3290-CD0C-BD7B68A6AEC7}"/>
              </a:ext>
            </a:extLst>
          </p:cNvPr>
          <p:cNvSpPr txBox="1"/>
          <p:nvPr/>
        </p:nvSpPr>
        <p:spPr>
          <a:xfrm>
            <a:off x="9144000" y="3383280"/>
            <a:ext cx="2286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58A1F"/>
                </a:solidFill>
                <a:latin typeface="Calibri"/>
              </a:rPr>
              <a:t>quantize()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20919E-123D-7DB8-218D-E120AE84271E}"/>
              </a:ext>
            </a:extLst>
          </p:cNvPr>
          <p:cNvSpPr txBox="1"/>
          <p:nvPr/>
        </p:nvSpPr>
        <p:spPr>
          <a:xfrm>
            <a:off x="6400800" y="4297680"/>
            <a:ext cx="51206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</a:rPr>
              <a:t>uint8 integer in  [0, 255]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F9633C-4A4E-5A46-F572-74D19EB6C6A0}"/>
              </a:ext>
            </a:extLst>
          </p:cNvPr>
          <p:cNvSpPr/>
          <p:nvPr/>
        </p:nvSpPr>
        <p:spPr>
          <a:xfrm>
            <a:off x="6400800" y="4663440"/>
            <a:ext cx="5120640" cy="109728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AEE0EC-EBE1-8F82-DD9D-F0558E201243}"/>
              </a:ext>
            </a:extLst>
          </p:cNvPr>
          <p:cNvSpPr/>
          <p:nvPr/>
        </p:nvSpPr>
        <p:spPr>
          <a:xfrm>
            <a:off x="6397800" y="4572000"/>
            <a:ext cx="6000" cy="274320"/>
          </a:xfrm>
          <a:prstGeom prst="rect">
            <a:avLst/>
          </a:prstGeom>
          <a:solidFill>
            <a:srgbClr val="1A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E078CA-7253-9409-67C6-BF04449CE298}"/>
              </a:ext>
            </a:extLst>
          </p:cNvPr>
          <p:cNvSpPr txBox="1"/>
          <p:nvPr/>
        </p:nvSpPr>
        <p:spPr>
          <a:xfrm>
            <a:off x="6035040" y="4846320"/>
            <a:ext cx="731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F29"/>
                </a:solidFill>
                <a:latin typeface="Calibri"/>
              </a:rPr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8D1008-E339-B4D0-2E70-33929C873F6F}"/>
              </a:ext>
            </a:extLst>
          </p:cNvPr>
          <p:cNvSpPr/>
          <p:nvPr/>
        </p:nvSpPr>
        <p:spPr>
          <a:xfrm>
            <a:off x="8958120" y="4572000"/>
            <a:ext cx="6000" cy="274320"/>
          </a:xfrm>
          <a:prstGeom prst="rect">
            <a:avLst/>
          </a:prstGeom>
          <a:solidFill>
            <a:srgbClr val="1A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B10016-0EE9-D240-C62D-7847C1111214}"/>
              </a:ext>
            </a:extLst>
          </p:cNvPr>
          <p:cNvSpPr txBox="1"/>
          <p:nvPr/>
        </p:nvSpPr>
        <p:spPr>
          <a:xfrm>
            <a:off x="8595360" y="4846320"/>
            <a:ext cx="731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F29"/>
                </a:solidFill>
                <a:latin typeface="Calibri"/>
              </a:rPr>
              <a:t>128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A9DB51-A787-A002-1EC6-A035B1389BF7}"/>
              </a:ext>
            </a:extLst>
          </p:cNvPr>
          <p:cNvSpPr/>
          <p:nvPr/>
        </p:nvSpPr>
        <p:spPr>
          <a:xfrm>
            <a:off x="11518440" y="4572000"/>
            <a:ext cx="6000" cy="274320"/>
          </a:xfrm>
          <a:prstGeom prst="rect">
            <a:avLst/>
          </a:prstGeom>
          <a:solidFill>
            <a:srgbClr val="1A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F24D9B-4267-504A-6F14-128818D4CA4B}"/>
              </a:ext>
            </a:extLst>
          </p:cNvPr>
          <p:cNvSpPr txBox="1"/>
          <p:nvPr/>
        </p:nvSpPr>
        <p:spPr>
          <a:xfrm>
            <a:off x="11155680" y="4846320"/>
            <a:ext cx="731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F29"/>
                </a:solidFill>
                <a:latin typeface="Calibri"/>
              </a:rPr>
              <a:t>255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A39D242-350C-4CCB-DF86-C25841B6BE07}"/>
              </a:ext>
            </a:extLst>
          </p:cNvPr>
          <p:cNvSpPr/>
          <p:nvPr/>
        </p:nvSpPr>
        <p:spPr>
          <a:xfrm>
            <a:off x="457200" y="5989320"/>
            <a:ext cx="11247120" cy="502920"/>
          </a:xfrm>
          <a:prstGeom prst="roundRect">
            <a:avLst>
              <a:gd name="adj" fmla="val 4000"/>
            </a:avLst>
          </a:prstGeom>
          <a:solidFill>
            <a:srgbClr val="1E2433"/>
          </a:solidFill>
          <a:ln w="6350">
            <a:solidFill>
              <a:srgbClr val="3A4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398F21-F18D-DD11-7CB9-04693A242EB9}"/>
              </a:ext>
            </a:extLst>
          </p:cNvPr>
          <p:cNvSpPr txBox="1"/>
          <p:nvPr/>
        </p:nvSpPr>
        <p:spPr>
          <a:xfrm>
            <a:off x="566928" y="6062472"/>
            <a:ext cx="11027664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E6EEF7"/>
                </a:solidFill>
                <a:latin typeface="Consolas"/>
              </a:rPr>
              <a:t>x = ((x - rmin) / (rmax - rmin)).clip(0, 1) * 255   # round → uint8</a:t>
            </a:r>
          </a:p>
        </p:txBody>
      </p:sp>
    </p:spTree>
    <p:extLst>
      <p:ext uri="{BB962C8B-B14F-4D97-AF65-F5344CB8AC3E}">
        <p14:creationId xmlns:p14="http://schemas.microsoft.com/office/powerpoint/2010/main" val="1728679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91756-B2E2-5908-5472-905A4B75E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5C6DB-B409-5484-BAE5-20C5DE552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©2026 InterDigital, Inc. All Rights Reserved.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C9C1BA-F2F0-C174-9139-927E63CF1938}"/>
              </a:ext>
            </a:extLst>
          </p:cNvPr>
          <p:cNvSpPr txBox="1"/>
          <p:nvPr/>
        </p:nvSpPr>
        <p:spPr>
          <a:xfrm>
            <a:off x="457200" y="283464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A1F29"/>
                </a:solidFill>
                <a:latin typeface="Calibri"/>
              </a:rPr>
              <a:t>Tiling — pack 128 channels into one 2-D 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2F6CF4-9EDA-E341-B593-6CA34BE49B77}"/>
              </a:ext>
            </a:extLst>
          </p:cNvPr>
          <p:cNvSpPr/>
          <p:nvPr/>
        </p:nvSpPr>
        <p:spPr>
          <a:xfrm>
            <a:off x="457200" y="1234440"/>
            <a:ext cx="1005840" cy="4572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86E7D-4643-5F48-61AC-789AF8E36C1C}"/>
              </a:ext>
            </a:extLst>
          </p:cNvPr>
          <p:cNvSpPr txBox="1"/>
          <p:nvPr/>
        </p:nvSpPr>
        <p:spPr>
          <a:xfrm>
            <a:off x="457200" y="1371600"/>
            <a:ext cx="11247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A1F29"/>
                </a:solidFill>
                <a:latin typeface="Calibri"/>
              </a:rPr>
              <a:t>A video codec (H.264 / H.265) only knows how to compress 2-D frames. We arrange the 128 40×40 channel slices into a single grayscale-looking image.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2E8C028-C19D-7AF1-EFEE-6E75E2B56D17}"/>
              </a:ext>
            </a:extLst>
          </p:cNvPr>
          <p:cNvSpPr/>
          <p:nvPr/>
        </p:nvSpPr>
        <p:spPr>
          <a:xfrm>
            <a:off x="457200" y="2103120"/>
            <a:ext cx="3474720" cy="3474720"/>
          </a:xfrm>
          <a:prstGeom prst="round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FF9270-A8CF-05E5-BADC-1CE9BE48B840}"/>
              </a:ext>
            </a:extLst>
          </p:cNvPr>
          <p:cNvSpPr txBox="1"/>
          <p:nvPr/>
        </p:nvSpPr>
        <p:spPr>
          <a:xfrm>
            <a:off x="457200" y="21488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3D91"/>
                </a:solidFill>
                <a:latin typeface="Calibri"/>
              </a:rPr>
              <a:t>[128, 40, 40]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1F205F-3864-6CB5-3195-B164C21D73F4}"/>
              </a:ext>
            </a:extLst>
          </p:cNvPr>
          <p:cNvSpPr/>
          <p:nvPr/>
        </p:nvSpPr>
        <p:spPr>
          <a:xfrm>
            <a:off x="822960" y="2651760"/>
            <a:ext cx="1828800" cy="1828800"/>
          </a:xfrm>
          <a:prstGeom prst="rect">
            <a:avLst/>
          </a:prstGeom>
          <a:solidFill>
            <a:srgbClr val="F58A1F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3479F2-6920-1E32-66E5-2259BCECD0EC}"/>
              </a:ext>
            </a:extLst>
          </p:cNvPr>
          <p:cNvSpPr/>
          <p:nvPr/>
        </p:nvSpPr>
        <p:spPr>
          <a:xfrm>
            <a:off x="941832" y="2770632"/>
            <a:ext cx="1828800" cy="1828800"/>
          </a:xfrm>
          <a:prstGeom prst="rect">
            <a:avLst/>
          </a:prstGeom>
          <a:solidFill>
            <a:srgbClr val="0B3D91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0D0E98-D794-2DE9-68DF-BE2958729FF6}"/>
              </a:ext>
            </a:extLst>
          </p:cNvPr>
          <p:cNvSpPr/>
          <p:nvPr/>
        </p:nvSpPr>
        <p:spPr>
          <a:xfrm>
            <a:off x="1060704" y="2889504"/>
            <a:ext cx="1828800" cy="1828800"/>
          </a:xfrm>
          <a:prstGeom prst="rect">
            <a:avLst/>
          </a:prstGeom>
          <a:solidFill>
            <a:srgbClr val="0B3D91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A69DA4-81B4-84A0-A89E-061201A50533}"/>
              </a:ext>
            </a:extLst>
          </p:cNvPr>
          <p:cNvSpPr/>
          <p:nvPr/>
        </p:nvSpPr>
        <p:spPr>
          <a:xfrm>
            <a:off x="1179576" y="3008376"/>
            <a:ext cx="1828800" cy="1828800"/>
          </a:xfrm>
          <a:prstGeom prst="rect">
            <a:avLst/>
          </a:prstGeom>
          <a:solidFill>
            <a:srgbClr val="0B3D91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686F2F-C2C1-8F24-B3A5-9B73E3BE9045}"/>
              </a:ext>
            </a:extLst>
          </p:cNvPr>
          <p:cNvSpPr/>
          <p:nvPr/>
        </p:nvSpPr>
        <p:spPr>
          <a:xfrm>
            <a:off x="1298448" y="3127248"/>
            <a:ext cx="1828800" cy="1828800"/>
          </a:xfrm>
          <a:prstGeom prst="rect">
            <a:avLst/>
          </a:prstGeom>
          <a:solidFill>
            <a:srgbClr val="0B3D91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E6661D-E7F0-3D38-E0CE-17288BDF46A0}"/>
              </a:ext>
            </a:extLst>
          </p:cNvPr>
          <p:cNvSpPr/>
          <p:nvPr/>
        </p:nvSpPr>
        <p:spPr>
          <a:xfrm>
            <a:off x="1417320" y="3246120"/>
            <a:ext cx="1828800" cy="1828800"/>
          </a:xfrm>
          <a:prstGeom prst="rect">
            <a:avLst/>
          </a:prstGeom>
          <a:solidFill>
            <a:srgbClr val="4A5568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207435-4C19-10B2-EA39-A720A4C8BF5F}"/>
              </a:ext>
            </a:extLst>
          </p:cNvPr>
          <p:cNvSpPr/>
          <p:nvPr/>
        </p:nvSpPr>
        <p:spPr>
          <a:xfrm>
            <a:off x="1536192" y="3364991"/>
            <a:ext cx="1828800" cy="1828800"/>
          </a:xfrm>
          <a:prstGeom prst="rect">
            <a:avLst/>
          </a:prstGeom>
          <a:solidFill>
            <a:srgbClr val="4A5568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C71343-68A9-B842-556D-6C411B222B17}"/>
              </a:ext>
            </a:extLst>
          </p:cNvPr>
          <p:cNvSpPr/>
          <p:nvPr/>
        </p:nvSpPr>
        <p:spPr>
          <a:xfrm>
            <a:off x="1655064" y="3483864"/>
            <a:ext cx="1828800" cy="1828800"/>
          </a:xfrm>
          <a:prstGeom prst="rect">
            <a:avLst/>
          </a:prstGeom>
          <a:solidFill>
            <a:srgbClr val="4A5568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92E607-0F15-5CFF-161F-BCC70AD786E1}"/>
              </a:ext>
            </a:extLst>
          </p:cNvPr>
          <p:cNvSpPr/>
          <p:nvPr/>
        </p:nvSpPr>
        <p:spPr>
          <a:xfrm>
            <a:off x="1773936" y="3602736"/>
            <a:ext cx="1828800" cy="1828800"/>
          </a:xfrm>
          <a:prstGeom prst="rect">
            <a:avLst/>
          </a:prstGeom>
          <a:solidFill>
            <a:srgbClr val="4A5568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59FB82-F821-8001-FCA9-7AD61BD7C570}"/>
              </a:ext>
            </a:extLst>
          </p:cNvPr>
          <p:cNvSpPr/>
          <p:nvPr/>
        </p:nvSpPr>
        <p:spPr>
          <a:xfrm>
            <a:off x="1892807" y="3721608"/>
            <a:ext cx="1828800" cy="1828800"/>
          </a:xfrm>
          <a:prstGeom prst="rect">
            <a:avLst/>
          </a:prstGeom>
          <a:solidFill>
            <a:srgbClr val="4A5568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E6AD7E-0EB6-8C90-130F-112E1DC5A80D}"/>
              </a:ext>
            </a:extLst>
          </p:cNvPr>
          <p:cNvSpPr txBox="1"/>
          <p:nvPr/>
        </p:nvSpPr>
        <p:spPr>
          <a:xfrm>
            <a:off x="530352" y="5108671"/>
            <a:ext cx="1005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>
                <a:solidFill>
                  <a:srgbClr val="4A5568"/>
                </a:solidFill>
                <a:latin typeface="Calibri"/>
              </a:rPr>
              <a:t>128 channel slices </a:t>
            </a:r>
            <a:endParaRPr lang="en-US" sz="1000" b="0" i="1" dirty="0">
              <a:solidFill>
                <a:srgbClr val="4A5568"/>
              </a:solidFill>
              <a:latin typeface="Calibri"/>
            </a:endParaRPr>
          </a:p>
          <a:p>
            <a:pPr algn="ctr"/>
            <a:r>
              <a:rPr sz="1000" b="0" i="1" dirty="0">
                <a:solidFill>
                  <a:srgbClr val="4A5568"/>
                </a:solidFill>
                <a:latin typeface="Calibri"/>
              </a:rPr>
              <a:t>stacked in depth</a:t>
            </a:r>
          </a:p>
        </p:txBody>
      </p:sp>
      <p:cxnSp>
        <p:nvCxnSpPr>
          <p:cNvPr id="19" name="Connector 20">
            <a:extLst>
              <a:ext uri="{FF2B5EF4-FFF2-40B4-BE49-F238E27FC236}">
                <a16:creationId xmlns:a16="http://schemas.microsoft.com/office/drawing/2014/main" id="{51AD00A2-A80C-1745-ACBF-8DD8DAF4EFDE}"/>
              </a:ext>
            </a:extLst>
          </p:cNvPr>
          <p:cNvCxnSpPr/>
          <p:nvPr/>
        </p:nvCxnSpPr>
        <p:spPr>
          <a:xfrm>
            <a:off x="4114800" y="3840480"/>
            <a:ext cx="914400" cy="0"/>
          </a:xfrm>
          <a:prstGeom prst="line">
            <a:avLst/>
          </a:prstGeom>
          <a:ln w="28575">
            <a:solidFill>
              <a:srgbClr val="0B3D9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76D91D0-B4CA-CDD8-6770-38C53221A94F}"/>
              </a:ext>
            </a:extLst>
          </p:cNvPr>
          <p:cNvSpPr txBox="1"/>
          <p:nvPr/>
        </p:nvSpPr>
        <p:spPr>
          <a:xfrm>
            <a:off x="4023360" y="3474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3D91"/>
                </a:solidFill>
                <a:latin typeface="Calibri"/>
              </a:rPr>
              <a:t>tile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5E455CE-0B9C-F6D8-BE97-BB259954A021}"/>
              </a:ext>
            </a:extLst>
          </p:cNvPr>
          <p:cNvSpPr/>
          <p:nvPr/>
        </p:nvSpPr>
        <p:spPr>
          <a:xfrm>
            <a:off x="5120640" y="2103120"/>
            <a:ext cx="6583680" cy="3474720"/>
          </a:xfrm>
          <a:prstGeom prst="round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7556D9-7814-369E-17E5-923D9B3D1201}"/>
              </a:ext>
            </a:extLst>
          </p:cNvPr>
          <p:cNvSpPr txBox="1"/>
          <p:nvPr/>
        </p:nvSpPr>
        <p:spPr>
          <a:xfrm>
            <a:off x="5120640" y="2148840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3D91"/>
                </a:solidFill>
                <a:latin typeface="Calibri"/>
              </a:rPr>
              <a:t>Tiled feature image  [320, 640]  uint8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469C8F-464A-8326-902F-7DB3EB8F14A4}"/>
              </a:ext>
            </a:extLst>
          </p:cNvPr>
          <p:cNvSpPr/>
          <p:nvPr/>
        </p:nvSpPr>
        <p:spPr>
          <a:xfrm>
            <a:off x="5394960" y="2514600"/>
            <a:ext cx="365760" cy="365760"/>
          </a:xfrm>
          <a:prstGeom prst="rect">
            <a:avLst/>
          </a:prstGeom>
          <a:solidFill>
            <a:srgbClr val="F5B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C7FCD1-099D-9521-8361-0EF8F91E10F5}"/>
              </a:ext>
            </a:extLst>
          </p:cNvPr>
          <p:cNvSpPr/>
          <p:nvPr/>
        </p:nvSpPr>
        <p:spPr>
          <a:xfrm>
            <a:off x="5760720" y="2514600"/>
            <a:ext cx="365760" cy="365760"/>
          </a:xfrm>
          <a:prstGeom prst="rect">
            <a:avLst/>
          </a:prstGeom>
          <a:solidFill>
            <a:srgbClr val="696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28F3CD-F03D-6284-B0BA-1269B2FDE7BD}"/>
              </a:ext>
            </a:extLst>
          </p:cNvPr>
          <p:cNvSpPr/>
          <p:nvPr/>
        </p:nvSpPr>
        <p:spPr>
          <a:xfrm>
            <a:off x="6126480" y="2514600"/>
            <a:ext cx="365760" cy="365760"/>
          </a:xfrm>
          <a:prstGeom prst="rect">
            <a:avLst/>
          </a:prstGeom>
          <a:solidFill>
            <a:srgbClr val="83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DD4BAF-9FCA-94FD-E3B1-926A61AF2E1B}"/>
              </a:ext>
            </a:extLst>
          </p:cNvPr>
          <p:cNvSpPr/>
          <p:nvPr/>
        </p:nvSpPr>
        <p:spPr>
          <a:xfrm>
            <a:off x="6492240" y="2514600"/>
            <a:ext cx="365760" cy="36576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A572D2-B171-1618-D7B8-5FA7F46446B8}"/>
              </a:ext>
            </a:extLst>
          </p:cNvPr>
          <p:cNvSpPr/>
          <p:nvPr/>
        </p:nvSpPr>
        <p:spPr>
          <a:xfrm>
            <a:off x="6858000" y="2514600"/>
            <a:ext cx="365760" cy="365760"/>
          </a:xfrm>
          <a:prstGeom prst="rect">
            <a:avLst/>
          </a:prstGeom>
          <a:solidFill>
            <a:srgbClr val="F59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7AEAD7-84DF-C4D5-09B8-345F5EA59CB2}"/>
              </a:ext>
            </a:extLst>
          </p:cNvPr>
          <p:cNvSpPr/>
          <p:nvPr/>
        </p:nvSpPr>
        <p:spPr>
          <a:xfrm>
            <a:off x="7223760" y="2514600"/>
            <a:ext cx="365760" cy="365760"/>
          </a:xfrm>
          <a:prstGeom prst="rect">
            <a:avLst/>
          </a:prstGeom>
          <a:solidFill>
            <a:srgbClr val="AFA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D97436-1B0B-BC8C-E56A-16D977BA5480}"/>
              </a:ext>
            </a:extLst>
          </p:cNvPr>
          <p:cNvSpPr/>
          <p:nvPr/>
        </p:nvSpPr>
        <p:spPr>
          <a:xfrm>
            <a:off x="7589520" y="2514600"/>
            <a:ext cx="365760" cy="365760"/>
          </a:xfrm>
          <a:prstGeom prst="rect">
            <a:avLst/>
          </a:prstGeom>
          <a:solidFill>
            <a:srgbClr val="2F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543C22C-F3FB-073E-B39D-995375833B7B}"/>
              </a:ext>
            </a:extLst>
          </p:cNvPr>
          <p:cNvSpPr/>
          <p:nvPr/>
        </p:nvSpPr>
        <p:spPr>
          <a:xfrm>
            <a:off x="7955280" y="2514600"/>
            <a:ext cx="365760" cy="365760"/>
          </a:xfrm>
          <a:prstGeom prst="rect">
            <a:avLst/>
          </a:prstGeom>
          <a:solidFill>
            <a:srgbClr val="F5B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7E9AC9-4E17-3D36-4146-3C46C92F0852}"/>
              </a:ext>
            </a:extLst>
          </p:cNvPr>
          <p:cNvSpPr/>
          <p:nvPr/>
        </p:nvSpPr>
        <p:spPr>
          <a:xfrm>
            <a:off x="8321040" y="2514600"/>
            <a:ext cx="365760" cy="365760"/>
          </a:xfrm>
          <a:prstGeom prst="rect">
            <a:avLst/>
          </a:prstGeom>
          <a:solidFill>
            <a:srgbClr val="67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BB9BDB-3C5E-61B0-9AD3-E5F2C6609EB9}"/>
              </a:ext>
            </a:extLst>
          </p:cNvPr>
          <p:cNvSpPr/>
          <p:nvPr/>
        </p:nvSpPr>
        <p:spPr>
          <a:xfrm>
            <a:off x="8686800" y="2514600"/>
            <a:ext cx="365760" cy="365760"/>
          </a:xfrm>
          <a:prstGeom prst="rect">
            <a:avLst/>
          </a:prstGeom>
          <a:solidFill>
            <a:srgbClr val="CECE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AE1AA5-C178-7D69-226E-6BA4F1ED29C9}"/>
              </a:ext>
            </a:extLst>
          </p:cNvPr>
          <p:cNvSpPr/>
          <p:nvPr/>
        </p:nvSpPr>
        <p:spPr>
          <a:xfrm>
            <a:off x="9052560" y="2514600"/>
            <a:ext cx="365760" cy="365760"/>
          </a:xfrm>
          <a:prstGeom prst="rect">
            <a:avLst/>
          </a:prstGeom>
          <a:solidFill>
            <a:srgbClr val="3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8EF2B0-ACA8-0846-1DD3-F1788BCC3CDE}"/>
              </a:ext>
            </a:extLst>
          </p:cNvPr>
          <p:cNvSpPr/>
          <p:nvPr/>
        </p:nvSpPr>
        <p:spPr>
          <a:xfrm>
            <a:off x="9418320" y="2514600"/>
            <a:ext cx="365760" cy="36576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78B1D7-2EA4-C9C3-1546-3B57F6527BEE}"/>
              </a:ext>
            </a:extLst>
          </p:cNvPr>
          <p:cNvSpPr/>
          <p:nvPr/>
        </p:nvSpPr>
        <p:spPr>
          <a:xfrm>
            <a:off x="9784080" y="2514600"/>
            <a:ext cx="365760" cy="36576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5B0761-2818-9481-AD34-7CCE7C23F8AD}"/>
              </a:ext>
            </a:extLst>
          </p:cNvPr>
          <p:cNvSpPr/>
          <p:nvPr/>
        </p:nvSpPr>
        <p:spPr>
          <a:xfrm>
            <a:off x="10149840" y="2514600"/>
            <a:ext cx="365760" cy="365760"/>
          </a:xfrm>
          <a:prstGeom prst="rect">
            <a:avLst/>
          </a:prstGeom>
          <a:solidFill>
            <a:srgbClr val="878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41CD1C-9817-FD33-F9FF-4EBDBC9FEC21}"/>
              </a:ext>
            </a:extLst>
          </p:cNvPr>
          <p:cNvSpPr/>
          <p:nvPr/>
        </p:nvSpPr>
        <p:spPr>
          <a:xfrm>
            <a:off x="10515600" y="2514600"/>
            <a:ext cx="365760" cy="36576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FEE314-393A-767B-4B9B-1511E67C7663}"/>
              </a:ext>
            </a:extLst>
          </p:cNvPr>
          <p:cNvSpPr/>
          <p:nvPr/>
        </p:nvSpPr>
        <p:spPr>
          <a:xfrm>
            <a:off x="10881360" y="2514600"/>
            <a:ext cx="365760" cy="365760"/>
          </a:xfrm>
          <a:prstGeom prst="rect">
            <a:avLst/>
          </a:prstGeom>
          <a:solidFill>
            <a:srgbClr val="F5A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2441007-0672-3D0C-1ED8-C564334B59A9}"/>
              </a:ext>
            </a:extLst>
          </p:cNvPr>
          <p:cNvSpPr/>
          <p:nvPr/>
        </p:nvSpPr>
        <p:spPr>
          <a:xfrm>
            <a:off x="5394960" y="2880360"/>
            <a:ext cx="365760" cy="365760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1D8DA81-E655-3C5A-CE7F-23084CD6974D}"/>
              </a:ext>
            </a:extLst>
          </p:cNvPr>
          <p:cNvSpPr/>
          <p:nvPr/>
        </p:nvSpPr>
        <p:spPr>
          <a:xfrm>
            <a:off x="5760720" y="2880360"/>
            <a:ext cx="365760" cy="36576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2349D5C-03E4-409F-8621-7F3EDEDEF032}"/>
              </a:ext>
            </a:extLst>
          </p:cNvPr>
          <p:cNvSpPr/>
          <p:nvPr/>
        </p:nvSpPr>
        <p:spPr>
          <a:xfrm>
            <a:off x="6126480" y="2880360"/>
            <a:ext cx="365760" cy="365760"/>
          </a:xfrm>
          <a:prstGeom prst="rect">
            <a:avLst/>
          </a:prstGeom>
          <a:solidFill>
            <a:srgbClr val="F5A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5B6F14-2186-A4DC-6F2E-BA0F0D9FD2DF}"/>
              </a:ext>
            </a:extLst>
          </p:cNvPr>
          <p:cNvSpPr/>
          <p:nvPr/>
        </p:nvSpPr>
        <p:spPr>
          <a:xfrm>
            <a:off x="6492240" y="2880360"/>
            <a:ext cx="365760" cy="365760"/>
          </a:xfrm>
          <a:prstGeom prst="rect">
            <a:avLst/>
          </a:prstGeom>
          <a:solidFill>
            <a:srgbClr val="BABA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B5EC0B5-1F8C-2731-E1D5-CFFFD6AD2516}"/>
              </a:ext>
            </a:extLst>
          </p:cNvPr>
          <p:cNvSpPr/>
          <p:nvPr/>
        </p:nvSpPr>
        <p:spPr>
          <a:xfrm>
            <a:off x="6858000" y="2880360"/>
            <a:ext cx="365760" cy="365760"/>
          </a:xfrm>
          <a:prstGeom prst="rect">
            <a:avLst/>
          </a:prstGeom>
          <a:solidFill>
            <a:srgbClr val="67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3739078-70B4-EE52-530E-A73B6CFD91E2}"/>
              </a:ext>
            </a:extLst>
          </p:cNvPr>
          <p:cNvSpPr/>
          <p:nvPr/>
        </p:nvSpPr>
        <p:spPr>
          <a:xfrm>
            <a:off x="7223760" y="2880360"/>
            <a:ext cx="365760" cy="3657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310FAA-2EB5-7909-53EC-CE04624A400A}"/>
              </a:ext>
            </a:extLst>
          </p:cNvPr>
          <p:cNvSpPr/>
          <p:nvPr/>
        </p:nvSpPr>
        <p:spPr>
          <a:xfrm>
            <a:off x="7589520" y="2880360"/>
            <a:ext cx="365760" cy="365760"/>
          </a:xfrm>
          <a:prstGeom prst="rect">
            <a:avLst/>
          </a:prstGeom>
          <a:solidFill>
            <a:srgbClr val="F59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96051DE-A110-C594-4552-B9DC4645CD7D}"/>
              </a:ext>
            </a:extLst>
          </p:cNvPr>
          <p:cNvSpPr/>
          <p:nvPr/>
        </p:nvSpPr>
        <p:spPr>
          <a:xfrm>
            <a:off x="7955280" y="2880360"/>
            <a:ext cx="365760" cy="365760"/>
          </a:xfrm>
          <a:prstGeom prst="rect">
            <a:avLst/>
          </a:prstGeom>
          <a:solidFill>
            <a:srgbClr val="909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50461EE-3F23-FE4D-6A9B-DCAA7749897C}"/>
              </a:ext>
            </a:extLst>
          </p:cNvPr>
          <p:cNvSpPr/>
          <p:nvPr/>
        </p:nvSpPr>
        <p:spPr>
          <a:xfrm>
            <a:off x="8321040" y="2880360"/>
            <a:ext cx="365760" cy="365760"/>
          </a:xfrm>
          <a:prstGeom prst="rect">
            <a:avLst/>
          </a:prstGeom>
          <a:solidFill>
            <a:srgbClr val="6F6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804D551-8301-ED22-5D2E-699F6C74949C}"/>
              </a:ext>
            </a:extLst>
          </p:cNvPr>
          <p:cNvSpPr/>
          <p:nvPr/>
        </p:nvSpPr>
        <p:spPr>
          <a:xfrm>
            <a:off x="8686800" y="2880360"/>
            <a:ext cx="365760" cy="365760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37095E0-1347-2820-CB7F-54BADEEF19DB}"/>
              </a:ext>
            </a:extLst>
          </p:cNvPr>
          <p:cNvSpPr/>
          <p:nvPr/>
        </p:nvSpPr>
        <p:spPr>
          <a:xfrm>
            <a:off x="9052560" y="2880360"/>
            <a:ext cx="365760" cy="365760"/>
          </a:xfrm>
          <a:prstGeom prst="rect">
            <a:avLst/>
          </a:prstGeom>
          <a:solidFill>
            <a:srgbClr val="F59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57A2AB8-A3EC-5027-25B7-FDFEA555AC31}"/>
              </a:ext>
            </a:extLst>
          </p:cNvPr>
          <p:cNvSpPr/>
          <p:nvPr/>
        </p:nvSpPr>
        <p:spPr>
          <a:xfrm>
            <a:off x="9418320" y="2880360"/>
            <a:ext cx="365760" cy="365760"/>
          </a:xfrm>
          <a:prstGeom prst="rect">
            <a:avLst/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DBDF5A6-A7EB-779A-4EE4-D1AE89552A25}"/>
              </a:ext>
            </a:extLst>
          </p:cNvPr>
          <p:cNvSpPr/>
          <p:nvPr/>
        </p:nvSpPr>
        <p:spPr>
          <a:xfrm>
            <a:off x="9784080" y="2880360"/>
            <a:ext cx="365760" cy="36576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F504CA7-F53C-9384-5AE7-EF61A1E7F727}"/>
              </a:ext>
            </a:extLst>
          </p:cNvPr>
          <p:cNvSpPr/>
          <p:nvPr/>
        </p:nvSpPr>
        <p:spPr>
          <a:xfrm>
            <a:off x="10149840" y="2880360"/>
            <a:ext cx="365760" cy="365760"/>
          </a:xfrm>
          <a:prstGeom prst="rect">
            <a:avLst/>
          </a:prstGeom>
          <a:solidFill>
            <a:srgbClr val="F5A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1AA457-0085-D011-66CA-12A7E7AE47D7}"/>
              </a:ext>
            </a:extLst>
          </p:cNvPr>
          <p:cNvSpPr/>
          <p:nvPr/>
        </p:nvSpPr>
        <p:spPr>
          <a:xfrm>
            <a:off x="10515600" y="2880360"/>
            <a:ext cx="365760" cy="365760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92A87E3-02B5-D76F-3E0E-EFEEB171ADFE}"/>
              </a:ext>
            </a:extLst>
          </p:cNvPr>
          <p:cNvSpPr/>
          <p:nvPr/>
        </p:nvSpPr>
        <p:spPr>
          <a:xfrm>
            <a:off x="10881360" y="2880360"/>
            <a:ext cx="365760" cy="365760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FD7DC0A-8CC1-B2BF-1723-A847E122F6A1}"/>
              </a:ext>
            </a:extLst>
          </p:cNvPr>
          <p:cNvSpPr/>
          <p:nvPr/>
        </p:nvSpPr>
        <p:spPr>
          <a:xfrm>
            <a:off x="5394960" y="3246120"/>
            <a:ext cx="365760" cy="36576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275517B-6306-A95F-6CD3-955EA83A63B0}"/>
              </a:ext>
            </a:extLst>
          </p:cNvPr>
          <p:cNvSpPr/>
          <p:nvPr/>
        </p:nvSpPr>
        <p:spPr>
          <a:xfrm>
            <a:off x="5760720" y="3246120"/>
            <a:ext cx="365760" cy="365760"/>
          </a:xfrm>
          <a:prstGeom prst="rect">
            <a:avLst/>
          </a:prstGeom>
          <a:solidFill>
            <a:srgbClr val="F5A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D33E0FC-3976-0C75-B6FB-83CAE8FB1D5D}"/>
              </a:ext>
            </a:extLst>
          </p:cNvPr>
          <p:cNvSpPr/>
          <p:nvPr/>
        </p:nvSpPr>
        <p:spPr>
          <a:xfrm>
            <a:off x="6126480" y="3246120"/>
            <a:ext cx="365760" cy="365760"/>
          </a:xfrm>
          <a:prstGeom prst="rect">
            <a:avLst/>
          </a:prstGeom>
          <a:solidFill>
            <a:srgbClr val="494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89C1852-2A41-D500-BB9B-FFD651262BAA}"/>
              </a:ext>
            </a:extLst>
          </p:cNvPr>
          <p:cNvSpPr/>
          <p:nvPr/>
        </p:nvSpPr>
        <p:spPr>
          <a:xfrm>
            <a:off x="6492240" y="3246120"/>
            <a:ext cx="365760" cy="365760"/>
          </a:xfrm>
          <a:prstGeom prst="rect">
            <a:avLst/>
          </a:prstGeom>
          <a:solidFill>
            <a:srgbClr val="28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CAD97D5-C2DC-DC9F-9313-C9988D331A52}"/>
              </a:ext>
            </a:extLst>
          </p:cNvPr>
          <p:cNvSpPr/>
          <p:nvPr/>
        </p:nvSpPr>
        <p:spPr>
          <a:xfrm>
            <a:off x="6858000" y="3246120"/>
            <a:ext cx="365760" cy="365760"/>
          </a:xfrm>
          <a:prstGeom prst="rect">
            <a:avLst/>
          </a:prstGeom>
          <a:solidFill>
            <a:srgbClr val="2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D386596-8F3B-C430-1C33-AF7E704CA99F}"/>
              </a:ext>
            </a:extLst>
          </p:cNvPr>
          <p:cNvSpPr/>
          <p:nvPr/>
        </p:nvSpPr>
        <p:spPr>
          <a:xfrm>
            <a:off x="7223760" y="3246120"/>
            <a:ext cx="365760" cy="365760"/>
          </a:xfrm>
          <a:prstGeom prst="rect">
            <a:avLst/>
          </a:prstGeom>
          <a:solidFill>
            <a:srgbClr val="F5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7AD7BF1-E35B-695F-4F3D-BF46CAADABF4}"/>
              </a:ext>
            </a:extLst>
          </p:cNvPr>
          <p:cNvSpPr/>
          <p:nvPr/>
        </p:nvSpPr>
        <p:spPr>
          <a:xfrm>
            <a:off x="7589520" y="3246120"/>
            <a:ext cx="365760" cy="365760"/>
          </a:xfrm>
          <a:prstGeom prst="rect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AFFBB17-38A9-825A-034A-2B15464AF609}"/>
              </a:ext>
            </a:extLst>
          </p:cNvPr>
          <p:cNvSpPr/>
          <p:nvPr/>
        </p:nvSpPr>
        <p:spPr>
          <a:xfrm>
            <a:off x="7955280" y="3246120"/>
            <a:ext cx="365760" cy="36576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2E295E8-3F1B-B43B-B83D-548265848BC2}"/>
              </a:ext>
            </a:extLst>
          </p:cNvPr>
          <p:cNvSpPr/>
          <p:nvPr/>
        </p:nvSpPr>
        <p:spPr>
          <a:xfrm>
            <a:off x="8321040" y="3246120"/>
            <a:ext cx="365760" cy="365760"/>
          </a:xfrm>
          <a:prstGeom prst="rect">
            <a:avLst/>
          </a:prstGeom>
          <a:solidFill>
            <a:srgbClr val="F5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23EC5ED-CF49-46CA-08C8-B126F7F8AEAA}"/>
              </a:ext>
            </a:extLst>
          </p:cNvPr>
          <p:cNvSpPr/>
          <p:nvPr/>
        </p:nvSpPr>
        <p:spPr>
          <a:xfrm>
            <a:off x="8686800" y="3246120"/>
            <a:ext cx="365760" cy="365760"/>
          </a:xfrm>
          <a:prstGeom prst="rect">
            <a:avLst/>
          </a:prstGeom>
          <a:solidFill>
            <a:srgbClr val="727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01D46F1-1ECE-236D-F8A0-2995524EF4F4}"/>
              </a:ext>
            </a:extLst>
          </p:cNvPr>
          <p:cNvSpPr/>
          <p:nvPr/>
        </p:nvSpPr>
        <p:spPr>
          <a:xfrm>
            <a:off x="9052560" y="3246120"/>
            <a:ext cx="365760" cy="365760"/>
          </a:xfrm>
          <a:prstGeom prst="rect">
            <a:avLst/>
          </a:prstGeom>
          <a:solidFill>
            <a:srgbClr val="787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2217EAA-3F5A-E9BE-EC84-80D18BB02127}"/>
              </a:ext>
            </a:extLst>
          </p:cNvPr>
          <p:cNvSpPr/>
          <p:nvPr/>
        </p:nvSpPr>
        <p:spPr>
          <a:xfrm>
            <a:off x="9418320" y="3246120"/>
            <a:ext cx="365760" cy="36576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D11F874-B937-8AA1-8731-1BCCEA05E2DE}"/>
              </a:ext>
            </a:extLst>
          </p:cNvPr>
          <p:cNvSpPr/>
          <p:nvPr/>
        </p:nvSpPr>
        <p:spPr>
          <a:xfrm>
            <a:off x="9784080" y="3246120"/>
            <a:ext cx="365760" cy="365760"/>
          </a:xfrm>
          <a:prstGeom prst="rect">
            <a:avLst/>
          </a:prstGeom>
          <a:solidFill>
            <a:srgbClr val="F59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55C1B6C-A253-1C5C-301A-42CBF04D1CE8}"/>
              </a:ext>
            </a:extLst>
          </p:cNvPr>
          <p:cNvSpPr/>
          <p:nvPr/>
        </p:nvSpPr>
        <p:spPr>
          <a:xfrm>
            <a:off x="10149840" y="3246120"/>
            <a:ext cx="365760" cy="365760"/>
          </a:xfrm>
          <a:prstGeom prst="rect">
            <a:avLst/>
          </a:prstGeom>
          <a:solidFill>
            <a:srgbClr val="D5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B7AFDB3-C4D2-8BEF-CACE-7F9C91C35AE0}"/>
              </a:ext>
            </a:extLst>
          </p:cNvPr>
          <p:cNvSpPr/>
          <p:nvPr/>
        </p:nvSpPr>
        <p:spPr>
          <a:xfrm>
            <a:off x="10515600" y="3246120"/>
            <a:ext cx="365760" cy="36576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CDDF6F7-7A37-206D-C04F-729535EB9497}"/>
              </a:ext>
            </a:extLst>
          </p:cNvPr>
          <p:cNvSpPr/>
          <p:nvPr/>
        </p:nvSpPr>
        <p:spPr>
          <a:xfrm>
            <a:off x="10881360" y="3246120"/>
            <a:ext cx="365760" cy="36576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013905A-AF3F-5B22-A7CC-A82F341FFA5D}"/>
              </a:ext>
            </a:extLst>
          </p:cNvPr>
          <p:cNvSpPr/>
          <p:nvPr/>
        </p:nvSpPr>
        <p:spPr>
          <a:xfrm>
            <a:off x="5394960" y="3611880"/>
            <a:ext cx="365760" cy="365760"/>
          </a:xfrm>
          <a:prstGeom prst="rect">
            <a:avLst/>
          </a:prstGeom>
          <a:solidFill>
            <a:srgbClr val="F59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FB91F6B-3A0D-88F8-AF68-E5989CDAADCD}"/>
              </a:ext>
            </a:extLst>
          </p:cNvPr>
          <p:cNvSpPr/>
          <p:nvPr/>
        </p:nvSpPr>
        <p:spPr>
          <a:xfrm>
            <a:off x="5760720" y="3611880"/>
            <a:ext cx="365760" cy="36576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B564362-5741-CCA2-4211-910617F8674F}"/>
              </a:ext>
            </a:extLst>
          </p:cNvPr>
          <p:cNvSpPr/>
          <p:nvPr/>
        </p:nvSpPr>
        <p:spPr>
          <a:xfrm>
            <a:off x="6126480" y="3611880"/>
            <a:ext cx="365760" cy="36576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9612765-544A-9768-8D7E-7C1F4B616463}"/>
              </a:ext>
            </a:extLst>
          </p:cNvPr>
          <p:cNvSpPr/>
          <p:nvPr/>
        </p:nvSpPr>
        <p:spPr>
          <a:xfrm>
            <a:off x="6492240" y="3611880"/>
            <a:ext cx="365760" cy="365760"/>
          </a:xfrm>
          <a:prstGeom prst="rect">
            <a:avLst/>
          </a:prstGeom>
          <a:solidFill>
            <a:srgbClr val="F59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C6948CF-66F2-5FA2-9B3F-26E76C084D4F}"/>
              </a:ext>
            </a:extLst>
          </p:cNvPr>
          <p:cNvSpPr/>
          <p:nvPr/>
        </p:nvSpPr>
        <p:spPr>
          <a:xfrm>
            <a:off x="6858000" y="3611880"/>
            <a:ext cx="365760" cy="365760"/>
          </a:xfrm>
          <a:prstGeom prst="rect">
            <a:avLst/>
          </a:prstGeom>
          <a:solidFill>
            <a:srgbClr val="747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44AB757-7DAE-80CA-5856-79E651EC91C2}"/>
              </a:ext>
            </a:extLst>
          </p:cNvPr>
          <p:cNvSpPr/>
          <p:nvPr/>
        </p:nvSpPr>
        <p:spPr>
          <a:xfrm>
            <a:off x="7223760" y="3611880"/>
            <a:ext cx="365760" cy="36576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F12FD46-695C-ADED-402A-CB6F732EC553}"/>
              </a:ext>
            </a:extLst>
          </p:cNvPr>
          <p:cNvSpPr/>
          <p:nvPr/>
        </p:nvSpPr>
        <p:spPr>
          <a:xfrm>
            <a:off x="7589520" y="3611880"/>
            <a:ext cx="365760" cy="365760"/>
          </a:xfrm>
          <a:prstGeom prst="rect">
            <a:avLst/>
          </a:prstGeom>
          <a:solidFill>
            <a:srgbClr val="84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FC584B2-CD04-18F4-57E1-E8A2C70A6D9C}"/>
              </a:ext>
            </a:extLst>
          </p:cNvPr>
          <p:cNvSpPr/>
          <p:nvPr/>
        </p:nvSpPr>
        <p:spPr>
          <a:xfrm>
            <a:off x="7955280" y="3611880"/>
            <a:ext cx="365760" cy="365760"/>
          </a:xfrm>
          <a:prstGeom prst="rect">
            <a:avLst/>
          </a:prstGeom>
          <a:solidFill>
            <a:srgbClr val="F5A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AC6217E-7D70-18A5-E80C-668B84984C05}"/>
              </a:ext>
            </a:extLst>
          </p:cNvPr>
          <p:cNvSpPr/>
          <p:nvPr/>
        </p:nvSpPr>
        <p:spPr>
          <a:xfrm>
            <a:off x="8321040" y="3611880"/>
            <a:ext cx="365760" cy="36576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C7A8D0D-31BA-C8DD-B94F-709A2B6D220F}"/>
              </a:ext>
            </a:extLst>
          </p:cNvPr>
          <p:cNvSpPr/>
          <p:nvPr/>
        </p:nvSpPr>
        <p:spPr>
          <a:xfrm>
            <a:off x="8686800" y="3611880"/>
            <a:ext cx="365760" cy="36576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FDDB13B-7CF4-966B-92A9-7790BE35A856}"/>
              </a:ext>
            </a:extLst>
          </p:cNvPr>
          <p:cNvSpPr/>
          <p:nvPr/>
        </p:nvSpPr>
        <p:spPr>
          <a:xfrm>
            <a:off x="9052560" y="3611880"/>
            <a:ext cx="365760" cy="36576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02CDB28-8611-E8AB-B157-17B7AC3A900D}"/>
              </a:ext>
            </a:extLst>
          </p:cNvPr>
          <p:cNvSpPr/>
          <p:nvPr/>
        </p:nvSpPr>
        <p:spPr>
          <a:xfrm>
            <a:off x="9418320" y="3611880"/>
            <a:ext cx="365760" cy="365760"/>
          </a:xfrm>
          <a:prstGeom prst="rect">
            <a:avLst/>
          </a:prstGeom>
          <a:solidFill>
            <a:srgbClr val="F5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977B363-DF51-997D-22EE-F864A07E9E16}"/>
              </a:ext>
            </a:extLst>
          </p:cNvPr>
          <p:cNvSpPr/>
          <p:nvPr/>
        </p:nvSpPr>
        <p:spPr>
          <a:xfrm>
            <a:off x="9784080" y="3611880"/>
            <a:ext cx="365760" cy="36576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C74D218-B750-69BF-9D7F-B18FDE777BB3}"/>
              </a:ext>
            </a:extLst>
          </p:cNvPr>
          <p:cNvSpPr/>
          <p:nvPr/>
        </p:nvSpPr>
        <p:spPr>
          <a:xfrm>
            <a:off x="10149840" y="3611880"/>
            <a:ext cx="365760" cy="365760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4CC8B5D-B330-777E-EA5A-0302FE49CA7C}"/>
              </a:ext>
            </a:extLst>
          </p:cNvPr>
          <p:cNvSpPr/>
          <p:nvPr/>
        </p:nvSpPr>
        <p:spPr>
          <a:xfrm>
            <a:off x="10515600" y="3611880"/>
            <a:ext cx="365760" cy="365760"/>
          </a:xfrm>
          <a:prstGeom prst="rect">
            <a:avLst/>
          </a:prstGeom>
          <a:solidFill>
            <a:srgbClr val="F5A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5C49D02-64A5-00C9-6C56-A7D6790E0079}"/>
              </a:ext>
            </a:extLst>
          </p:cNvPr>
          <p:cNvSpPr/>
          <p:nvPr/>
        </p:nvSpPr>
        <p:spPr>
          <a:xfrm>
            <a:off x="10881360" y="3611880"/>
            <a:ext cx="365760" cy="365760"/>
          </a:xfrm>
          <a:prstGeom prst="rect">
            <a:avLst/>
          </a:prstGeom>
          <a:solidFill>
            <a:srgbClr val="BEB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7805A41-5DBC-E7C0-1B29-57C60BDECED9}"/>
              </a:ext>
            </a:extLst>
          </p:cNvPr>
          <p:cNvSpPr/>
          <p:nvPr/>
        </p:nvSpPr>
        <p:spPr>
          <a:xfrm>
            <a:off x="5394960" y="3977640"/>
            <a:ext cx="365760" cy="365760"/>
          </a:xfrm>
          <a:prstGeom prst="rect">
            <a:avLst/>
          </a:prstGeom>
          <a:solidFill>
            <a:srgbClr val="28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E2DC15A-4E80-02F0-CF88-B69883504B95}"/>
              </a:ext>
            </a:extLst>
          </p:cNvPr>
          <p:cNvSpPr/>
          <p:nvPr/>
        </p:nvSpPr>
        <p:spPr>
          <a:xfrm>
            <a:off x="5760720" y="3977640"/>
            <a:ext cx="365760" cy="36576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ACCE8AA-6580-AF79-E1FA-758D90FDB36B}"/>
              </a:ext>
            </a:extLst>
          </p:cNvPr>
          <p:cNvSpPr/>
          <p:nvPr/>
        </p:nvSpPr>
        <p:spPr>
          <a:xfrm>
            <a:off x="6126480" y="3977640"/>
            <a:ext cx="365760" cy="365760"/>
          </a:xfrm>
          <a:prstGeom prst="rect">
            <a:avLst/>
          </a:prstGeom>
          <a:solidFill>
            <a:srgbClr val="F5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634CB93-0145-503B-5770-94F6ACB436EC}"/>
              </a:ext>
            </a:extLst>
          </p:cNvPr>
          <p:cNvSpPr/>
          <p:nvPr/>
        </p:nvSpPr>
        <p:spPr>
          <a:xfrm>
            <a:off x="6492240" y="3977640"/>
            <a:ext cx="365760" cy="365760"/>
          </a:xfrm>
          <a:prstGeom prst="rect">
            <a:avLst/>
          </a:prstGeom>
          <a:solidFill>
            <a:srgbClr val="7E7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DF2C9C0-4279-0586-5C24-AFFB84EDC798}"/>
              </a:ext>
            </a:extLst>
          </p:cNvPr>
          <p:cNvSpPr/>
          <p:nvPr/>
        </p:nvSpPr>
        <p:spPr>
          <a:xfrm>
            <a:off x="6858000" y="3977640"/>
            <a:ext cx="365760" cy="365760"/>
          </a:xfrm>
          <a:prstGeom prst="rect">
            <a:avLst/>
          </a:prstGeom>
          <a:solidFill>
            <a:srgbClr val="383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6AD93EE-50EA-CF1B-5F78-D6BFA3ED2AF2}"/>
              </a:ext>
            </a:extLst>
          </p:cNvPr>
          <p:cNvSpPr/>
          <p:nvPr/>
        </p:nvSpPr>
        <p:spPr>
          <a:xfrm>
            <a:off x="7223760" y="3977640"/>
            <a:ext cx="365760" cy="36576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62E82AC-5B70-A8A2-65C6-79C8196D5A8D}"/>
              </a:ext>
            </a:extLst>
          </p:cNvPr>
          <p:cNvSpPr/>
          <p:nvPr/>
        </p:nvSpPr>
        <p:spPr>
          <a:xfrm>
            <a:off x="7589520" y="3977640"/>
            <a:ext cx="365760" cy="365760"/>
          </a:xfrm>
          <a:prstGeom prst="rect">
            <a:avLst/>
          </a:prstGeom>
          <a:solidFill>
            <a:srgbClr val="F59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0FCE120-2347-D69B-DA33-CE44120F1EA7}"/>
              </a:ext>
            </a:extLst>
          </p:cNvPr>
          <p:cNvSpPr/>
          <p:nvPr/>
        </p:nvSpPr>
        <p:spPr>
          <a:xfrm>
            <a:off x="7955280" y="3977640"/>
            <a:ext cx="365760" cy="365760"/>
          </a:xfrm>
          <a:prstGeom prst="rect">
            <a:avLst/>
          </a:prstGeom>
          <a:solidFill>
            <a:srgbClr val="76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1B12AA7-C834-103D-533B-D84441B32186}"/>
              </a:ext>
            </a:extLst>
          </p:cNvPr>
          <p:cNvSpPr/>
          <p:nvPr/>
        </p:nvSpPr>
        <p:spPr>
          <a:xfrm>
            <a:off x="8321040" y="3977640"/>
            <a:ext cx="365760" cy="365760"/>
          </a:xfrm>
          <a:prstGeom prst="rect">
            <a:avLst/>
          </a:prstGeom>
          <a:solidFill>
            <a:srgbClr val="A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8EA8D9D-7A5E-C806-A740-447D573C80BB}"/>
              </a:ext>
            </a:extLst>
          </p:cNvPr>
          <p:cNvSpPr/>
          <p:nvPr/>
        </p:nvSpPr>
        <p:spPr>
          <a:xfrm>
            <a:off x="8686800" y="3977640"/>
            <a:ext cx="365760" cy="365760"/>
          </a:xfrm>
          <a:prstGeom prst="rect">
            <a:avLst/>
          </a:prstGeom>
          <a:solidFill>
            <a:srgbClr val="F59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5A27BA0-FB87-C038-561A-E169582AE1E1}"/>
              </a:ext>
            </a:extLst>
          </p:cNvPr>
          <p:cNvSpPr/>
          <p:nvPr/>
        </p:nvSpPr>
        <p:spPr>
          <a:xfrm>
            <a:off x="9052560" y="3977640"/>
            <a:ext cx="365760" cy="365760"/>
          </a:xfrm>
          <a:prstGeom prst="rect">
            <a:avLst/>
          </a:prstGeom>
          <a:solidFill>
            <a:srgbClr val="787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ADB60DC-6582-438D-EFC6-241129CCA074}"/>
              </a:ext>
            </a:extLst>
          </p:cNvPr>
          <p:cNvSpPr/>
          <p:nvPr/>
        </p:nvSpPr>
        <p:spPr>
          <a:xfrm>
            <a:off x="9418320" y="3977640"/>
            <a:ext cx="365760" cy="365760"/>
          </a:xfrm>
          <a:prstGeom prst="rect">
            <a:avLst/>
          </a:prstGeom>
          <a:solidFill>
            <a:srgbClr val="57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B085C4D-3503-F592-23FA-3C724D6FDB90}"/>
              </a:ext>
            </a:extLst>
          </p:cNvPr>
          <p:cNvSpPr/>
          <p:nvPr/>
        </p:nvSpPr>
        <p:spPr>
          <a:xfrm>
            <a:off x="9784080" y="3977640"/>
            <a:ext cx="365760" cy="365760"/>
          </a:xfrm>
          <a:prstGeom prst="rect">
            <a:avLst/>
          </a:prstGeom>
          <a:solidFill>
            <a:srgbClr val="A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D5C2CB4-C5FE-5BAC-17D2-310ECD1B51C6}"/>
              </a:ext>
            </a:extLst>
          </p:cNvPr>
          <p:cNvSpPr/>
          <p:nvPr/>
        </p:nvSpPr>
        <p:spPr>
          <a:xfrm>
            <a:off x="10149840" y="3977640"/>
            <a:ext cx="365760" cy="36576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143C5D2-2958-C452-3ADA-C56E2E324423}"/>
              </a:ext>
            </a:extLst>
          </p:cNvPr>
          <p:cNvSpPr/>
          <p:nvPr/>
        </p:nvSpPr>
        <p:spPr>
          <a:xfrm>
            <a:off x="10515600" y="3977640"/>
            <a:ext cx="365760" cy="365760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F9D5022-1323-42B8-ED1A-ED522ED23778}"/>
              </a:ext>
            </a:extLst>
          </p:cNvPr>
          <p:cNvSpPr/>
          <p:nvPr/>
        </p:nvSpPr>
        <p:spPr>
          <a:xfrm>
            <a:off x="10881360" y="3977640"/>
            <a:ext cx="365760" cy="36576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8049548-C70F-354D-59AE-81E782EDDF8A}"/>
              </a:ext>
            </a:extLst>
          </p:cNvPr>
          <p:cNvSpPr/>
          <p:nvPr/>
        </p:nvSpPr>
        <p:spPr>
          <a:xfrm>
            <a:off x="5394960" y="4343400"/>
            <a:ext cx="365760" cy="365760"/>
          </a:xfrm>
          <a:prstGeom prst="rect">
            <a:avLst/>
          </a:prstGeom>
          <a:solidFill>
            <a:srgbClr val="36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4CCD90F-C5F4-FF6B-5727-9E80DFBD3F66}"/>
              </a:ext>
            </a:extLst>
          </p:cNvPr>
          <p:cNvSpPr/>
          <p:nvPr/>
        </p:nvSpPr>
        <p:spPr>
          <a:xfrm>
            <a:off x="5760720" y="4343400"/>
            <a:ext cx="365760" cy="365760"/>
          </a:xfrm>
          <a:prstGeom prst="rect">
            <a:avLst/>
          </a:prstGeom>
          <a:solidFill>
            <a:srgbClr val="F5A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D060DAA-0F7C-FF6D-EE79-2BFD2ACB454F}"/>
              </a:ext>
            </a:extLst>
          </p:cNvPr>
          <p:cNvSpPr/>
          <p:nvPr/>
        </p:nvSpPr>
        <p:spPr>
          <a:xfrm>
            <a:off x="6126480" y="4343400"/>
            <a:ext cx="365760" cy="36576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5F6B44A-C219-FCAD-E574-1AB3FB37DF19}"/>
              </a:ext>
            </a:extLst>
          </p:cNvPr>
          <p:cNvSpPr/>
          <p:nvPr/>
        </p:nvSpPr>
        <p:spPr>
          <a:xfrm>
            <a:off x="6492240" y="4343400"/>
            <a:ext cx="365760" cy="365760"/>
          </a:xfrm>
          <a:prstGeom prst="rect">
            <a:avLst/>
          </a:prstGeom>
          <a:solidFill>
            <a:srgbClr val="83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DD49A71-08BC-FEF2-7116-795AB4C686DA}"/>
              </a:ext>
            </a:extLst>
          </p:cNvPr>
          <p:cNvSpPr/>
          <p:nvPr/>
        </p:nvSpPr>
        <p:spPr>
          <a:xfrm>
            <a:off x="6858000" y="4343400"/>
            <a:ext cx="365760" cy="365760"/>
          </a:xfrm>
          <a:prstGeom prst="rect">
            <a:avLst/>
          </a:prstGeom>
          <a:solidFill>
            <a:srgbClr val="F5A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DC1F30B-32AB-BEFE-A8F8-87A9E405D1F7}"/>
              </a:ext>
            </a:extLst>
          </p:cNvPr>
          <p:cNvSpPr/>
          <p:nvPr/>
        </p:nvSpPr>
        <p:spPr>
          <a:xfrm>
            <a:off x="7223760" y="4343400"/>
            <a:ext cx="365760" cy="36576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D841CC0-5EFE-0708-B563-5A3E486E2793}"/>
              </a:ext>
            </a:extLst>
          </p:cNvPr>
          <p:cNvSpPr/>
          <p:nvPr/>
        </p:nvSpPr>
        <p:spPr>
          <a:xfrm>
            <a:off x="7589520" y="4343400"/>
            <a:ext cx="365760" cy="36576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D3C3EC6-8BB8-323B-8524-974BD5DDC04D}"/>
              </a:ext>
            </a:extLst>
          </p:cNvPr>
          <p:cNvSpPr/>
          <p:nvPr/>
        </p:nvSpPr>
        <p:spPr>
          <a:xfrm>
            <a:off x="7955280" y="4343400"/>
            <a:ext cx="365760" cy="365760"/>
          </a:xfrm>
          <a:prstGeom prst="rect">
            <a:avLst/>
          </a:prstGeom>
          <a:solidFill>
            <a:srgbClr val="93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F0A11D9-93EC-A8AC-C839-981309962927}"/>
              </a:ext>
            </a:extLst>
          </p:cNvPr>
          <p:cNvSpPr/>
          <p:nvPr/>
        </p:nvSpPr>
        <p:spPr>
          <a:xfrm>
            <a:off x="8321040" y="4343400"/>
            <a:ext cx="365760" cy="365760"/>
          </a:xfrm>
          <a:prstGeom prst="rect">
            <a:avLst/>
          </a:prstGeom>
          <a:solidFill>
            <a:srgbClr val="F5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881C5F4-510D-CFF7-D4B9-0AEDCE53DABB}"/>
              </a:ext>
            </a:extLst>
          </p:cNvPr>
          <p:cNvSpPr/>
          <p:nvPr/>
        </p:nvSpPr>
        <p:spPr>
          <a:xfrm>
            <a:off x="8686800" y="4343400"/>
            <a:ext cx="365760" cy="36576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5C02E38-F1E8-2CFA-45DE-B3EC36025763}"/>
              </a:ext>
            </a:extLst>
          </p:cNvPr>
          <p:cNvSpPr/>
          <p:nvPr/>
        </p:nvSpPr>
        <p:spPr>
          <a:xfrm>
            <a:off x="9052560" y="4343400"/>
            <a:ext cx="365760" cy="365760"/>
          </a:xfrm>
          <a:prstGeom prst="rect">
            <a:avLst/>
          </a:prstGeom>
          <a:solidFill>
            <a:srgbClr val="BCB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49F5549-5F29-283E-0656-2CAC8C57F7E8}"/>
              </a:ext>
            </a:extLst>
          </p:cNvPr>
          <p:cNvSpPr/>
          <p:nvPr/>
        </p:nvSpPr>
        <p:spPr>
          <a:xfrm>
            <a:off x="9418320" y="4343400"/>
            <a:ext cx="365760" cy="36576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BA3777F-8136-5214-F1E7-25A5563549B3}"/>
              </a:ext>
            </a:extLst>
          </p:cNvPr>
          <p:cNvSpPr/>
          <p:nvPr/>
        </p:nvSpPr>
        <p:spPr>
          <a:xfrm>
            <a:off x="9784080" y="4343400"/>
            <a:ext cx="365760" cy="365760"/>
          </a:xfrm>
          <a:prstGeom prst="rect">
            <a:avLst/>
          </a:prstGeom>
          <a:solidFill>
            <a:srgbClr val="F5A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A8FAB8C-8F45-6F10-5E57-A805F83FF0C9}"/>
              </a:ext>
            </a:extLst>
          </p:cNvPr>
          <p:cNvSpPr/>
          <p:nvPr/>
        </p:nvSpPr>
        <p:spPr>
          <a:xfrm>
            <a:off x="10149840" y="4343400"/>
            <a:ext cx="365760" cy="3657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22DB2A0-575F-3D2B-532F-15CB661DEE67}"/>
              </a:ext>
            </a:extLst>
          </p:cNvPr>
          <p:cNvSpPr/>
          <p:nvPr/>
        </p:nvSpPr>
        <p:spPr>
          <a:xfrm>
            <a:off x="10515600" y="4343400"/>
            <a:ext cx="365760" cy="365760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E8EEF3D-9CB0-0933-4633-3F05EA1C9D7F}"/>
              </a:ext>
            </a:extLst>
          </p:cNvPr>
          <p:cNvSpPr/>
          <p:nvPr/>
        </p:nvSpPr>
        <p:spPr>
          <a:xfrm>
            <a:off x="10881360" y="4343400"/>
            <a:ext cx="365760" cy="365760"/>
          </a:xfrm>
          <a:prstGeom prst="rect">
            <a:avLst/>
          </a:prstGeom>
          <a:solidFill>
            <a:srgbClr val="F5B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F982DAB-F759-D87F-FE2C-C326E1764011}"/>
              </a:ext>
            </a:extLst>
          </p:cNvPr>
          <p:cNvSpPr/>
          <p:nvPr/>
        </p:nvSpPr>
        <p:spPr>
          <a:xfrm>
            <a:off x="5394960" y="4709160"/>
            <a:ext cx="365760" cy="36576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01EFF3D-EAA5-6557-AF4C-34E1FF63740F}"/>
              </a:ext>
            </a:extLst>
          </p:cNvPr>
          <p:cNvSpPr/>
          <p:nvPr/>
        </p:nvSpPr>
        <p:spPr>
          <a:xfrm>
            <a:off x="5760720" y="4709160"/>
            <a:ext cx="365760" cy="365760"/>
          </a:xfrm>
          <a:prstGeom prst="rect">
            <a:avLst/>
          </a:prstGeom>
          <a:solidFill>
            <a:srgbClr val="46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F9A9F67-34AB-1500-5CE9-F764AFC126E0}"/>
              </a:ext>
            </a:extLst>
          </p:cNvPr>
          <p:cNvSpPr/>
          <p:nvPr/>
        </p:nvSpPr>
        <p:spPr>
          <a:xfrm>
            <a:off x="6126480" y="4709160"/>
            <a:ext cx="365760" cy="36576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8E546FA-76D9-EA86-BA7F-0CA4DDFF5C8B}"/>
              </a:ext>
            </a:extLst>
          </p:cNvPr>
          <p:cNvSpPr/>
          <p:nvPr/>
        </p:nvSpPr>
        <p:spPr>
          <a:xfrm>
            <a:off x="6492240" y="4709160"/>
            <a:ext cx="365760" cy="365760"/>
          </a:xfrm>
          <a:prstGeom prst="rect">
            <a:avLst/>
          </a:prstGeom>
          <a:solidFill>
            <a:srgbClr val="F5B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976A351-EEE3-AFEA-8127-8B781DA6901E}"/>
              </a:ext>
            </a:extLst>
          </p:cNvPr>
          <p:cNvSpPr/>
          <p:nvPr/>
        </p:nvSpPr>
        <p:spPr>
          <a:xfrm>
            <a:off x="6858000" y="4709160"/>
            <a:ext cx="365760" cy="36576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5825DD3-FE87-C62E-B270-51C77D718A95}"/>
              </a:ext>
            </a:extLst>
          </p:cNvPr>
          <p:cNvSpPr/>
          <p:nvPr/>
        </p:nvSpPr>
        <p:spPr>
          <a:xfrm>
            <a:off x="7223760" y="4709160"/>
            <a:ext cx="365760" cy="365760"/>
          </a:xfrm>
          <a:prstGeom prst="rect">
            <a:avLst/>
          </a:prstGeom>
          <a:solidFill>
            <a:srgbClr val="ABAB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CE6E0FC-66B3-2C1F-04A8-7372A06EF532}"/>
              </a:ext>
            </a:extLst>
          </p:cNvPr>
          <p:cNvSpPr/>
          <p:nvPr/>
        </p:nvSpPr>
        <p:spPr>
          <a:xfrm>
            <a:off x="7589520" y="4709160"/>
            <a:ext cx="365760" cy="365760"/>
          </a:xfrm>
          <a:prstGeom prst="rect">
            <a:avLst/>
          </a:prstGeom>
          <a:solidFill>
            <a:srgbClr val="828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0C4AB06-BD97-8E0B-36C7-406BAF5CD1A6}"/>
              </a:ext>
            </a:extLst>
          </p:cNvPr>
          <p:cNvSpPr/>
          <p:nvPr/>
        </p:nvSpPr>
        <p:spPr>
          <a:xfrm>
            <a:off x="7955280" y="4709160"/>
            <a:ext cx="365760" cy="365760"/>
          </a:xfrm>
          <a:prstGeom prst="rect">
            <a:avLst/>
          </a:prstGeom>
          <a:solidFill>
            <a:srgbClr val="F59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4AD958C-AADC-F542-6FAE-9625699B79C9}"/>
              </a:ext>
            </a:extLst>
          </p:cNvPr>
          <p:cNvSpPr/>
          <p:nvPr/>
        </p:nvSpPr>
        <p:spPr>
          <a:xfrm>
            <a:off x="8321040" y="4709160"/>
            <a:ext cx="365760" cy="365760"/>
          </a:xfrm>
          <a:prstGeom prst="rect">
            <a:avLst/>
          </a:prstGeom>
          <a:solidFill>
            <a:srgbClr val="686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4BE402F-6FDE-8423-B4FA-4DA9EB22FA8E}"/>
              </a:ext>
            </a:extLst>
          </p:cNvPr>
          <p:cNvSpPr/>
          <p:nvPr/>
        </p:nvSpPr>
        <p:spPr>
          <a:xfrm>
            <a:off x="8686800" y="4709160"/>
            <a:ext cx="365760" cy="365760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A50280F-73EF-0AAA-CE3C-56BFBA6B6AC1}"/>
              </a:ext>
            </a:extLst>
          </p:cNvPr>
          <p:cNvSpPr/>
          <p:nvPr/>
        </p:nvSpPr>
        <p:spPr>
          <a:xfrm>
            <a:off x="9052560" y="4709160"/>
            <a:ext cx="365760" cy="365760"/>
          </a:xfrm>
          <a:prstGeom prst="rect">
            <a:avLst/>
          </a:prstGeom>
          <a:solidFill>
            <a:srgbClr val="F5A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F9EB6B8-010B-C1B8-2DF2-9B4B95621E33}"/>
              </a:ext>
            </a:extLst>
          </p:cNvPr>
          <p:cNvSpPr/>
          <p:nvPr/>
        </p:nvSpPr>
        <p:spPr>
          <a:xfrm>
            <a:off x="9418320" y="4709160"/>
            <a:ext cx="365760" cy="365760"/>
          </a:xfrm>
          <a:prstGeom prst="rect">
            <a:avLst/>
          </a:prstGeom>
          <a:solidFill>
            <a:srgbClr val="BEB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9DEFC7D-F304-2843-8B47-172294164F30}"/>
              </a:ext>
            </a:extLst>
          </p:cNvPr>
          <p:cNvSpPr/>
          <p:nvPr/>
        </p:nvSpPr>
        <p:spPr>
          <a:xfrm>
            <a:off x="9784080" y="4709160"/>
            <a:ext cx="365760" cy="365760"/>
          </a:xfrm>
          <a:prstGeom prst="rect">
            <a:avLst/>
          </a:prstGeom>
          <a:solidFill>
            <a:srgbClr val="86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8DC3BF9-7B9E-062B-A60F-F9F0F11BAD29}"/>
              </a:ext>
            </a:extLst>
          </p:cNvPr>
          <p:cNvSpPr/>
          <p:nvPr/>
        </p:nvSpPr>
        <p:spPr>
          <a:xfrm>
            <a:off x="10149840" y="4709160"/>
            <a:ext cx="365760" cy="365760"/>
          </a:xfrm>
          <a:prstGeom prst="rect">
            <a:avLst/>
          </a:prstGeom>
          <a:solidFill>
            <a:srgbClr val="73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F2ECFE9-23B0-0533-C367-D5EEBC6BAAA2}"/>
              </a:ext>
            </a:extLst>
          </p:cNvPr>
          <p:cNvSpPr/>
          <p:nvPr/>
        </p:nvSpPr>
        <p:spPr>
          <a:xfrm>
            <a:off x="10515600" y="4709160"/>
            <a:ext cx="365760" cy="365760"/>
          </a:xfrm>
          <a:prstGeom prst="rect">
            <a:avLst/>
          </a:prstGeom>
          <a:solidFill>
            <a:srgbClr val="F59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CD807AB-94D3-782F-49A9-5826FB56375C}"/>
              </a:ext>
            </a:extLst>
          </p:cNvPr>
          <p:cNvSpPr/>
          <p:nvPr/>
        </p:nvSpPr>
        <p:spPr>
          <a:xfrm>
            <a:off x="10881360" y="4709160"/>
            <a:ext cx="365760" cy="36576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021647B-3451-589B-F5F6-A5DC5D6EF6B3}"/>
              </a:ext>
            </a:extLst>
          </p:cNvPr>
          <p:cNvSpPr/>
          <p:nvPr/>
        </p:nvSpPr>
        <p:spPr>
          <a:xfrm>
            <a:off x="5394960" y="5074920"/>
            <a:ext cx="365760" cy="365760"/>
          </a:xfrm>
          <a:prstGeom prst="rect">
            <a:avLst/>
          </a:prstGeom>
          <a:solidFill>
            <a:srgbClr val="3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13224AC-8E70-EF08-02C2-233BDD48168E}"/>
              </a:ext>
            </a:extLst>
          </p:cNvPr>
          <p:cNvSpPr/>
          <p:nvPr/>
        </p:nvSpPr>
        <p:spPr>
          <a:xfrm>
            <a:off x="5760720" y="5074920"/>
            <a:ext cx="365760" cy="365760"/>
          </a:xfrm>
          <a:prstGeom prst="rect">
            <a:avLst/>
          </a:prstGeom>
          <a:solidFill>
            <a:srgbClr val="5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EFDB96E-6FA9-C6C2-15D0-F34B609558F1}"/>
              </a:ext>
            </a:extLst>
          </p:cNvPr>
          <p:cNvSpPr/>
          <p:nvPr/>
        </p:nvSpPr>
        <p:spPr>
          <a:xfrm>
            <a:off x="6126480" y="5074920"/>
            <a:ext cx="365760" cy="365760"/>
          </a:xfrm>
          <a:prstGeom prst="rect">
            <a:avLst/>
          </a:prstGeom>
          <a:solidFill>
            <a:srgbClr val="F59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A9AF667E-667B-05C2-BF04-D2CCE934F183}"/>
              </a:ext>
            </a:extLst>
          </p:cNvPr>
          <p:cNvSpPr/>
          <p:nvPr/>
        </p:nvSpPr>
        <p:spPr>
          <a:xfrm>
            <a:off x="6492240" y="5074920"/>
            <a:ext cx="365760" cy="365760"/>
          </a:xfrm>
          <a:prstGeom prst="rect">
            <a:avLst/>
          </a:prstGeom>
          <a:solidFill>
            <a:srgbClr val="ABAB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154AA1F1-BCE7-A15D-271A-610CC9EAB102}"/>
              </a:ext>
            </a:extLst>
          </p:cNvPr>
          <p:cNvSpPr/>
          <p:nvPr/>
        </p:nvSpPr>
        <p:spPr>
          <a:xfrm>
            <a:off x="6858000" y="5074920"/>
            <a:ext cx="365760" cy="36576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E9DBC847-A6DB-D7B6-15B6-41563FA4C9A2}"/>
              </a:ext>
            </a:extLst>
          </p:cNvPr>
          <p:cNvSpPr/>
          <p:nvPr/>
        </p:nvSpPr>
        <p:spPr>
          <a:xfrm>
            <a:off x="7223760" y="5074920"/>
            <a:ext cx="365760" cy="365760"/>
          </a:xfrm>
          <a:prstGeom prst="rect">
            <a:avLst/>
          </a:prstGeom>
          <a:solidFill>
            <a:srgbClr val="F59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CC27A11-B444-C6E1-B68D-C2290EC2998C}"/>
              </a:ext>
            </a:extLst>
          </p:cNvPr>
          <p:cNvSpPr/>
          <p:nvPr/>
        </p:nvSpPr>
        <p:spPr>
          <a:xfrm>
            <a:off x="7589520" y="5074920"/>
            <a:ext cx="365760" cy="36576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861E75D-48FC-60AF-C6B7-735F777AD740}"/>
              </a:ext>
            </a:extLst>
          </p:cNvPr>
          <p:cNvSpPr/>
          <p:nvPr/>
        </p:nvSpPr>
        <p:spPr>
          <a:xfrm>
            <a:off x="7955280" y="5074920"/>
            <a:ext cx="365760" cy="36576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BAFC1BF-2B75-FB8E-6DA4-5998913AE8F4}"/>
              </a:ext>
            </a:extLst>
          </p:cNvPr>
          <p:cNvSpPr/>
          <p:nvPr/>
        </p:nvSpPr>
        <p:spPr>
          <a:xfrm>
            <a:off x="8321040" y="5074920"/>
            <a:ext cx="365760" cy="36576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427D7CDC-16DE-B9AD-566F-3AF8296B22B7}"/>
              </a:ext>
            </a:extLst>
          </p:cNvPr>
          <p:cNvSpPr/>
          <p:nvPr/>
        </p:nvSpPr>
        <p:spPr>
          <a:xfrm>
            <a:off x="8686800" y="5074920"/>
            <a:ext cx="365760" cy="365760"/>
          </a:xfrm>
          <a:prstGeom prst="rect">
            <a:avLst/>
          </a:prstGeom>
          <a:solidFill>
            <a:srgbClr val="F59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B283344-A6D5-7D00-AD19-6B748CA090E9}"/>
              </a:ext>
            </a:extLst>
          </p:cNvPr>
          <p:cNvSpPr/>
          <p:nvPr/>
        </p:nvSpPr>
        <p:spPr>
          <a:xfrm>
            <a:off x="9052560" y="5074920"/>
            <a:ext cx="365760" cy="36576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4089550-A9C0-2C8F-7008-F905C1D58718}"/>
              </a:ext>
            </a:extLst>
          </p:cNvPr>
          <p:cNvSpPr/>
          <p:nvPr/>
        </p:nvSpPr>
        <p:spPr>
          <a:xfrm>
            <a:off x="9418320" y="5074920"/>
            <a:ext cx="365760" cy="365760"/>
          </a:xfrm>
          <a:prstGeom prst="rect">
            <a:avLst/>
          </a:prstGeom>
          <a:solidFill>
            <a:srgbClr val="3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7BDC993-7A4A-474A-3BF6-929AD0F3710E}"/>
              </a:ext>
            </a:extLst>
          </p:cNvPr>
          <p:cNvSpPr/>
          <p:nvPr/>
        </p:nvSpPr>
        <p:spPr>
          <a:xfrm>
            <a:off x="9784080" y="5074920"/>
            <a:ext cx="365760" cy="36576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DA2047EF-CACA-7E21-692F-E3A37847AC39}"/>
              </a:ext>
            </a:extLst>
          </p:cNvPr>
          <p:cNvSpPr/>
          <p:nvPr/>
        </p:nvSpPr>
        <p:spPr>
          <a:xfrm>
            <a:off x="10149840" y="5074920"/>
            <a:ext cx="365760" cy="365760"/>
          </a:xfrm>
          <a:prstGeom prst="rect">
            <a:avLst/>
          </a:prstGeom>
          <a:solidFill>
            <a:srgbClr val="F59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ED3B375A-2E38-16D4-9513-A29D3CCD98BB}"/>
              </a:ext>
            </a:extLst>
          </p:cNvPr>
          <p:cNvSpPr/>
          <p:nvPr/>
        </p:nvSpPr>
        <p:spPr>
          <a:xfrm>
            <a:off x="10515600" y="5074920"/>
            <a:ext cx="365760" cy="365760"/>
          </a:xfrm>
          <a:prstGeom prst="rect">
            <a:avLst/>
          </a:prstGeom>
          <a:solidFill>
            <a:srgbClr val="7979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4B756EE-20A3-B548-DA1F-692C7BEA796B}"/>
              </a:ext>
            </a:extLst>
          </p:cNvPr>
          <p:cNvSpPr/>
          <p:nvPr/>
        </p:nvSpPr>
        <p:spPr>
          <a:xfrm>
            <a:off x="10881360" y="5074920"/>
            <a:ext cx="365760" cy="365760"/>
          </a:xfrm>
          <a:prstGeom prst="rect">
            <a:avLst/>
          </a:prstGeom>
          <a:solidFill>
            <a:srgbClr val="76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278310D-4B89-D177-07F5-FA13D556C707}"/>
              </a:ext>
            </a:extLst>
          </p:cNvPr>
          <p:cNvSpPr txBox="1"/>
          <p:nvPr/>
        </p:nvSpPr>
        <p:spPr>
          <a:xfrm>
            <a:off x="5120640" y="5416448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>
                <a:solidFill>
                  <a:srgbClr val="4A5568"/>
                </a:solidFill>
                <a:latin typeface="Calibri"/>
              </a:rPr>
              <a:t>8 rows × 16 cols × 40×40 </a:t>
            </a:r>
            <a:r>
              <a:rPr sz="1000" b="0" i="1" dirty="0" err="1">
                <a:solidFill>
                  <a:srgbClr val="4A5568"/>
                </a:solidFill>
                <a:latin typeface="Calibri"/>
              </a:rPr>
              <a:t>px</a:t>
            </a:r>
            <a:r>
              <a:rPr sz="1000" b="0" i="1" dirty="0">
                <a:solidFill>
                  <a:srgbClr val="4A5568"/>
                </a:solidFill>
                <a:latin typeface="Calibri"/>
              </a:rPr>
              <a:t>  =  320 × 640 pixels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B182BC9-FB8E-6E6E-7272-B43882355367}"/>
              </a:ext>
            </a:extLst>
          </p:cNvPr>
          <p:cNvSpPr txBox="1"/>
          <p:nvPr/>
        </p:nvSpPr>
        <p:spPr>
          <a:xfrm>
            <a:off x="457200" y="5715000"/>
            <a:ext cx="11247120" cy="6052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1" i="0" dirty="0">
                <a:solidFill>
                  <a:srgbClr val="1A1F29"/>
                </a:solidFill>
                <a:latin typeface="Calibri"/>
              </a:rPr>
              <a:t>128 = 8 × 16 is the most square-like factorization, so the tiled image is roughly square-</a:t>
            </a:r>
            <a:r>
              <a:rPr sz="1600" b="1" i="0" dirty="0" err="1">
                <a:solidFill>
                  <a:srgbClr val="1A1F29"/>
                </a:solidFill>
                <a:latin typeface="Calibri"/>
              </a:rPr>
              <a:t>ish</a:t>
            </a:r>
            <a:r>
              <a:rPr sz="1600" b="1" i="0" dirty="0">
                <a:solidFill>
                  <a:srgbClr val="1A1F29"/>
                </a:solidFill>
                <a:latin typeface="Calibri"/>
              </a:rPr>
              <a:t> (320 × 640).</a:t>
            </a:r>
          </a:p>
          <a:p>
            <a:pPr algn="l">
              <a:spcAft>
                <a:spcPts val="4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1" i="0" dirty="0">
                <a:solidFill>
                  <a:srgbClr val="F58A1F"/>
                </a:solidFill>
                <a:latin typeface="Calibri"/>
              </a:rPr>
              <a:t>Now it looks like a grayscale 320×640 frame and can be fed into any off-the-shelf video encoder.</a:t>
            </a:r>
          </a:p>
        </p:txBody>
      </p:sp>
    </p:spTree>
    <p:extLst>
      <p:ext uri="{BB962C8B-B14F-4D97-AF65-F5344CB8AC3E}">
        <p14:creationId xmlns:p14="http://schemas.microsoft.com/office/powerpoint/2010/main" val="566711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B1EB3-F6F5-3C90-79B7-10FBE98F8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4FB89-DF58-F1FB-C9BD-59AFC67A0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©2026 InterDigital, Inc. All Rights Reserved.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842CB6-9D67-6621-C402-C4567C2AAA2D}"/>
              </a:ext>
            </a:extLst>
          </p:cNvPr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F29"/>
                </a:solidFill>
                <a:latin typeface="Calibri"/>
              </a:rPr>
              <a:t>Symmetric channel flipping  —  help the codec find similarity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133302-8FC3-6EDB-E031-1709C28B6995}"/>
              </a:ext>
            </a:extLst>
          </p:cNvPr>
          <p:cNvSpPr/>
          <p:nvPr/>
        </p:nvSpPr>
        <p:spPr>
          <a:xfrm>
            <a:off x="457200" y="1234440"/>
            <a:ext cx="1005840" cy="4572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C0A74-8BE7-143A-D73D-D904B367F65A}"/>
              </a:ext>
            </a:extLst>
          </p:cNvPr>
          <p:cNvSpPr txBox="1"/>
          <p:nvPr/>
        </p:nvSpPr>
        <p:spPr>
          <a:xfrm>
            <a:off x="457200" y="155448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B3D91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A1F29"/>
                </a:solidFill>
                <a:latin typeface="Calibri"/>
              </a:rPr>
              <a:t>Adjacent tiles in the tiled image come from different filters. Their numbers jump abruptly at each tile boundary.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B3D91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A1F29"/>
                </a:solidFill>
                <a:latin typeface="Calibri"/>
              </a:rPr>
              <a:t>Video codecs rely on block-level similarity to compress well (think: predictive coding across blocks).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B3D91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F29"/>
                </a:solidFill>
                <a:latin typeface="Calibri"/>
              </a:rPr>
              <a:t>Trick: mirror every other row/column of tiles.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B3D91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A1F29"/>
                </a:solidFill>
                <a:latin typeface="Calibri"/>
              </a:rPr>
              <a:t>This makes neighbouring tile edges meet each other edge-to-edge instead of top-to-top, which reduces spatial discontinuities.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B3D91"/>
                </a:solidFill>
                <a:latin typeface="Calibri"/>
              </a:rPr>
              <a:t>•  </a:t>
            </a:r>
            <a:r>
              <a:rPr sz="1300" b="0" i="1">
                <a:solidFill>
                  <a:srgbClr val="2E8B57"/>
                </a:solidFill>
                <a:latin typeface="Calibri"/>
              </a:rPr>
              <a:t>Fully reversible — the server flips it back before untiling.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B3D91"/>
                </a:solidFill>
                <a:latin typeface="Calibri"/>
              </a:rPr>
              <a:t>•  </a:t>
            </a:r>
            <a:r>
              <a:rPr sz="1300" b="0" i="1">
                <a:solidFill>
                  <a:srgbClr val="1A1F29"/>
                </a:solidFill>
                <a:latin typeface="Calibri"/>
              </a:rPr>
              <a:t>No bits added, no bits lost — it's purely a codec-friendliness pre-processing step.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C23C6F-AF35-990B-D70B-A1D9B805313F}"/>
              </a:ext>
            </a:extLst>
          </p:cNvPr>
          <p:cNvSpPr txBox="1"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4A5568"/>
                </a:solidFill>
                <a:latin typeface="Calibri"/>
              </a:rPr>
              <a:t>Before flipping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76E53E-D983-56E6-85AE-1FFF32687D0C}"/>
              </a:ext>
            </a:extLst>
          </p:cNvPr>
          <p:cNvSpPr/>
          <p:nvPr/>
        </p:nvSpPr>
        <p:spPr>
          <a:xfrm>
            <a:off x="6400800" y="1920240"/>
            <a:ext cx="1143000" cy="822960"/>
          </a:xfrm>
          <a:prstGeom prst="rect">
            <a:avLst/>
          </a:prstGeom>
          <a:solidFill>
            <a:srgbClr val="DCE4F3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6FBB5136-53BC-1A90-E5DC-7961739A5A0D}"/>
              </a:ext>
            </a:extLst>
          </p:cNvPr>
          <p:cNvSpPr/>
          <p:nvPr/>
        </p:nvSpPr>
        <p:spPr>
          <a:xfrm>
            <a:off x="6629400" y="2103120"/>
            <a:ext cx="685800" cy="457200"/>
          </a:xfrm>
          <a:prstGeom prst="rtTriangl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FE6745-F742-FACD-90E3-44B45AFE892D}"/>
              </a:ext>
            </a:extLst>
          </p:cNvPr>
          <p:cNvSpPr/>
          <p:nvPr/>
        </p:nvSpPr>
        <p:spPr>
          <a:xfrm>
            <a:off x="7680960" y="1920240"/>
            <a:ext cx="1143000" cy="822960"/>
          </a:xfrm>
          <a:prstGeom prst="rect">
            <a:avLst/>
          </a:prstGeom>
          <a:solidFill>
            <a:srgbClr val="DCE4F3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0627C502-5003-3302-1C57-F7B1C7D4F43C}"/>
              </a:ext>
            </a:extLst>
          </p:cNvPr>
          <p:cNvSpPr/>
          <p:nvPr/>
        </p:nvSpPr>
        <p:spPr>
          <a:xfrm>
            <a:off x="7909560" y="2103120"/>
            <a:ext cx="685800" cy="457200"/>
          </a:xfrm>
          <a:prstGeom prst="rtTriangl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006257-F266-86E3-9506-0E5A263DFAE8}"/>
              </a:ext>
            </a:extLst>
          </p:cNvPr>
          <p:cNvSpPr/>
          <p:nvPr/>
        </p:nvSpPr>
        <p:spPr>
          <a:xfrm>
            <a:off x="8961120" y="1920240"/>
            <a:ext cx="1143000" cy="822960"/>
          </a:xfrm>
          <a:prstGeom prst="rect">
            <a:avLst/>
          </a:prstGeom>
          <a:solidFill>
            <a:srgbClr val="DCE4F3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EE3D1AFB-3870-DE5C-E098-4D144E26CCCA}"/>
              </a:ext>
            </a:extLst>
          </p:cNvPr>
          <p:cNvSpPr/>
          <p:nvPr/>
        </p:nvSpPr>
        <p:spPr>
          <a:xfrm>
            <a:off x="9189720" y="2103120"/>
            <a:ext cx="685800" cy="457200"/>
          </a:xfrm>
          <a:prstGeom prst="rtTriangl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D52DF7-FD29-3389-83BD-7D096B1D4643}"/>
              </a:ext>
            </a:extLst>
          </p:cNvPr>
          <p:cNvSpPr/>
          <p:nvPr/>
        </p:nvSpPr>
        <p:spPr>
          <a:xfrm>
            <a:off x="10241280" y="1920240"/>
            <a:ext cx="1143000" cy="822960"/>
          </a:xfrm>
          <a:prstGeom prst="rect">
            <a:avLst/>
          </a:prstGeom>
          <a:solidFill>
            <a:srgbClr val="DCE4F3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A893CD9E-F421-EC80-61BA-EB90481CC45D}"/>
              </a:ext>
            </a:extLst>
          </p:cNvPr>
          <p:cNvSpPr/>
          <p:nvPr/>
        </p:nvSpPr>
        <p:spPr>
          <a:xfrm>
            <a:off x="10469880" y="2103120"/>
            <a:ext cx="685800" cy="457200"/>
          </a:xfrm>
          <a:prstGeom prst="rtTriangl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344ACC-A097-E9EE-4891-7EE8092B2367}"/>
              </a:ext>
            </a:extLst>
          </p:cNvPr>
          <p:cNvSpPr/>
          <p:nvPr/>
        </p:nvSpPr>
        <p:spPr>
          <a:xfrm>
            <a:off x="6400800" y="2834640"/>
            <a:ext cx="1143000" cy="822960"/>
          </a:xfrm>
          <a:prstGeom prst="rect">
            <a:avLst/>
          </a:prstGeom>
          <a:solidFill>
            <a:srgbClr val="DCE4F3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B534EDF2-43F6-3AF4-D24F-A3625CA3036D}"/>
              </a:ext>
            </a:extLst>
          </p:cNvPr>
          <p:cNvSpPr/>
          <p:nvPr/>
        </p:nvSpPr>
        <p:spPr>
          <a:xfrm>
            <a:off x="6629400" y="3017520"/>
            <a:ext cx="685800" cy="457200"/>
          </a:xfrm>
          <a:prstGeom prst="rtTriangl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D143A3-78AE-10BA-7B57-3979DBE749E0}"/>
              </a:ext>
            </a:extLst>
          </p:cNvPr>
          <p:cNvSpPr/>
          <p:nvPr/>
        </p:nvSpPr>
        <p:spPr>
          <a:xfrm>
            <a:off x="7680960" y="2834640"/>
            <a:ext cx="1143000" cy="822960"/>
          </a:xfrm>
          <a:prstGeom prst="rect">
            <a:avLst/>
          </a:prstGeom>
          <a:solidFill>
            <a:srgbClr val="DCE4F3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C4104967-3976-5165-EFB7-7D5380CF3743}"/>
              </a:ext>
            </a:extLst>
          </p:cNvPr>
          <p:cNvSpPr/>
          <p:nvPr/>
        </p:nvSpPr>
        <p:spPr>
          <a:xfrm>
            <a:off x="7909560" y="3017520"/>
            <a:ext cx="685800" cy="457200"/>
          </a:xfrm>
          <a:prstGeom prst="rtTriangl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7FE7E6-AEFD-00BD-8464-EBB09FBD13C3}"/>
              </a:ext>
            </a:extLst>
          </p:cNvPr>
          <p:cNvSpPr/>
          <p:nvPr/>
        </p:nvSpPr>
        <p:spPr>
          <a:xfrm>
            <a:off x="8961120" y="2834640"/>
            <a:ext cx="1143000" cy="822960"/>
          </a:xfrm>
          <a:prstGeom prst="rect">
            <a:avLst/>
          </a:prstGeom>
          <a:solidFill>
            <a:srgbClr val="DCE4F3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C44C01B4-2483-9501-9A51-A680EAF7946A}"/>
              </a:ext>
            </a:extLst>
          </p:cNvPr>
          <p:cNvSpPr/>
          <p:nvPr/>
        </p:nvSpPr>
        <p:spPr>
          <a:xfrm>
            <a:off x="9189720" y="3017520"/>
            <a:ext cx="685800" cy="457200"/>
          </a:xfrm>
          <a:prstGeom prst="rtTriangl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2639CD-F9A4-6B17-986A-8B9A49D9BE75}"/>
              </a:ext>
            </a:extLst>
          </p:cNvPr>
          <p:cNvSpPr/>
          <p:nvPr/>
        </p:nvSpPr>
        <p:spPr>
          <a:xfrm>
            <a:off x="10241280" y="2834640"/>
            <a:ext cx="1143000" cy="822960"/>
          </a:xfrm>
          <a:prstGeom prst="rect">
            <a:avLst/>
          </a:prstGeom>
          <a:solidFill>
            <a:srgbClr val="DCE4F3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A68B8F03-1C17-916D-B2F9-04B886870F58}"/>
              </a:ext>
            </a:extLst>
          </p:cNvPr>
          <p:cNvSpPr/>
          <p:nvPr/>
        </p:nvSpPr>
        <p:spPr>
          <a:xfrm>
            <a:off x="10469880" y="3017520"/>
            <a:ext cx="685800" cy="457200"/>
          </a:xfrm>
          <a:prstGeom prst="rtTriangl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BFC037-7557-318E-7D21-270EB908BEE0}"/>
              </a:ext>
            </a:extLst>
          </p:cNvPr>
          <p:cNvSpPr txBox="1"/>
          <p:nvPr/>
        </p:nvSpPr>
        <p:spPr>
          <a:xfrm>
            <a:off x="6400800" y="3749039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58A1F"/>
                </a:solidFill>
                <a:latin typeface="Calibri"/>
              </a:rPr>
              <a:t>After symmetric flip  (row 2 mirrored)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169DBD-F8BD-B882-64F0-668D447F0EB0}"/>
              </a:ext>
            </a:extLst>
          </p:cNvPr>
          <p:cNvSpPr/>
          <p:nvPr/>
        </p:nvSpPr>
        <p:spPr>
          <a:xfrm>
            <a:off x="6400800" y="4114800"/>
            <a:ext cx="1143000" cy="822960"/>
          </a:xfrm>
          <a:prstGeom prst="rect">
            <a:avLst/>
          </a:prstGeom>
          <a:solidFill>
            <a:srgbClr val="DCE4F3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3BBFE32D-5E5D-26C1-E30F-02E80917D97B}"/>
              </a:ext>
            </a:extLst>
          </p:cNvPr>
          <p:cNvSpPr/>
          <p:nvPr/>
        </p:nvSpPr>
        <p:spPr>
          <a:xfrm>
            <a:off x="6629400" y="4297680"/>
            <a:ext cx="685800" cy="457200"/>
          </a:xfrm>
          <a:prstGeom prst="rtTriangl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A9EDAF-F573-9B33-A9E6-D238553460E6}"/>
              </a:ext>
            </a:extLst>
          </p:cNvPr>
          <p:cNvSpPr/>
          <p:nvPr/>
        </p:nvSpPr>
        <p:spPr>
          <a:xfrm>
            <a:off x="7680960" y="4114800"/>
            <a:ext cx="1143000" cy="822960"/>
          </a:xfrm>
          <a:prstGeom prst="rect">
            <a:avLst/>
          </a:prstGeom>
          <a:solidFill>
            <a:srgbClr val="DCE4F3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EBD668EA-CED3-55AE-6E87-9AFC2104EA97}"/>
              </a:ext>
            </a:extLst>
          </p:cNvPr>
          <p:cNvSpPr/>
          <p:nvPr/>
        </p:nvSpPr>
        <p:spPr>
          <a:xfrm>
            <a:off x="7909560" y="4297680"/>
            <a:ext cx="685800" cy="457200"/>
          </a:xfrm>
          <a:prstGeom prst="rtTriangl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427755-27F2-AFC2-F81B-D71DAE0BEA47}"/>
              </a:ext>
            </a:extLst>
          </p:cNvPr>
          <p:cNvSpPr/>
          <p:nvPr/>
        </p:nvSpPr>
        <p:spPr>
          <a:xfrm>
            <a:off x="8961120" y="4114800"/>
            <a:ext cx="1143000" cy="822960"/>
          </a:xfrm>
          <a:prstGeom prst="rect">
            <a:avLst/>
          </a:prstGeom>
          <a:solidFill>
            <a:srgbClr val="DCE4F3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C1B053BC-E5DD-A208-A1DE-3B605D10C682}"/>
              </a:ext>
            </a:extLst>
          </p:cNvPr>
          <p:cNvSpPr/>
          <p:nvPr/>
        </p:nvSpPr>
        <p:spPr>
          <a:xfrm>
            <a:off x="9189720" y="4297680"/>
            <a:ext cx="685800" cy="457200"/>
          </a:xfrm>
          <a:prstGeom prst="rtTriangl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49E829-F57C-F078-EA42-E9B045D74000}"/>
              </a:ext>
            </a:extLst>
          </p:cNvPr>
          <p:cNvSpPr/>
          <p:nvPr/>
        </p:nvSpPr>
        <p:spPr>
          <a:xfrm>
            <a:off x="10241280" y="4114800"/>
            <a:ext cx="1143000" cy="822960"/>
          </a:xfrm>
          <a:prstGeom prst="rect">
            <a:avLst/>
          </a:prstGeom>
          <a:solidFill>
            <a:srgbClr val="DCE4F3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5849279F-7F38-BC5D-FC06-761183CA8E4D}"/>
              </a:ext>
            </a:extLst>
          </p:cNvPr>
          <p:cNvSpPr/>
          <p:nvPr/>
        </p:nvSpPr>
        <p:spPr>
          <a:xfrm>
            <a:off x="10469880" y="4297680"/>
            <a:ext cx="685800" cy="457200"/>
          </a:xfrm>
          <a:prstGeom prst="rtTriangl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3F08E62-1095-7CA5-489C-F74F0A1C77C7}"/>
              </a:ext>
            </a:extLst>
          </p:cNvPr>
          <p:cNvSpPr/>
          <p:nvPr/>
        </p:nvSpPr>
        <p:spPr>
          <a:xfrm>
            <a:off x="6400800" y="5029200"/>
            <a:ext cx="1143000" cy="822960"/>
          </a:xfrm>
          <a:prstGeom prst="rect">
            <a:avLst/>
          </a:prstGeom>
          <a:solidFill>
            <a:srgbClr val="DCE4F3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91D0479E-954B-BA35-D202-CDB86913C4D7}"/>
              </a:ext>
            </a:extLst>
          </p:cNvPr>
          <p:cNvSpPr/>
          <p:nvPr/>
        </p:nvSpPr>
        <p:spPr>
          <a:xfrm rot="10800000">
            <a:off x="6629400" y="5212080"/>
            <a:ext cx="685800" cy="457200"/>
          </a:xfrm>
          <a:prstGeom prst="rtTriangl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370382-BF6F-7F68-1642-DFBC8C5D4B97}"/>
              </a:ext>
            </a:extLst>
          </p:cNvPr>
          <p:cNvSpPr/>
          <p:nvPr/>
        </p:nvSpPr>
        <p:spPr>
          <a:xfrm>
            <a:off x="7680960" y="5029200"/>
            <a:ext cx="1143000" cy="822960"/>
          </a:xfrm>
          <a:prstGeom prst="rect">
            <a:avLst/>
          </a:prstGeom>
          <a:solidFill>
            <a:srgbClr val="DCE4F3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96F9C68D-D2B6-2B39-EEAA-E40C054D1214}"/>
              </a:ext>
            </a:extLst>
          </p:cNvPr>
          <p:cNvSpPr/>
          <p:nvPr/>
        </p:nvSpPr>
        <p:spPr>
          <a:xfrm rot="10800000">
            <a:off x="7909560" y="5212080"/>
            <a:ext cx="685800" cy="457200"/>
          </a:xfrm>
          <a:prstGeom prst="rtTriangl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1D3EA79-B151-84E6-435D-A5E1D9E988F8}"/>
              </a:ext>
            </a:extLst>
          </p:cNvPr>
          <p:cNvSpPr/>
          <p:nvPr/>
        </p:nvSpPr>
        <p:spPr>
          <a:xfrm>
            <a:off x="8961120" y="5029200"/>
            <a:ext cx="1143000" cy="822960"/>
          </a:xfrm>
          <a:prstGeom prst="rect">
            <a:avLst/>
          </a:prstGeom>
          <a:solidFill>
            <a:srgbClr val="DCE4F3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780C291D-42B4-8F72-5A85-AFB2867F84EF}"/>
              </a:ext>
            </a:extLst>
          </p:cNvPr>
          <p:cNvSpPr/>
          <p:nvPr/>
        </p:nvSpPr>
        <p:spPr>
          <a:xfrm rot="10800000">
            <a:off x="9189720" y="5212080"/>
            <a:ext cx="685800" cy="457200"/>
          </a:xfrm>
          <a:prstGeom prst="rtTriangl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ED8373F-D9DF-FE7D-6273-D8E3C598A022}"/>
              </a:ext>
            </a:extLst>
          </p:cNvPr>
          <p:cNvSpPr/>
          <p:nvPr/>
        </p:nvSpPr>
        <p:spPr>
          <a:xfrm>
            <a:off x="10241280" y="5029200"/>
            <a:ext cx="1143000" cy="822960"/>
          </a:xfrm>
          <a:prstGeom prst="rect">
            <a:avLst/>
          </a:prstGeom>
          <a:solidFill>
            <a:srgbClr val="DCE4F3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13C3B872-85A9-DDA9-83A3-3467DA62D600}"/>
              </a:ext>
            </a:extLst>
          </p:cNvPr>
          <p:cNvSpPr/>
          <p:nvPr/>
        </p:nvSpPr>
        <p:spPr>
          <a:xfrm rot="10800000">
            <a:off x="10469880" y="5212080"/>
            <a:ext cx="685800" cy="457200"/>
          </a:xfrm>
          <a:prstGeom prst="rtTriangl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75520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E99DB-9DEC-174A-40C5-4BBE88D11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B5D98-D388-3C90-1E35-65C7ED4F84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©2026 InterDigital, Inc. All Rights Reserved.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91C323-6194-2C88-5C1C-36E04520E062}"/>
              </a:ext>
            </a:extLst>
          </p:cNvPr>
          <p:cNvSpPr txBox="1"/>
          <p:nvPr/>
        </p:nvSpPr>
        <p:spPr>
          <a:xfrm>
            <a:off x="457200" y="640080"/>
            <a:ext cx="7281746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F29"/>
                </a:solidFill>
                <a:latin typeface="Calibri"/>
              </a:rPr>
              <a:t>Second half of the model  →  final bounding box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29AB25-DB03-5574-9009-2B27F18E4A51}"/>
              </a:ext>
            </a:extLst>
          </p:cNvPr>
          <p:cNvSpPr/>
          <p:nvPr/>
        </p:nvSpPr>
        <p:spPr>
          <a:xfrm>
            <a:off x="457200" y="1234440"/>
            <a:ext cx="651213" cy="4572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EF4D6-DD48-6EEB-9A10-F98806DF2CB4}"/>
              </a:ext>
            </a:extLst>
          </p:cNvPr>
          <p:cNvSpPr txBox="1"/>
          <p:nvPr/>
        </p:nvSpPr>
        <p:spPr>
          <a:xfrm>
            <a:off x="457200" y="1554480"/>
            <a:ext cx="6400800" cy="37394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Reconstructed [128, 40, 40] tensor is handed to the detection head — the second half of the YOLOX (or Faster R-CNN) network.</a:t>
            </a:r>
          </a:p>
          <a:p>
            <a:pPr algn="l">
              <a:spcAft>
                <a:spcPts val="6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1" i="0" dirty="0">
                <a:solidFill>
                  <a:srgbClr val="1A1F29"/>
                </a:solidFill>
                <a:latin typeface="Calibri"/>
              </a:rPr>
              <a:t>At every cell of the 40×40 grid, the head predicts:</a:t>
            </a:r>
          </a:p>
          <a:p>
            <a:pPr algn="l">
              <a:spcAft>
                <a:spcPts val="6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0B3D91"/>
                </a:solidFill>
                <a:latin typeface="Calibri"/>
              </a:rPr>
              <a:t>'Is there an object centered here?'  →  </a:t>
            </a:r>
            <a:r>
              <a:rPr sz="1600" b="0" i="0" dirty="0" err="1">
                <a:solidFill>
                  <a:srgbClr val="0B3D91"/>
                </a:solidFill>
                <a:latin typeface="Calibri"/>
              </a:rPr>
              <a:t>objectness</a:t>
            </a:r>
            <a:r>
              <a:rPr sz="1600" b="0" i="0" dirty="0">
                <a:solidFill>
                  <a:srgbClr val="0B3D91"/>
                </a:solidFill>
                <a:latin typeface="Calibri"/>
              </a:rPr>
              <a:t> score</a:t>
            </a:r>
          </a:p>
          <a:p>
            <a:pPr algn="l">
              <a:spcAft>
                <a:spcPts val="6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0B3D91"/>
                </a:solidFill>
                <a:latin typeface="Calibri"/>
              </a:rPr>
              <a:t>'What class is it?'  →  probabilities over 80 COCO categories</a:t>
            </a:r>
          </a:p>
          <a:p>
            <a:pPr algn="l">
              <a:spcAft>
                <a:spcPts val="6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0B3D91"/>
                </a:solidFill>
                <a:latin typeface="Calibri"/>
              </a:rPr>
              <a:t>'How big is the box?'  →  four bounding-box coordinates</a:t>
            </a:r>
          </a:p>
          <a:p>
            <a:pPr algn="l">
              <a:spcAft>
                <a:spcPts val="6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Raw output has shape [N, 85]:  4 </a:t>
            </a:r>
            <a:r>
              <a:rPr sz="1600" b="0" i="0" dirty="0" err="1">
                <a:solidFill>
                  <a:srgbClr val="1A1F29"/>
                </a:solidFill>
                <a:latin typeface="Calibri"/>
              </a:rPr>
              <a:t>bbox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 coords + 1 </a:t>
            </a:r>
            <a:r>
              <a:rPr sz="1600" b="0" i="0" dirty="0" err="1">
                <a:solidFill>
                  <a:srgbClr val="1A1F29"/>
                </a:solidFill>
                <a:latin typeface="Calibri"/>
              </a:rPr>
              <a:t>objectness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 + 80 class scores.</a:t>
            </a:r>
          </a:p>
          <a:p>
            <a:pPr algn="l">
              <a:spcAft>
                <a:spcPts val="6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1A1F29"/>
                </a:solidFill>
                <a:latin typeface="Calibri"/>
              </a:rPr>
              <a:t>Non-Maximum Suppression (NMS) removes duplicate overlapping boxes and keeps the highest-scoring one per object.</a:t>
            </a:r>
          </a:p>
          <a:p>
            <a:pPr algn="l">
              <a:spcAft>
                <a:spcPts val="600"/>
              </a:spcAft>
            </a:pPr>
            <a:r>
              <a:rPr b="1" dirty="0">
                <a:solidFill>
                  <a:srgbClr val="0B3D91"/>
                </a:solidFill>
                <a:latin typeface="Calibri"/>
              </a:rPr>
              <a:t>•  </a:t>
            </a:r>
            <a:r>
              <a:rPr sz="1600" b="1" i="0" dirty="0">
                <a:solidFill>
                  <a:srgbClr val="2E8B57"/>
                </a:solidFill>
                <a:latin typeface="Calibri"/>
              </a:rPr>
              <a:t>Only detections above a confidence threshold (e.g. 0.55) are shipped back to the camera.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4299334-C1B7-1712-2C10-62D66C89F10B}"/>
              </a:ext>
            </a:extLst>
          </p:cNvPr>
          <p:cNvSpPr/>
          <p:nvPr/>
        </p:nvSpPr>
        <p:spPr>
          <a:xfrm>
            <a:off x="7132320" y="1554480"/>
            <a:ext cx="4572000" cy="3657600"/>
          </a:xfrm>
          <a:prstGeom prst="roundRect">
            <a:avLst/>
          </a:prstGeom>
          <a:solidFill>
            <a:srgbClr val="F3F5FA"/>
          </a:solidFill>
          <a:ln>
            <a:solidFill>
              <a:srgbClr val="CF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D7E2FE-CA91-5CB9-6946-3B7F23412D60}"/>
              </a:ext>
            </a:extLst>
          </p:cNvPr>
          <p:cNvSpPr txBox="1"/>
          <p:nvPr/>
        </p:nvSpPr>
        <p:spPr>
          <a:xfrm>
            <a:off x="7132320" y="1645920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0B3D91"/>
                </a:solidFill>
                <a:latin typeface="Calibri"/>
              </a:rPr>
              <a:t>Detection</a:t>
            </a:r>
            <a:r>
              <a:rPr lang="en-US" sz="1600" b="1" i="0" dirty="0">
                <a:solidFill>
                  <a:srgbClr val="0B3D91"/>
                </a:solidFill>
                <a:latin typeface="Calibri"/>
              </a:rPr>
              <a:t> </a:t>
            </a:r>
            <a:r>
              <a:rPr sz="1600" b="1" i="0" dirty="0">
                <a:solidFill>
                  <a:srgbClr val="0B3D91"/>
                </a:solidFill>
                <a:latin typeface="Calibri"/>
              </a:rPr>
              <a:t>Result for our car frame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2241D0-CE76-AB06-BB6E-3973CB430CCF}"/>
              </a:ext>
            </a:extLst>
          </p:cNvPr>
          <p:cNvSpPr/>
          <p:nvPr/>
        </p:nvSpPr>
        <p:spPr>
          <a:xfrm>
            <a:off x="7315200" y="2103120"/>
            <a:ext cx="4206240" cy="2926080"/>
          </a:xfrm>
          <a:prstGeom prst="roundRect">
            <a:avLst>
              <a:gd name="adj" fmla="val 4000"/>
            </a:avLst>
          </a:prstGeom>
          <a:solidFill>
            <a:srgbClr val="1E2433"/>
          </a:solidFill>
          <a:ln w="6350">
            <a:solidFill>
              <a:srgbClr val="3A4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71082E-7911-0A6E-E998-5DAA0EA14DBF}"/>
              </a:ext>
            </a:extLst>
          </p:cNvPr>
          <p:cNvSpPr txBox="1"/>
          <p:nvPr/>
        </p:nvSpPr>
        <p:spPr>
          <a:xfrm>
            <a:off x="7424928" y="2176272"/>
            <a:ext cx="3986784" cy="2779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E6EEF7"/>
                </a:solidFill>
                <a:latin typeface="Consolas"/>
              </a:rPr>
              <a:t>labels = [2]                      # 'car' in COCO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E6EEF7"/>
                </a:solidFill>
                <a:latin typeface="Consolas"/>
              </a:rPr>
              <a:t>scores = [0.94]                   # 94% confidence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E6EEF7"/>
                </a:solidFill>
                <a:latin typeface="Consolas"/>
              </a:rPr>
              <a:t>boxes  = [[200, 300, 500, 600]]    # x1,y1,x2,y2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E6EEF7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E6EEF7"/>
                </a:solidFill>
                <a:latin typeface="Consolas"/>
              </a:rPr>
              <a:t># serialized to msgpack,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E6EEF7"/>
                </a:solidFill>
                <a:latin typeface="Consolas"/>
              </a:rPr>
              <a:t># sent back over the air,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E6EEF7"/>
                </a:solidFill>
                <a:latin typeface="Consolas"/>
              </a:rPr>
              <a:t># drawn on the camera's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E6EEF7"/>
                </a:solidFill>
                <a:latin typeface="Consolas"/>
              </a:rPr>
              <a:t># live preview.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30418-1BFA-D087-6EA8-19E39EAA5448}"/>
              </a:ext>
            </a:extLst>
          </p:cNvPr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4A5568"/>
                </a:solidFill>
                <a:latin typeface="Calibri"/>
              </a:rPr>
              <a:t>Round-trip: raw frame in → {label, score, bbox} back. The camera / UE never pushed a raw image over the air.</a:t>
            </a:r>
          </a:p>
        </p:txBody>
      </p:sp>
    </p:spTree>
    <p:extLst>
      <p:ext uri="{BB962C8B-B14F-4D97-AF65-F5344CB8AC3E}">
        <p14:creationId xmlns:p14="http://schemas.microsoft.com/office/powerpoint/2010/main" val="3261228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580E3-B78F-86EB-3FC8-998770F74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DBF52-9335-1D5F-6461-5FEA90A75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©2026 InterDigital, Inc. All Rights Reserved.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48FAFE-33A0-F2B3-80AE-70269CB1DFA9}"/>
              </a:ext>
            </a:extLst>
          </p:cNvPr>
          <p:cNvSpPr txBox="1"/>
          <p:nvPr/>
        </p:nvSpPr>
        <p:spPr>
          <a:xfrm>
            <a:off x="457200" y="411480"/>
            <a:ext cx="359069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F29"/>
                </a:solidFill>
                <a:latin typeface="Calibri"/>
              </a:rPr>
              <a:t>Full pipeline at a glance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E56871-79DB-3BD9-C573-DD4E5B02F5E0}"/>
              </a:ext>
            </a:extLst>
          </p:cNvPr>
          <p:cNvSpPr/>
          <p:nvPr/>
        </p:nvSpPr>
        <p:spPr>
          <a:xfrm>
            <a:off x="457200" y="1005840"/>
            <a:ext cx="1005840" cy="4572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86922-66A5-2663-55BB-08EDA61024CE}"/>
              </a:ext>
            </a:extLst>
          </p:cNvPr>
          <p:cNvSpPr txBox="1"/>
          <p:nvPr/>
        </p:nvSpPr>
        <p:spPr>
          <a:xfrm>
            <a:off x="457200" y="1216599"/>
            <a:ext cx="112471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0B3D91"/>
                </a:solidFill>
                <a:latin typeface="Calibri"/>
              </a:rPr>
              <a:t>CLIENT  (UE / camera)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8541A8-2719-B11C-33EB-9DBD30F5ECB0}"/>
              </a:ext>
            </a:extLst>
          </p:cNvPr>
          <p:cNvSpPr/>
          <p:nvPr/>
        </p:nvSpPr>
        <p:spPr>
          <a:xfrm>
            <a:off x="457200" y="1628079"/>
            <a:ext cx="2240280" cy="1097280"/>
          </a:xfrm>
          <a:prstGeom prst="roundRect">
            <a:avLst/>
          </a:prstGeom>
          <a:solidFill>
            <a:srgbClr val="4A5568"/>
          </a:solidFill>
          <a:ln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2A32F8-59AE-55DD-009D-AD638430A2FD}"/>
              </a:ext>
            </a:extLst>
          </p:cNvPr>
          <p:cNvSpPr txBox="1"/>
          <p:nvPr/>
        </p:nvSpPr>
        <p:spPr>
          <a:xfrm>
            <a:off x="457200" y="1759328"/>
            <a:ext cx="2240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Raw frame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D60BEB-4AED-5A37-95AF-B97619D534C3}"/>
              </a:ext>
            </a:extLst>
          </p:cNvPr>
          <p:cNvSpPr txBox="1"/>
          <p:nvPr/>
        </p:nvSpPr>
        <p:spPr>
          <a:xfrm>
            <a:off x="457200" y="2212402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1920×1080×3 uint8</a:t>
            </a:r>
          </a:p>
        </p:txBody>
      </p:sp>
      <p:cxnSp>
        <p:nvCxnSpPr>
          <p:cNvPr id="9" name="Connector 10">
            <a:extLst>
              <a:ext uri="{FF2B5EF4-FFF2-40B4-BE49-F238E27FC236}">
                <a16:creationId xmlns:a16="http://schemas.microsoft.com/office/drawing/2014/main" id="{48DDA242-B5BB-1F27-0177-AE204E95432C}"/>
              </a:ext>
            </a:extLst>
          </p:cNvPr>
          <p:cNvCxnSpPr>
            <a:cxnSpLocks/>
          </p:cNvCxnSpPr>
          <p:nvPr/>
        </p:nvCxnSpPr>
        <p:spPr>
          <a:xfrm>
            <a:off x="2697480" y="2176719"/>
            <a:ext cx="91440" cy="0"/>
          </a:xfrm>
          <a:prstGeom prst="line">
            <a:avLst/>
          </a:prstGeom>
          <a:ln w="19050">
            <a:solidFill>
              <a:srgbClr val="1A1F2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5BEDD2D-331F-94B7-8E94-3E0440219D65}"/>
              </a:ext>
            </a:extLst>
          </p:cNvPr>
          <p:cNvSpPr/>
          <p:nvPr/>
        </p:nvSpPr>
        <p:spPr>
          <a:xfrm>
            <a:off x="2788920" y="1628079"/>
            <a:ext cx="2240280" cy="1097280"/>
          </a:xfrm>
          <a:prstGeom prst="roundRect">
            <a:avLst/>
          </a:prstGeom>
          <a:solidFill>
            <a:srgbClr val="0B3D91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49B6DD-EF44-1325-900E-F89C8BC852C5}"/>
              </a:ext>
            </a:extLst>
          </p:cNvPr>
          <p:cNvSpPr txBox="1"/>
          <p:nvPr/>
        </p:nvSpPr>
        <p:spPr>
          <a:xfrm>
            <a:off x="2788920" y="1759328"/>
            <a:ext cx="2240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Image tensor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95A559-5AE0-8C36-B024-B496DBFB9D39}"/>
              </a:ext>
            </a:extLst>
          </p:cNvPr>
          <p:cNvSpPr txBox="1"/>
          <p:nvPr/>
        </p:nvSpPr>
        <p:spPr>
          <a:xfrm>
            <a:off x="2788920" y="2212402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[3, 640, 640] f32</a:t>
            </a:r>
          </a:p>
        </p:txBody>
      </p:sp>
      <p:cxnSp>
        <p:nvCxnSpPr>
          <p:cNvPr id="13" name="Connector 14">
            <a:extLst>
              <a:ext uri="{FF2B5EF4-FFF2-40B4-BE49-F238E27FC236}">
                <a16:creationId xmlns:a16="http://schemas.microsoft.com/office/drawing/2014/main" id="{CF83DD69-383F-A080-7FD9-1B3846942AFE}"/>
              </a:ext>
            </a:extLst>
          </p:cNvPr>
          <p:cNvCxnSpPr>
            <a:cxnSpLocks/>
          </p:cNvCxnSpPr>
          <p:nvPr/>
        </p:nvCxnSpPr>
        <p:spPr>
          <a:xfrm>
            <a:off x="5029200" y="2176719"/>
            <a:ext cx="91440" cy="0"/>
          </a:xfrm>
          <a:prstGeom prst="line">
            <a:avLst/>
          </a:prstGeom>
          <a:ln w="19050">
            <a:solidFill>
              <a:srgbClr val="1A1F2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B636C02-54BF-39C6-AEAA-6B75ED289B03}"/>
              </a:ext>
            </a:extLst>
          </p:cNvPr>
          <p:cNvSpPr/>
          <p:nvPr/>
        </p:nvSpPr>
        <p:spPr>
          <a:xfrm>
            <a:off x="5120640" y="1628079"/>
            <a:ext cx="2240280" cy="1097280"/>
          </a:xfrm>
          <a:prstGeom prst="roundRect">
            <a:avLst/>
          </a:prstGeom>
          <a:solidFill>
            <a:srgbClr val="F58A1F"/>
          </a:solidFill>
          <a:ln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06735E-C4FC-31E9-C353-0C6BEFFD3CD1}"/>
              </a:ext>
            </a:extLst>
          </p:cNvPr>
          <p:cNvSpPr txBox="1"/>
          <p:nvPr/>
        </p:nvSpPr>
        <p:spPr>
          <a:xfrm>
            <a:off x="5120640" y="1759328"/>
            <a:ext cx="2240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Feature tensor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7A695-2100-A61C-EA58-627F71921E27}"/>
              </a:ext>
            </a:extLst>
          </p:cNvPr>
          <p:cNvSpPr txBox="1"/>
          <p:nvPr/>
        </p:nvSpPr>
        <p:spPr>
          <a:xfrm>
            <a:off x="5120640" y="2212402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[128, 40, 40] f32</a:t>
            </a:r>
          </a:p>
        </p:txBody>
      </p:sp>
      <p:cxnSp>
        <p:nvCxnSpPr>
          <p:cNvPr id="17" name="Connector 18">
            <a:extLst>
              <a:ext uri="{FF2B5EF4-FFF2-40B4-BE49-F238E27FC236}">
                <a16:creationId xmlns:a16="http://schemas.microsoft.com/office/drawing/2014/main" id="{F5F336BA-E7C7-AA77-175C-FD6E5FD4EC2A}"/>
              </a:ext>
            </a:extLst>
          </p:cNvPr>
          <p:cNvCxnSpPr>
            <a:cxnSpLocks/>
          </p:cNvCxnSpPr>
          <p:nvPr/>
        </p:nvCxnSpPr>
        <p:spPr>
          <a:xfrm>
            <a:off x="7360920" y="2176719"/>
            <a:ext cx="91440" cy="0"/>
          </a:xfrm>
          <a:prstGeom prst="line">
            <a:avLst/>
          </a:prstGeom>
          <a:ln w="19050">
            <a:solidFill>
              <a:srgbClr val="1A1F2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78506A9-56E4-DC2B-68A5-D58DBBC8B5E4}"/>
              </a:ext>
            </a:extLst>
          </p:cNvPr>
          <p:cNvSpPr/>
          <p:nvPr/>
        </p:nvSpPr>
        <p:spPr>
          <a:xfrm>
            <a:off x="7452359" y="1628079"/>
            <a:ext cx="2240280" cy="1097280"/>
          </a:xfrm>
          <a:prstGeom prst="roundRect">
            <a:avLst/>
          </a:prstGeom>
          <a:solidFill>
            <a:srgbClr val="0B3D91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CE5B53-2D36-4876-C4B6-0F7823AD0F9B}"/>
              </a:ext>
            </a:extLst>
          </p:cNvPr>
          <p:cNvSpPr txBox="1"/>
          <p:nvPr/>
        </p:nvSpPr>
        <p:spPr>
          <a:xfrm>
            <a:off x="7452359" y="1759328"/>
            <a:ext cx="2240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Quantized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982901-988F-15CB-EF7B-B516D5888DC0}"/>
              </a:ext>
            </a:extLst>
          </p:cNvPr>
          <p:cNvSpPr txBox="1"/>
          <p:nvPr/>
        </p:nvSpPr>
        <p:spPr>
          <a:xfrm>
            <a:off x="7452359" y="2212402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[128, 40, 40] u8</a:t>
            </a:r>
          </a:p>
        </p:txBody>
      </p:sp>
      <p:cxnSp>
        <p:nvCxnSpPr>
          <p:cNvPr id="21" name="Connector 22">
            <a:extLst>
              <a:ext uri="{FF2B5EF4-FFF2-40B4-BE49-F238E27FC236}">
                <a16:creationId xmlns:a16="http://schemas.microsoft.com/office/drawing/2014/main" id="{317400EA-D1BE-0BEB-336F-EEA85FBA1AA8}"/>
              </a:ext>
            </a:extLst>
          </p:cNvPr>
          <p:cNvCxnSpPr>
            <a:cxnSpLocks/>
          </p:cNvCxnSpPr>
          <p:nvPr/>
        </p:nvCxnSpPr>
        <p:spPr>
          <a:xfrm>
            <a:off x="9692639" y="2176719"/>
            <a:ext cx="91440" cy="0"/>
          </a:xfrm>
          <a:prstGeom prst="line">
            <a:avLst/>
          </a:prstGeom>
          <a:ln w="19050">
            <a:solidFill>
              <a:srgbClr val="1A1F2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E73CBC2-FFC3-2528-8124-34719BEB7E92}"/>
              </a:ext>
            </a:extLst>
          </p:cNvPr>
          <p:cNvSpPr/>
          <p:nvPr/>
        </p:nvSpPr>
        <p:spPr>
          <a:xfrm>
            <a:off x="9784080" y="1628079"/>
            <a:ext cx="2240280" cy="1097280"/>
          </a:xfrm>
          <a:prstGeom prst="roundRect">
            <a:avLst/>
          </a:prstGeom>
          <a:solidFill>
            <a:srgbClr val="F58A1F"/>
          </a:solidFill>
          <a:ln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EDF9A1-F35B-EA79-E437-E903388EC4AC}"/>
              </a:ext>
            </a:extLst>
          </p:cNvPr>
          <p:cNvSpPr txBox="1"/>
          <p:nvPr/>
        </p:nvSpPr>
        <p:spPr>
          <a:xfrm>
            <a:off x="9784080" y="1759328"/>
            <a:ext cx="2240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Tiled feature image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BB483F-79C4-6EE5-A523-FEE7CFBF52AE}"/>
              </a:ext>
            </a:extLst>
          </p:cNvPr>
          <p:cNvSpPr txBox="1"/>
          <p:nvPr/>
        </p:nvSpPr>
        <p:spPr>
          <a:xfrm>
            <a:off x="9784080" y="2212402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[320, 640] u8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D45B80A-D279-4099-863E-5FE509037AFE}"/>
              </a:ext>
            </a:extLst>
          </p:cNvPr>
          <p:cNvSpPr/>
          <p:nvPr/>
        </p:nvSpPr>
        <p:spPr>
          <a:xfrm>
            <a:off x="457200" y="3091119"/>
            <a:ext cx="11247120" cy="594360"/>
          </a:xfrm>
          <a:prstGeom prst="roundRect">
            <a:avLst/>
          </a:prstGeom>
          <a:solidFill>
            <a:srgbClr val="1A1F29"/>
          </a:solidFill>
          <a:ln>
            <a:solidFill>
              <a:srgbClr val="1A1F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F77C3B-B161-802B-5F91-D52EE27E20E6}"/>
              </a:ext>
            </a:extLst>
          </p:cNvPr>
          <p:cNvSpPr txBox="1"/>
          <p:nvPr/>
        </p:nvSpPr>
        <p:spPr>
          <a:xfrm>
            <a:off x="457200" y="3249800"/>
            <a:ext cx="112471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⇅   Network transmission  (metadata + feature image,  best-effort or channel-coded link)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CFB139-181B-6342-8A22-AA3B766983E2}"/>
              </a:ext>
            </a:extLst>
          </p:cNvPr>
          <p:cNvSpPr txBox="1"/>
          <p:nvPr/>
        </p:nvSpPr>
        <p:spPr>
          <a:xfrm>
            <a:off x="457200" y="3914079"/>
            <a:ext cx="112471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0B3D91"/>
                </a:solidFill>
                <a:latin typeface="Calibri"/>
              </a:rPr>
              <a:t>SERVER  (edge / cloud)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B917128-B25D-869B-4222-23E47C28695A}"/>
              </a:ext>
            </a:extLst>
          </p:cNvPr>
          <p:cNvSpPr/>
          <p:nvPr/>
        </p:nvSpPr>
        <p:spPr>
          <a:xfrm>
            <a:off x="457200" y="4325559"/>
            <a:ext cx="2240280" cy="1097280"/>
          </a:xfrm>
          <a:prstGeom prst="roundRect">
            <a:avLst/>
          </a:prstGeom>
          <a:solidFill>
            <a:srgbClr val="F58A1F"/>
          </a:solidFill>
          <a:ln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4DA6D9-6610-EFE8-1AFB-8678AE11EA63}"/>
              </a:ext>
            </a:extLst>
          </p:cNvPr>
          <p:cNvSpPr txBox="1"/>
          <p:nvPr/>
        </p:nvSpPr>
        <p:spPr>
          <a:xfrm>
            <a:off x="457200" y="4456808"/>
            <a:ext cx="2240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Tiled feature image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553B31-B965-1F09-4957-008076D414BE}"/>
              </a:ext>
            </a:extLst>
          </p:cNvPr>
          <p:cNvSpPr txBox="1"/>
          <p:nvPr/>
        </p:nvSpPr>
        <p:spPr>
          <a:xfrm>
            <a:off x="457200" y="4909882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[320, 640] u8</a:t>
            </a:r>
          </a:p>
        </p:txBody>
      </p:sp>
      <p:cxnSp>
        <p:nvCxnSpPr>
          <p:cNvPr id="31" name="Connector 32">
            <a:extLst>
              <a:ext uri="{FF2B5EF4-FFF2-40B4-BE49-F238E27FC236}">
                <a16:creationId xmlns:a16="http://schemas.microsoft.com/office/drawing/2014/main" id="{399FFFAA-46B8-156E-D4A2-FDE34CD39051}"/>
              </a:ext>
            </a:extLst>
          </p:cNvPr>
          <p:cNvCxnSpPr>
            <a:cxnSpLocks/>
          </p:cNvCxnSpPr>
          <p:nvPr/>
        </p:nvCxnSpPr>
        <p:spPr>
          <a:xfrm>
            <a:off x="2697480" y="4874199"/>
            <a:ext cx="91440" cy="0"/>
          </a:xfrm>
          <a:prstGeom prst="line">
            <a:avLst/>
          </a:prstGeom>
          <a:ln w="19050">
            <a:solidFill>
              <a:srgbClr val="1A1F2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E10706E-7539-76A5-21B8-AA3AE885D3B7}"/>
              </a:ext>
            </a:extLst>
          </p:cNvPr>
          <p:cNvSpPr/>
          <p:nvPr/>
        </p:nvSpPr>
        <p:spPr>
          <a:xfrm>
            <a:off x="2788920" y="4325559"/>
            <a:ext cx="2240280" cy="1097280"/>
          </a:xfrm>
          <a:prstGeom prst="roundRect">
            <a:avLst/>
          </a:prstGeom>
          <a:solidFill>
            <a:srgbClr val="0B3D91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84147E-F71B-6088-CC7A-957CC5620376}"/>
              </a:ext>
            </a:extLst>
          </p:cNvPr>
          <p:cNvSpPr txBox="1"/>
          <p:nvPr/>
        </p:nvSpPr>
        <p:spPr>
          <a:xfrm>
            <a:off x="2788920" y="4456808"/>
            <a:ext cx="2240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Unflipped + untiled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9A08D5-CD4E-8BB0-24A5-A65C75E2154E}"/>
              </a:ext>
            </a:extLst>
          </p:cNvPr>
          <p:cNvSpPr txBox="1"/>
          <p:nvPr/>
        </p:nvSpPr>
        <p:spPr>
          <a:xfrm>
            <a:off x="2788920" y="4909882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[128, 40, 40] u8</a:t>
            </a:r>
          </a:p>
        </p:txBody>
      </p:sp>
      <p:cxnSp>
        <p:nvCxnSpPr>
          <p:cNvPr id="35" name="Connector 36">
            <a:extLst>
              <a:ext uri="{FF2B5EF4-FFF2-40B4-BE49-F238E27FC236}">
                <a16:creationId xmlns:a16="http://schemas.microsoft.com/office/drawing/2014/main" id="{BD1B0837-34C3-78F7-0D3B-B0A4B196C14C}"/>
              </a:ext>
            </a:extLst>
          </p:cNvPr>
          <p:cNvCxnSpPr>
            <a:cxnSpLocks/>
          </p:cNvCxnSpPr>
          <p:nvPr/>
        </p:nvCxnSpPr>
        <p:spPr>
          <a:xfrm>
            <a:off x="5029200" y="4874199"/>
            <a:ext cx="91440" cy="0"/>
          </a:xfrm>
          <a:prstGeom prst="line">
            <a:avLst/>
          </a:prstGeom>
          <a:ln w="19050">
            <a:solidFill>
              <a:srgbClr val="1A1F2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258E1BA-5A4D-DC70-62CC-A7691A650E8F}"/>
              </a:ext>
            </a:extLst>
          </p:cNvPr>
          <p:cNvSpPr/>
          <p:nvPr/>
        </p:nvSpPr>
        <p:spPr>
          <a:xfrm>
            <a:off x="5120640" y="4325559"/>
            <a:ext cx="2240280" cy="1097280"/>
          </a:xfrm>
          <a:prstGeom prst="roundRect">
            <a:avLst/>
          </a:prstGeom>
          <a:solidFill>
            <a:srgbClr val="F58A1F"/>
          </a:solidFill>
          <a:ln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D58C34-114B-54A7-CCCB-D69848DA9781}"/>
              </a:ext>
            </a:extLst>
          </p:cNvPr>
          <p:cNvSpPr txBox="1"/>
          <p:nvPr/>
        </p:nvSpPr>
        <p:spPr>
          <a:xfrm>
            <a:off x="5120640" y="4456808"/>
            <a:ext cx="2240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Dequantized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680E1E-65FC-5994-BB3D-FBA3F92E30A6}"/>
              </a:ext>
            </a:extLst>
          </p:cNvPr>
          <p:cNvSpPr txBox="1"/>
          <p:nvPr/>
        </p:nvSpPr>
        <p:spPr>
          <a:xfrm>
            <a:off x="5120640" y="4909882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[128, 40, 40] f32</a:t>
            </a:r>
          </a:p>
        </p:txBody>
      </p:sp>
      <p:cxnSp>
        <p:nvCxnSpPr>
          <p:cNvPr id="39" name="Connector 40">
            <a:extLst>
              <a:ext uri="{FF2B5EF4-FFF2-40B4-BE49-F238E27FC236}">
                <a16:creationId xmlns:a16="http://schemas.microsoft.com/office/drawing/2014/main" id="{31A5FD82-9E71-E983-FB8D-2611852DCF93}"/>
              </a:ext>
            </a:extLst>
          </p:cNvPr>
          <p:cNvCxnSpPr>
            <a:cxnSpLocks/>
          </p:cNvCxnSpPr>
          <p:nvPr/>
        </p:nvCxnSpPr>
        <p:spPr>
          <a:xfrm>
            <a:off x="7360920" y="4874199"/>
            <a:ext cx="91440" cy="0"/>
          </a:xfrm>
          <a:prstGeom prst="line">
            <a:avLst/>
          </a:prstGeom>
          <a:ln w="19050">
            <a:solidFill>
              <a:srgbClr val="1A1F2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E38F066-3219-3FB1-B0C6-E3E9182043B1}"/>
              </a:ext>
            </a:extLst>
          </p:cNvPr>
          <p:cNvSpPr/>
          <p:nvPr/>
        </p:nvSpPr>
        <p:spPr>
          <a:xfrm>
            <a:off x="7452359" y="4325559"/>
            <a:ext cx="2240280" cy="1097280"/>
          </a:xfrm>
          <a:prstGeom prst="roundRect">
            <a:avLst/>
          </a:prstGeom>
          <a:solidFill>
            <a:srgbClr val="0B3D91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D31CE8-D722-F6AB-D4D4-637C9CFB2D0F}"/>
              </a:ext>
            </a:extLst>
          </p:cNvPr>
          <p:cNvSpPr txBox="1"/>
          <p:nvPr/>
        </p:nvSpPr>
        <p:spPr>
          <a:xfrm>
            <a:off x="7452359" y="4456808"/>
            <a:ext cx="2240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Model back half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F69FEA-2FE0-3BCA-97B5-935EC0D2FB7A}"/>
              </a:ext>
            </a:extLst>
          </p:cNvPr>
          <p:cNvSpPr txBox="1"/>
          <p:nvPr/>
        </p:nvSpPr>
        <p:spPr>
          <a:xfrm>
            <a:off x="7452359" y="4909882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raw preds [N, 85]</a:t>
            </a:r>
          </a:p>
        </p:txBody>
      </p:sp>
      <p:cxnSp>
        <p:nvCxnSpPr>
          <p:cNvPr id="43" name="Connector 44">
            <a:extLst>
              <a:ext uri="{FF2B5EF4-FFF2-40B4-BE49-F238E27FC236}">
                <a16:creationId xmlns:a16="http://schemas.microsoft.com/office/drawing/2014/main" id="{41201C8F-BEAA-993C-48E8-CD594931F098}"/>
              </a:ext>
            </a:extLst>
          </p:cNvPr>
          <p:cNvCxnSpPr>
            <a:cxnSpLocks/>
          </p:cNvCxnSpPr>
          <p:nvPr/>
        </p:nvCxnSpPr>
        <p:spPr>
          <a:xfrm>
            <a:off x="9692639" y="4874199"/>
            <a:ext cx="91440" cy="0"/>
          </a:xfrm>
          <a:prstGeom prst="line">
            <a:avLst/>
          </a:prstGeom>
          <a:ln w="19050">
            <a:solidFill>
              <a:srgbClr val="1A1F2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78B7FD4E-72D1-69EE-AE87-20AC8C643C88}"/>
              </a:ext>
            </a:extLst>
          </p:cNvPr>
          <p:cNvSpPr/>
          <p:nvPr/>
        </p:nvSpPr>
        <p:spPr>
          <a:xfrm>
            <a:off x="9784080" y="4325559"/>
            <a:ext cx="2240280" cy="1097280"/>
          </a:xfrm>
          <a:prstGeom prst="roundRect">
            <a:avLst/>
          </a:prstGeom>
          <a:solidFill>
            <a:srgbClr val="2E8B57"/>
          </a:solidFill>
          <a:ln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C54C79-149D-E215-9644-8A5600B327D6}"/>
              </a:ext>
            </a:extLst>
          </p:cNvPr>
          <p:cNvSpPr txBox="1"/>
          <p:nvPr/>
        </p:nvSpPr>
        <p:spPr>
          <a:xfrm>
            <a:off x="9784080" y="4456808"/>
            <a:ext cx="2240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Detections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BC7904-AF3B-EC8D-8840-C1D0649DBB73}"/>
              </a:ext>
            </a:extLst>
          </p:cNvPr>
          <p:cNvSpPr txBox="1"/>
          <p:nvPr/>
        </p:nvSpPr>
        <p:spPr>
          <a:xfrm>
            <a:off x="9784080" y="4909883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labels, scores, boxes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6BBF44EB-F69C-5A83-B75B-DB80A7E01A81}"/>
              </a:ext>
            </a:extLst>
          </p:cNvPr>
          <p:cNvSpPr/>
          <p:nvPr/>
        </p:nvSpPr>
        <p:spPr>
          <a:xfrm>
            <a:off x="457200" y="5788599"/>
            <a:ext cx="11247120" cy="502920"/>
          </a:xfrm>
          <a:prstGeom prst="roundRect">
            <a:avLst/>
          </a:prstGeom>
          <a:solidFill>
            <a:srgbClr val="2E8B57"/>
          </a:solidFill>
          <a:ln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632F38-F7F7-ED2E-6933-F423AAD36F75}"/>
              </a:ext>
            </a:extLst>
          </p:cNvPr>
          <p:cNvSpPr txBox="1"/>
          <p:nvPr/>
        </p:nvSpPr>
        <p:spPr>
          <a:xfrm>
            <a:off x="457200" y="5901560"/>
            <a:ext cx="112471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⇨   Detections returned to client   →   overlay drawn on the original frame</a:t>
            </a:r>
          </a:p>
        </p:txBody>
      </p:sp>
    </p:spTree>
    <p:extLst>
      <p:ext uri="{BB962C8B-B14F-4D97-AF65-F5344CB8AC3E}">
        <p14:creationId xmlns:p14="http://schemas.microsoft.com/office/powerpoint/2010/main" val="3971968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terDigital 2025">
      <a:dk1>
        <a:srgbClr val="000000"/>
      </a:dk1>
      <a:lt1>
        <a:srgbClr val="FFFFFF"/>
      </a:lt1>
      <a:dk2>
        <a:srgbClr val="49515C"/>
      </a:dk2>
      <a:lt2>
        <a:srgbClr val="E6E6E7"/>
      </a:lt2>
      <a:accent1>
        <a:srgbClr val="00A8EC"/>
      </a:accent1>
      <a:accent2>
        <a:srgbClr val="010644"/>
      </a:accent2>
      <a:accent3>
        <a:srgbClr val="FFAA59"/>
      </a:accent3>
      <a:accent4>
        <a:srgbClr val="00C9C8"/>
      </a:accent4>
      <a:accent5>
        <a:srgbClr val="0A5C93"/>
      </a:accent5>
      <a:accent6>
        <a:srgbClr val="EAEAEA"/>
      </a:accent6>
      <a:hlink>
        <a:srgbClr val="FF2600"/>
      </a:hlink>
      <a:folHlink>
        <a:srgbClr val="94110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CF9954D5AB6945828F027E396CA445" ma:contentTypeVersion="11" ma:contentTypeDescription="Create a new document." ma:contentTypeScope="" ma:versionID="2ef65cde2d5f29eee21a6629a885c095">
  <xsd:schema xmlns:xsd="http://www.w3.org/2001/XMLSchema" xmlns:xs="http://www.w3.org/2001/XMLSchema" xmlns:p="http://schemas.microsoft.com/office/2006/metadata/properties" xmlns:ns2="20b79b83-282a-48a4-8b11-d2f1e9738bf4" xmlns:ns3="7bf61442-66cb-4687-bffc-ed5ce47e21af" targetNamespace="http://schemas.microsoft.com/office/2006/metadata/properties" ma:root="true" ma:fieldsID="764775fcc59905e67ee3fd51340fb9eb" ns2:_="" ns3:_="">
    <xsd:import namespace="20b79b83-282a-48a4-8b11-d2f1e9738bf4"/>
    <xsd:import namespace="7bf61442-66cb-4687-bffc-ed5ce47e2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b79b83-282a-48a4-8b11-d2f1e9738b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d049dfe-3525-43e5-8f81-1f102b2aa2d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f61442-66cb-4687-bffc-ed5ce47e21a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f850763-b517-4bed-8818-720ed6db0fd1}" ma:internalName="TaxCatchAll" ma:showField="CatchAllData" ma:web="7bf61442-66cb-4687-bffc-ed5ce47e21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f61442-66cb-4687-bffc-ed5ce47e21af" xsi:nil="true"/>
    <lcf76f155ced4ddcb4097134ff3c332f xmlns="20b79b83-282a-48a4-8b11-d2f1e9738bf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5A176D-38B3-4B8C-8AFD-BF67C28357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b79b83-282a-48a4-8b11-d2f1e9738bf4"/>
    <ds:schemaRef ds:uri="7bf61442-66cb-4687-bffc-ed5ce47e21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159B47B-601D-4A51-9E8F-1BAD8C91089B}">
  <ds:schemaRefs>
    <ds:schemaRef ds:uri="http://schemas.microsoft.com/office/infopath/2007/PartnerControls"/>
    <ds:schemaRef ds:uri="20b79b83-282a-48a4-8b11-d2f1e9738bf4"/>
    <ds:schemaRef ds:uri="http://schemas.microsoft.com/office/2006/metadata/properties"/>
    <ds:schemaRef ds:uri="http://purl.org/dc/dcmitype/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7bf61442-66cb-4687-bffc-ed5ce47e21af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6F60046-53DC-46F4-9EAC-88D5EDFFB0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32788</TotalTime>
  <Words>2080</Words>
  <Application>Microsoft Office PowerPoint</Application>
  <PresentationFormat>Widescreen</PresentationFormat>
  <Paragraphs>204</Paragraphs>
  <Slides>13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Split Inferencing and Feature Compression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Ashley Macri</dc:creator>
  <cp:lastModifiedBy>Subhramoy Mohanti</cp:lastModifiedBy>
  <cp:revision>15</cp:revision>
  <dcterms:created xsi:type="dcterms:W3CDTF">2024-11-25T19:29:43Z</dcterms:created>
  <dcterms:modified xsi:type="dcterms:W3CDTF">2026-05-18T18:13:29Z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d2f777e-4347-4fc6-823a-b44ab313546a_Enabled">
    <vt:lpwstr>true</vt:lpwstr>
  </property>
  <property fmtid="{D5CDD505-2E9C-101B-9397-08002B2CF9AE}" pid="3" name="MSIP_Label_4d2f777e-4347-4fc6-823a-b44ab313546a_Method">
    <vt:lpwstr>Standard</vt:lpwstr>
  </property>
  <property fmtid="{D5CDD505-2E9C-101B-9397-08002B2CF9AE}" pid="4" name="MSIP_Label_4d2f777e-4347-4fc6-823a-b44ab313546a_Name">
    <vt:lpwstr>Non-Public</vt:lpwstr>
  </property>
  <property fmtid="{D5CDD505-2E9C-101B-9397-08002B2CF9AE}" pid="5" name="MSIP_Label_4d2f777e-4347-4fc6-823a-b44ab313546a_SiteId">
    <vt:lpwstr>e351b779-f6d5-4e50-8568-80e922d180ae</vt:lpwstr>
  </property>
  <property fmtid="{D5CDD505-2E9C-101B-9397-08002B2CF9AE}" pid="6" name="MSIP_Label_4d2f777e-4347-4fc6-823a-b44ab313546a_ActionId">
    <vt:lpwstr>a66c6c6e-8805-4e12-9ad4-bf37574d2de0</vt:lpwstr>
  </property>
  <property fmtid="{D5CDD505-2E9C-101B-9397-08002B2CF9AE}" pid="7" name="MSIP_Label_4d2f777e-4347-4fc6-823a-b44ab313546a_ContentBits">
    <vt:lpwstr>0</vt:lpwstr>
  </property>
  <property fmtid="{D5CDD505-2E9C-101B-9397-08002B2CF9AE}" pid="8" name="ContentTypeId">
    <vt:lpwstr>0x010100C8CF9954D5AB6945828F027E396CA445</vt:lpwstr>
  </property>
  <property fmtid="{D5CDD505-2E9C-101B-9397-08002B2CF9AE}" pid="9" name="MSIP_Label_4d2f777e-4347-4fc6-823a-b44ab313546a_Tag">
    <vt:lpwstr>10, 3, 0, 2</vt:lpwstr>
  </property>
  <property fmtid="{D5CDD505-2E9C-101B-9397-08002B2CF9AE}" pid="10" name="MSIP_Label_4d2f777e-4347-4fc6-823a-b44ab313546a_SetDate">
    <vt:lpwstr>2025-04-02T17:35:04Z</vt:lpwstr>
  </property>
  <property fmtid="{D5CDD505-2E9C-101B-9397-08002B2CF9AE}" pid="11" name="MediaServiceImageTags">
    <vt:lpwstr/>
  </property>
</Properties>
</file>