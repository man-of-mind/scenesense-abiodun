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Camera-only OD vs SEG latency over loopback and OAI 5G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7381"/>
                </a:solidFill>
              </a:defRPr>
            </a:pPr>
            <a:r>
              <a:t>Month 1 latency-only split-inference runs; task GT disabled during these traces.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423160" cy="1143000"/>
          </a:xfrm>
          <a:prstGeom prst="rect">
            <a:avLst/>
          </a:prstGeom>
          <a:solidFill>
            <a:srgbClr val="F3F6F8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>
              <a:defRPr sz="1100">
                <a:solidFill>
                  <a:srgbClr val="637381"/>
                </a:solidFill>
              </a:defRPr>
            </a:pPr>
            <a:r>
              <a:t>OD OAI median RTT</a:t>
            </a:r>
          </a:p>
          <a:p>
            <a:pPr>
              <a:defRPr sz="2400" b="1">
                <a:solidFill>
                  <a:srgbClr val="D56A21"/>
                </a:solidFill>
              </a:defRPr>
            </a:pPr>
            <a:r>
              <a:t>74.9 ms</a:t>
            </a:r>
          </a:p>
          <a:p>
            <a:pPr>
              <a:defRPr sz="1000">
                <a:solidFill>
                  <a:srgbClr val="637381"/>
                </a:solidFill>
              </a:defRPr>
            </a:pPr>
            <a:r>
              <a:t>+66.7 ms vs loopback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325880"/>
            <a:ext cx="2423160" cy="1143000"/>
          </a:xfrm>
          <a:prstGeom prst="rect">
            <a:avLst/>
          </a:prstGeom>
          <a:solidFill>
            <a:srgbClr val="F3F6F8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>
              <a:defRPr sz="1100">
                <a:solidFill>
                  <a:srgbClr val="637381"/>
                </a:solidFill>
              </a:defRPr>
            </a:pPr>
            <a:r>
              <a:t>SEG OAI median RTT</a:t>
            </a:r>
          </a:p>
          <a:p>
            <a:pPr>
              <a:defRPr sz="2400" b="1">
                <a:solidFill>
                  <a:srgbClr val="B23A48"/>
                </a:solidFill>
              </a:defRPr>
            </a:pPr>
            <a:r>
              <a:t>107.9 ms</a:t>
            </a:r>
          </a:p>
          <a:p>
            <a:pPr>
              <a:defRPr sz="1000">
                <a:solidFill>
                  <a:srgbClr val="637381"/>
                </a:solidFill>
              </a:defRPr>
            </a:pPr>
            <a:r>
              <a:t>+94.5 ms vs loopback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25880"/>
            <a:ext cx="2423160" cy="1143000"/>
          </a:xfrm>
          <a:prstGeom prst="rect">
            <a:avLst/>
          </a:prstGeom>
          <a:solidFill>
            <a:srgbClr val="F3F6F8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>
              <a:defRPr sz="1100">
                <a:solidFill>
                  <a:srgbClr val="637381"/>
                </a:solidFill>
              </a:defRPr>
            </a:pPr>
            <a:r>
              <a:t>SEG / OD payload</a:t>
            </a:r>
          </a:p>
          <a:p>
            <a:pPr>
              <a:defRPr sz="2400" b="1">
                <a:solidFill>
                  <a:srgbClr val="007C89"/>
                </a:solidFill>
              </a:defRPr>
            </a:pPr>
            <a:r>
              <a:t>4.6x</a:t>
            </a:r>
          </a:p>
          <a:p>
            <a:pPr>
              <a:defRPr sz="1000">
                <a:solidFill>
                  <a:srgbClr val="637381"/>
                </a:solidFill>
              </a:defRPr>
            </a:pPr>
            <a:r>
              <a:t>median feature payload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960" y="1325880"/>
            <a:ext cx="2423160" cy="1143000"/>
          </a:xfrm>
          <a:prstGeom prst="rect">
            <a:avLst/>
          </a:prstGeom>
          <a:solidFill>
            <a:srgbClr val="F3F6F8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>
              <a:defRPr sz="1100">
                <a:solidFill>
                  <a:srgbClr val="637381"/>
                </a:solidFill>
              </a:defRPr>
            </a:pPr>
            <a:r>
              <a:t>Runs</a:t>
            </a:r>
          </a:p>
          <a:p>
            <a:pPr>
              <a:defRPr sz="2400" b="1">
                <a:solidFill>
                  <a:srgbClr val="3D7A46"/>
                </a:solidFill>
              </a:defRPr>
            </a:pPr>
            <a:r>
              <a:t>4 x ~180s</a:t>
            </a:r>
          </a:p>
          <a:p>
            <a:pPr>
              <a:defRPr sz="1000">
                <a:solidFill>
                  <a:srgbClr val="637381"/>
                </a:solidFill>
              </a:defRPr>
            </a:pPr>
            <a:r>
              <a:t>OD/SEG over loopback/OAI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52120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02A33"/>
                </a:solidFill>
              </a:defRPr>
            </a:pPr>
            <a:r>
              <a:t>Same front/back split pattern as the fusion OAI comparison, now isolated to camera-only OD and camera-only SEG.</a:t>
            </a:r>
          </a:p>
          <a:p>
            <a:pPr>
              <a:spcAft>
                <a:spcPts val="700"/>
              </a:spcAft>
              <a:defRPr sz="1700">
                <a:solidFill>
                  <a:srgbClr val="202A33"/>
                </a:solidFill>
              </a:defRPr>
            </a:pPr>
            <a:r>
              <a:t>OD sends compact Faster R-CNN backbone features at 720p; SEG sends denser LR-ASPP features from the 1080p camera route.</a:t>
            </a:r>
          </a:p>
          <a:p>
            <a:pPr>
              <a:spcAft>
                <a:spcPts val="700"/>
              </a:spcAft>
              <a:defRPr sz="1700">
                <a:solidFill>
                  <a:srgbClr val="202A33"/>
                </a:solidFill>
              </a:defRPr>
            </a:pPr>
            <a:r>
              <a:t>OAI increases RTT for both tasks; the larger SEG payload makes the OAI penalty more visible.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743200"/>
          <a:ext cx="512063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572"/>
                <a:gridCol w="3738067"/>
              </a:tblGrid>
              <a:tr h="403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RAN mode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NR SA over OAI RFsim, single UE for OD/SEG latency runs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Carrier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band n78, DL 3.6192 GHz, 106 PRB at 30 kHz SCS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Bandwidth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106 PRB = about 40 MHz channel class (38.16 MHz RB span)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TDD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5 ms: 7 DL slots + mixed slot (6 DL sym, 4 UL sym) + 2 UL slots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Core QoS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DNN oai, S-NSSAI SST=1, 5QI=9, AMBR UL/DL 10Gbps/10Gbps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UE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IMSI 001010000000001, oaitun_ue1 10.0.0.2 -&gt; perception RX 192.168.70.140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98932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defRPr sz="1200" b="0">
                <a:solidFill>
                  <a:srgbClr val="637381"/>
                </a:solidFill>
              </a:defRPr>
            </a:pPr>
            <a:r>
              <a:t>Interpretation: these traces measure transport/runtime behavior. OD/SEG task-quality numbers are taken from separate GT-enabled runs.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Round-Trip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7381"/>
                </a:solidFill>
              </a:defRPr>
            </a:pPr>
            <a:r>
              <a:t>Median and p95 feature-send-to-result-return latency.</a:t>
            </a:r>
          </a:p>
        </p:txBody>
      </p:sp>
      <p:pic>
        <p:nvPicPr>
          <p:cNvPr id="4" name="Picture 3" descr="camera_latency_rtt_median_p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72084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234440"/>
            <a:ext cx="379476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OD median RTT rises from 8.2 ms to 74.9 ms over OAI.</a:t>
            </a:r>
          </a:p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SEG median RTT rises from 13.4 ms to 107.9 ms over OAI.</a:t>
            </a:r>
          </a:p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SEG OAI p95 reaches 201.1 ms, the largest tail latency in this four-run comparison.</a:t>
            </a:r>
          </a:p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The OAI path is functional but not latency-neutral; it should be modeled as a control constraint.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Payload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7381"/>
                </a:solidFill>
              </a:defRPr>
            </a:pPr>
            <a:r>
              <a:t>Feature payload size and UDP chunk count explain why SEG stresses the link more.</a:t>
            </a:r>
          </a:p>
        </p:txBody>
      </p:sp>
      <p:pic>
        <p:nvPicPr>
          <p:cNvPr id="4" name="Picture 3" descr="camera_latency_payload_chu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53796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234440"/>
            <a:ext cx="38862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OD median payload is about 86.6 KiB and 2 chunks.</a:t>
            </a:r>
          </a:p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SEG median payload is about 397.9 KiB and 7 chunks.</a:t>
            </a:r>
          </a:p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That is roughly 4.6x larger than OD before any radio scheduling effects.</a:t>
            </a:r>
          </a:p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This gives the controller a clear task-dependent byte/latency tradeoff.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Latency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7381"/>
                </a:solidFill>
              </a:defRPr>
            </a:pPr>
            <a:r>
              <a:t>Median front compute plus split RTT components.</a:t>
            </a:r>
          </a:p>
        </p:txBody>
      </p:sp>
      <p:pic>
        <p:nvPicPr>
          <p:cNvPr id="4" name="Picture 3" descr="camera_latency_component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681228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234440"/>
            <a:ext cx="3749039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SEG front-side compute is higher than OD: 32.3 ms vs 12.1 ms in loopback.</a:t>
            </a:r>
          </a:p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Back-side segmentation compute is small; most SEG cost is feature extraction plus payload transport.</a:t>
            </a:r>
          </a:p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OAI adds a larger transport/wait residual than loopback for both tasks.</a:t>
            </a:r>
          </a:p>
          <a:p>
            <a:pPr>
              <a:spcAft>
                <a:spcPts val="700"/>
              </a:spcAft>
              <a:defRPr sz="1600">
                <a:solidFill>
                  <a:srgbClr val="202A33"/>
                </a:solidFill>
              </a:defRPr>
            </a:pPr>
            <a:r>
              <a:t>This decomposition supports an RL state with task type, payload size, RTT trend, and radio grant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Takeaway For Month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7381"/>
                </a:solidFill>
              </a:defRPr>
            </a:pPr>
            <a:r>
              <a:t>Camera-only OD/SEG now have the same latency story as fusion.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5532120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02A33"/>
                </a:solidFill>
              </a:defRPr>
            </a:pPr>
            <a:r>
              <a:t>Loopback establishes the compute/runtime floor for each task.</a:t>
            </a:r>
          </a:p>
          <a:p>
            <a:pPr>
              <a:spcAft>
                <a:spcPts val="700"/>
              </a:spcAft>
              <a:defRPr sz="1900">
                <a:solidFill>
                  <a:srgbClr val="202A33"/>
                </a:solidFill>
              </a:defRPr>
            </a:pPr>
            <a:r>
              <a:t>OAI adds a repeatable transport penalty, and the penalty grows with payload pressure.</a:t>
            </a:r>
          </a:p>
          <a:p>
            <a:pPr>
              <a:spcAft>
                <a:spcPts val="700"/>
              </a:spcAft>
              <a:defRPr sz="1900">
                <a:solidFill>
                  <a:srgbClr val="202A33"/>
                </a:solidFill>
              </a:defRPr>
            </a:pPr>
            <a:r>
              <a:t>SEG is not just a different model: it is a different network load class, with larger feature tensors and more UDP chunks.</a:t>
            </a:r>
          </a:p>
          <a:p>
            <a:pPr>
              <a:spcAft>
                <a:spcPts val="700"/>
              </a:spcAft>
              <a:defRPr sz="1900">
                <a:solidFill>
                  <a:srgbClr val="202A33"/>
                </a:solidFill>
              </a:defRPr>
            </a:pPr>
            <a:r>
              <a:t>Current core QoS is default 5QI 9 eMBB; this is a useful baseline before 5QI, scheduling, or action-policy experiments.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29400" y="1143000"/>
          <a:ext cx="4800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62"/>
                <a:gridCol w="3504438"/>
              </a:tblGrid>
              <a:tr h="7086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OD loopback/OAI and SEG loopback/OAI 180s latency traces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RTT median/p95, payload/chunks, front/back/transport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Quality tie-in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Use separate GT-enabled OD/SEG summaries for recall/mIoU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</a:defRPr>
                      </a:pPr>
                      <a:r>
                        <a:t>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A33"/>
                          </a:solidFill>
                        </a:defRPr>
                      </a:pPr>
                      <a:r>
                        <a:t>Pull raw CSVs for CDF/jitter plots; align with tunnel/RAN traces when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4343400"/>
            <a:ext cx="4800600" cy="82296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73152" rIns="73152" tIns="36576" bIns="36576" anchor="t">
            <a:spAutoFit/>
          </a:bodyPr>
          <a:lstStyle/>
          <a:p>
            <a:pPr>
              <a:defRPr sz="1500" b="1">
                <a:solidFill>
                  <a:srgbClr val="17324D"/>
                </a:solidFill>
              </a:defRPr>
            </a:pPr>
            <a:r>
              <a:t>Bottom line: task choice changes both model-side compute and network-side pressure, so the future controller should not treat OD, SEG, and fusion as one generic stream.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