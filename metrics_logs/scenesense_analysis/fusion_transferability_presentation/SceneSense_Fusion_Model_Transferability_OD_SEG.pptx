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1695" cy="6858000" type="wide"/>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Relationship Id="rId2" Type="http://schemas.openxmlformats.org/officeDocument/2006/relationships/image" Target="../media/image3.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Relationship Id="rId2" Type="http://schemas.openxmlformats.org/officeDocument/2006/relationships/image" Target="../media/image4.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Relationship Id="rId2" Type="http://schemas.openxmlformats.org/officeDocument/2006/relationships/image" Target="../media/image5.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94360" y="594360"/>
            <a:ext cx="10789920" cy="658368"/>
          </a:xfrm>
          <a:prstGeom prst="rect">
            <a:avLst/>
          </a:prstGeom>
          <a:noFill/>
          <a:ln>
            <a:noFill/>
          </a:ln>
        </p:spPr>
        <p:txBody>
          <a:bodyPr wrap="square" lIns="73152" rIns="73152" tIns="73152" bIns="73152">
            <a:spAutoFit/>
          </a:bodyPr>
          <a:lstStyle/>
          <a:p>
            <a:pPr algn="l"/>
            <a:r>
              <a:rPr lang="en-US" sz="3200" b="1">
                <a:solidFill>
                  <a:srgbClr val="17324D"/>
                </a:solidFill>
                <a:latin typeface="Aptos"/>
              </a:rPr>
              <a:t>SceneSense Fusion Model Transferability</a:t>
            </a:r>
          </a:p>
        </p:txBody>
      </p:sp>
      <p:sp>
        <p:nvSpPr>
          <p:cNvPr id="5" name="Shape 5"/>
          <p:cNvSpPr/>
          <p:nvPr/>
        </p:nvSpPr>
        <p:spPr>
          <a:xfrm>
            <a:off x="594360" y="1371600"/>
            <a:ext cx="1371600" cy="54864"/>
          </a:xfrm>
          <a:prstGeom prst="rect">
            <a:avLst/>
          </a:prstGeom>
          <a:solidFill>
            <a:srgbClr val="D56A21"/>
          </a:solidFill>
          <a:ln>
            <a:noFill/>
          </a:ln>
        </p:spPr>
      </p:sp>
      <p:sp>
        <p:nvSpPr>
          <p:cNvPr id="6" name="Text 6"/>
          <p:cNvSpPr txBox="1"/>
          <p:nvPr/>
        </p:nvSpPr>
        <p:spPr>
          <a:xfrm>
            <a:off x="594360" y="1664208"/>
            <a:ext cx="10241280" cy="475488"/>
          </a:xfrm>
          <a:prstGeom prst="rect">
            <a:avLst/>
          </a:prstGeom>
          <a:noFill/>
          <a:ln>
            <a:noFill/>
          </a:ln>
        </p:spPr>
        <p:txBody>
          <a:bodyPr wrap="square" lIns="73152" rIns="73152" tIns="73152" bIns="73152">
            <a:spAutoFit/>
          </a:bodyPr>
          <a:lstStyle/>
          <a:p>
            <a:pPr algn="l"/>
            <a:r>
              <a:rPr lang="en-US" sz="1700">
                <a:solidFill>
                  <a:srgbClr val="202A33"/>
                </a:solidFill>
                <a:latin typeface="Aptos"/>
              </a:rPr>
              <a:t>Traffic-light-pole-trained RGB+radar fusion model tested on parked ego-vehicle sensor placement</a:t>
            </a:r>
          </a:p>
        </p:txBody>
      </p:sp>
      <p:sp>
        <p:nvSpPr>
          <p:cNvPr id="7" name="Text 7"/>
          <p:cNvSpPr txBox="1"/>
          <p:nvPr/>
        </p:nvSpPr>
        <p:spPr>
          <a:xfrm>
            <a:off x="731520" y="2743200"/>
            <a:ext cx="2331720" cy="1143000"/>
          </a:xfrm>
          <a:prstGeom prst="roundRect">
            <a:avLst/>
          </a:prstGeom>
          <a:solidFill>
            <a:srgbClr val="F3F6F8"/>
          </a:solidFill>
          <a:ln w="9525">
            <a:solidFill>
              <a:srgbClr val="3D7A46"/>
            </a:solidFill>
          </a:ln>
        </p:spPr>
        <p:txBody>
          <a:bodyPr wrap="square" lIns="73152" rIns="73152" tIns="73152" bIns="73152">
            <a:spAutoFit/>
          </a:bodyPr>
          <a:lstStyle/>
          <a:p>
            <a:pPr algn="ctr"/>
            <a:r>
              <a:rPr lang="en-US" sz="1200">
                <a:solidFill>
                  <a:srgbClr val="202A33"/>
                </a:solidFill>
                <a:latin typeface="Aptos"/>
              </a:rPr>
              <a:t>97.0%</a:t>
            </a:r>
          </a:p>
          <a:p>
            <a:pPr algn="ctr"/>
            <a:r>
              <a:rPr lang="en-US" sz="1200">
                <a:solidFill>
                  <a:srgbClr val="202A33"/>
                </a:solidFill>
                <a:latin typeface="Aptos"/>
              </a:rPr>
              <a:t>SEG binary IoU retention</a:t>
            </a:r>
          </a:p>
          <a:p>
            <a:pPr algn="ctr"/>
            <a:r>
              <a:rPr lang="en-US" sz="1200">
                <a:solidFill>
                  <a:srgbClr val="202A33"/>
                </a:solidFill>
                <a:latin typeface="Aptos"/>
              </a:rPr>
              <a:t>parked ego / pole</a:t>
            </a:r>
          </a:p>
        </p:txBody>
      </p:sp>
      <p:sp>
        <p:nvSpPr>
          <p:cNvPr id="8" name="Text 8"/>
          <p:cNvSpPr txBox="1"/>
          <p:nvPr/>
        </p:nvSpPr>
        <p:spPr>
          <a:xfrm>
            <a:off x="3429000" y="2743200"/>
            <a:ext cx="2331720" cy="1143000"/>
          </a:xfrm>
          <a:prstGeom prst="roundRect">
            <a:avLst/>
          </a:prstGeom>
          <a:solidFill>
            <a:srgbClr val="F3F6F8"/>
          </a:solidFill>
          <a:ln w="9525">
            <a:solidFill>
              <a:srgbClr val="3D7A46"/>
            </a:solidFill>
          </a:ln>
        </p:spPr>
        <p:txBody>
          <a:bodyPr wrap="square" lIns="73152" rIns="73152" tIns="73152" bIns="73152">
            <a:spAutoFit/>
          </a:bodyPr>
          <a:lstStyle/>
          <a:p>
            <a:pPr algn="ctr"/>
            <a:r>
              <a:rPr lang="en-US" sz="1200">
                <a:solidFill>
                  <a:srgbClr val="202A33"/>
                </a:solidFill>
                <a:latin typeface="Aptos"/>
              </a:rPr>
              <a:t>64.4%</a:t>
            </a:r>
          </a:p>
          <a:p>
            <a:pPr algn="ctr"/>
            <a:r>
              <a:rPr lang="en-US" sz="1200">
                <a:solidFill>
                  <a:srgbClr val="202A33"/>
                </a:solidFill>
                <a:latin typeface="Aptos"/>
              </a:rPr>
              <a:t>SEG vehicle IoU retention</a:t>
            </a:r>
          </a:p>
          <a:p>
            <a:pPr algn="ctr"/>
            <a:r>
              <a:rPr lang="en-US" sz="1200">
                <a:solidFill>
                  <a:srgbClr val="202A33"/>
                </a:solidFill>
                <a:latin typeface="Aptos"/>
              </a:rPr>
              <a:t>parked ego / pole</a:t>
            </a:r>
          </a:p>
        </p:txBody>
      </p:sp>
      <p:sp>
        <p:nvSpPr>
          <p:cNvPr id="9" name="Text 9"/>
          <p:cNvSpPr txBox="1"/>
          <p:nvPr/>
        </p:nvSpPr>
        <p:spPr>
          <a:xfrm>
            <a:off x="6126480" y="2743200"/>
            <a:ext cx="2331720" cy="1143000"/>
          </a:xfrm>
          <a:prstGeom prst="roundRect">
            <a:avLst/>
          </a:prstGeom>
          <a:solidFill>
            <a:srgbClr val="F3F6F8"/>
          </a:solidFill>
          <a:ln w="9525">
            <a:solidFill>
              <a:srgbClr val="B23A48"/>
            </a:solidFill>
          </a:ln>
        </p:spPr>
        <p:txBody>
          <a:bodyPr wrap="square" lIns="73152" rIns="73152" tIns="73152" bIns="73152">
            <a:spAutoFit/>
          </a:bodyPr>
          <a:lstStyle/>
          <a:p>
            <a:pPr algn="ctr"/>
            <a:r>
              <a:rPr lang="en-US" sz="1200">
                <a:solidFill>
                  <a:srgbClr val="202A33"/>
                </a:solidFill>
                <a:latin typeface="Aptos"/>
              </a:rPr>
              <a:t>7.7%</a:t>
            </a:r>
          </a:p>
          <a:p>
            <a:pPr algn="ctr"/>
            <a:r>
              <a:rPr lang="en-US" sz="1200">
                <a:solidFill>
                  <a:srgbClr val="202A33"/>
                </a:solidFill>
                <a:latin typeface="Aptos"/>
              </a:rPr>
              <a:t>OD recall@2m retention</a:t>
            </a:r>
          </a:p>
          <a:p>
            <a:pPr algn="ctr"/>
            <a:r>
              <a:rPr lang="en-US" sz="1200">
                <a:solidFill>
                  <a:srgbClr val="202A33"/>
                </a:solidFill>
                <a:latin typeface="Aptos"/>
              </a:rPr>
              <a:t>precise localization</a:t>
            </a:r>
          </a:p>
        </p:txBody>
      </p:sp>
      <p:sp>
        <p:nvSpPr>
          <p:cNvPr id="10" name="Text 10"/>
          <p:cNvSpPr txBox="1"/>
          <p:nvPr/>
        </p:nvSpPr>
        <p:spPr>
          <a:xfrm>
            <a:off x="8823960" y="2743200"/>
            <a:ext cx="2331720" cy="1143000"/>
          </a:xfrm>
          <a:prstGeom prst="roundRect">
            <a:avLst/>
          </a:prstGeom>
          <a:solidFill>
            <a:srgbClr val="F3F6F8"/>
          </a:solidFill>
          <a:ln w="9525">
            <a:solidFill>
              <a:srgbClr val="D56A21"/>
            </a:solidFill>
          </a:ln>
        </p:spPr>
        <p:txBody>
          <a:bodyPr wrap="square" lIns="73152" rIns="73152" tIns="73152" bIns="73152">
            <a:spAutoFit/>
          </a:bodyPr>
          <a:lstStyle/>
          <a:p>
            <a:pPr algn="ctr"/>
            <a:r>
              <a:rPr lang="en-US" sz="1200">
                <a:solidFill>
                  <a:srgbClr val="202A33"/>
                </a:solidFill>
                <a:latin typeface="Aptos"/>
              </a:rPr>
              <a:t>21.0%</a:t>
            </a:r>
          </a:p>
          <a:p>
            <a:pPr algn="ctr"/>
            <a:r>
              <a:rPr lang="en-US" sz="1200">
                <a:solidFill>
                  <a:srgbClr val="202A33"/>
                </a:solidFill>
                <a:latin typeface="Aptos"/>
              </a:rPr>
              <a:t>OD recall@5m retention</a:t>
            </a:r>
          </a:p>
          <a:p>
            <a:pPr algn="ctr"/>
            <a:r>
              <a:rPr lang="en-US" sz="1200">
                <a:solidFill>
                  <a:srgbClr val="202A33"/>
                </a:solidFill>
                <a:latin typeface="Aptos"/>
              </a:rPr>
              <a:t>loose sensitivity</a:t>
            </a:r>
          </a:p>
        </p:txBody>
      </p:sp>
      <p:sp>
        <p:nvSpPr>
          <p:cNvPr id="11" name="Text 11"/>
          <p:cNvSpPr txBox="1"/>
          <p:nvPr/>
        </p:nvSpPr>
        <p:spPr>
          <a:xfrm>
            <a:off x="914400" y="4800600"/>
            <a:ext cx="10241280" cy="566928"/>
          </a:xfrm>
          <a:prstGeom prst="rect">
            <a:avLst/>
          </a:prstGeom>
          <a:noFill/>
          <a:ln>
            <a:noFill/>
          </a:ln>
        </p:spPr>
        <p:txBody>
          <a:bodyPr wrap="square" lIns="73152" rIns="73152" tIns="73152" bIns="73152">
            <a:spAutoFit/>
          </a:bodyPr>
          <a:lstStyle/>
          <a:p>
            <a:pPr algn="ctr"/>
            <a:r>
              <a:rPr lang="en-US" sz="1800" b="1">
                <a:solidFill>
                  <a:srgbClr val="17324D"/>
                </a:solidFill>
                <a:latin typeface="Aptos"/>
              </a:rPr>
              <a:t>Bottom line: segmentation transfers partially; object detection/localization drops sharply when moving from pole cameras to parked ego cameras.</a:t>
            </a:r>
          </a:p>
        </p:txBody>
      </p:sp>
      <p:sp>
        <p:nvSpPr>
          <p:cNvPr id="12" name="Text 12"/>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3" name="Text 13"/>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SETUP</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Experiment Design</a:t>
            </a:r>
          </a:p>
        </p:txBody>
      </p:sp>
      <p:sp>
        <p:nvSpPr>
          <p:cNvPr id="6" name="Shape 6"/>
          <p:cNvSpPr/>
          <p:nvPr/>
        </p:nvSpPr>
        <p:spPr>
          <a:xfrm>
            <a:off x="502920" y="987552"/>
            <a:ext cx="1143000" cy="45720"/>
          </a:xfrm>
          <a:prstGeom prst="rect">
            <a:avLst/>
          </a:prstGeom>
          <a:solidFill>
            <a:srgbClr val="D56A21"/>
          </a:solidFill>
          <a:ln>
            <a:noFill/>
          </a:ln>
        </p:spPr>
      </p:sp>
      <p:sp>
        <p:nvSpPr>
          <p:cNvPr id="7" name="Text 7"/>
          <p:cNvSpPr txBox="1"/>
          <p:nvPr/>
        </p:nvSpPr>
        <p:spPr>
          <a:xfrm>
            <a:off x="594360" y="1234440"/>
            <a:ext cx="3429000" cy="4526280"/>
          </a:xfrm>
          <a:prstGeom prst="roundRect">
            <a:avLst/>
          </a:prstGeom>
          <a:solidFill>
            <a:srgbClr val="FFFFFF"/>
          </a:solidFill>
          <a:ln w="9525">
            <a:solidFill>
              <a:srgbClr val="007C89"/>
            </a:solidFill>
          </a:ln>
        </p:spPr>
        <p:txBody>
          <a:bodyPr wrap="square" lIns="109728" rIns="109728" tIns="109728" bIns="109728">
            <a:spAutoFit/>
          </a:bodyPr>
          <a:lstStyle/>
          <a:p>
            <a:pPr algn="l"/>
            <a:r>
              <a:rPr lang="en-US" sz="1200">
                <a:solidFill>
                  <a:srgbClr val="202A33"/>
                </a:solidFill>
                <a:latin typeface="Aptos"/>
              </a:rPr>
              <a:t>Question</a:t>
            </a:r>
          </a:p>
          <a:p>
            <a:pPr algn="l"/>
            <a:r>
              <a:rPr lang="en-US" sz="1200">
                <a:solidFill>
                  <a:srgbClr val="202A33"/>
                </a:solidFill>
                <a:latin typeface="Aptos"/>
              </a:rPr>
              <a:t>The fusion model was trained with cameras/radar mounted near traffic-light poles. We moved the same checkpoint to parked ego vehicles and ask how much task accuracy transfers.</a:t>
            </a:r>
          </a:p>
        </p:txBody>
      </p:sp>
      <p:sp>
        <p:nvSpPr>
          <p:cNvPr id="8" name="Shape 8"/>
          <p:cNvSpPr/>
          <p:nvPr/>
        </p:nvSpPr>
        <p:spPr>
          <a:xfrm>
            <a:off x="594360" y="1234440"/>
            <a:ext cx="73152" cy="4526280"/>
          </a:xfrm>
          <a:prstGeom prst="rect">
            <a:avLst/>
          </a:prstGeom>
          <a:solidFill>
            <a:srgbClr val="007C89"/>
          </a:solidFill>
          <a:ln>
            <a:noFill/>
          </a:ln>
        </p:spPr>
      </p:sp>
      <p:sp>
        <p:nvSpPr>
          <p:cNvPr id="9" name="Text 9"/>
          <p:cNvSpPr txBox="1"/>
          <p:nvPr/>
        </p:nvSpPr>
        <p:spPr>
          <a:xfrm>
            <a:off x="4251960" y="1234440"/>
            <a:ext cx="3429000" cy="452628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Streams</a:t>
            </a:r>
          </a:p>
          <a:p>
            <a:pPr algn="l"/>
            <a:r>
              <a:rPr lang="en-US" sz="1200">
                <a:solidFill>
                  <a:srgbClr val="202A33"/>
                </a:solidFill>
                <a:latin typeface="Aptos"/>
              </a:rPr>
              <a:t>Pole S1: fusion_tl_14</a:t>
            </a:r>
          </a:p>
          <a:p>
            <a:pPr algn="l"/>
            <a:r>
              <a:rPr lang="en-US" sz="1200">
                <a:solidFill>
                  <a:srgbClr val="202A33"/>
                </a:solidFill>
                <a:latin typeface="Aptos"/>
              </a:rPr>
              <a:t>Pole S2: fusion_tl_14_view_2</a:t>
            </a:r>
          </a:p>
          <a:p/>
          <a:p>
            <a:pPr algn="l"/>
            <a:r>
              <a:rPr lang="en-US" sz="1200">
                <a:solidFill>
                  <a:srgbClr val="202A33"/>
                </a:solidFill>
                <a:latin typeface="Aptos"/>
              </a:rPr>
              <a:t>Ego S1: fusion_ego_front</a:t>
            </a:r>
          </a:p>
          <a:p>
            <a:pPr algn="l"/>
            <a:r>
              <a:rPr lang="en-US" sz="1200">
                <a:solidFill>
                  <a:srgbClr val="202A33"/>
                </a:solidFill>
                <a:latin typeface="Aptos"/>
              </a:rPr>
              <a:t>Ego S2: fusion_ego_front_view_2</a:t>
            </a:r>
          </a:p>
          <a:p/>
          <a:p>
            <a:pPr algn="l"/>
            <a:r>
              <a:rPr lang="en-US" sz="1200">
                <a:solidFill>
                  <a:srgbClr val="202A33"/>
                </a:solidFill>
                <a:latin typeface="Aptos"/>
              </a:rPr>
              <a:t>Runs were collected as pole pair first, parked-ego pair second.</a:t>
            </a:r>
          </a:p>
        </p:txBody>
      </p:sp>
      <p:sp>
        <p:nvSpPr>
          <p:cNvPr id="10" name="Shape 10"/>
          <p:cNvSpPr/>
          <p:nvPr/>
        </p:nvSpPr>
        <p:spPr>
          <a:xfrm>
            <a:off x="4251960" y="1234440"/>
            <a:ext cx="73152" cy="4526280"/>
          </a:xfrm>
          <a:prstGeom prst="rect">
            <a:avLst/>
          </a:prstGeom>
          <a:solidFill>
            <a:srgbClr val="D56A21"/>
          </a:solidFill>
          <a:ln>
            <a:noFill/>
          </a:ln>
        </p:spPr>
      </p:sp>
      <p:sp>
        <p:nvSpPr>
          <p:cNvPr id="11" name="Text 11"/>
          <p:cNvSpPr txBox="1"/>
          <p:nvPr/>
        </p:nvSpPr>
        <p:spPr>
          <a:xfrm>
            <a:off x="7909560" y="1234440"/>
            <a:ext cx="3429000" cy="4526280"/>
          </a:xfrm>
          <a:prstGeom prst="roundRect">
            <a:avLst/>
          </a:prstGeom>
          <a:solidFill>
            <a:srgbClr val="FFFFFF"/>
          </a:solidFill>
          <a:ln w="9525">
            <a:solidFill>
              <a:srgbClr val="3D7A46"/>
            </a:solidFill>
          </a:ln>
        </p:spPr>
        <p:txBody>
          <a:bodyPr wrap="square" lIns="109728" rIns="109728" tIns="109728" bIns="109728">
            <a:spAutoFit/>
          </a:bodyPr>
          <a:lstStyle/>
          <a:p>
            <a:pPr algn="l"/>
            <a:r>
              <a:rPr lang="en-US" sz="1200">
                <a:solidFill>
                  <a:srgbClr val="202A33"/>
                </a:solidFill>
                <a:latin typeface="Aptos"/>
              </a:rPr>
              <a:t>Controls</a:t>
            </a:r>
          </a:p>
          <a:p>
            <a:pPr algn="l"/>
            <a:r>
              <a:rPr lang="en-US" sz="1200">
                <a:solidFill>
                  <a:srgbClr val="202A33"/>
                </a:solidFill>
                <a:latin typeface="Aptos"/>
              </a:rPr>
              <a:t>Same checkpoint:</a:t>
            </a:r>
          </a:p>
          <a:p>
            <a:pPr algn="l"/>
            <a:r>
              <a:rPr lang="en-US" sz="1200">
                <a:solidFill>
                  <a:srgbClr val="202A33"/>
                </a:solidFill>
                <a:latin typeface="Aptos"/>
              </a:rPr>
              <a:t>checkpoints/fusion_object_best.pt</a:t>
            </a:r>
          </a:p>
          <a:p/>
          <a:p>
            <a:pPr algn="l"/>
            <a:r>
              <a:rPr lang="en-US" sz="1200">
                <a:solidFill>
                  <a:srgbClr val="202A33"/>
                </a:solidFill>
                <a:latin typeface="Aptos"/>
              </a:rPr>
              <a:t>Same loopback split transport, run logging, CARLA actor/semantic GT path, and comparable traffic settings.</a:t>
            </a:r>
          </a:p>
        </p:txBody>
      </p:sp>
      <p:sp>
        <p:nvSpPr>
          <p:cNvPr id="12" name="Shape 12"/>
          <p:cNvSpPr/>
          <p:nvPr/>
        </p:nvSpPr>
        <p:spPr>
          <a:xfrm>
            <a:off x="7909560" y="1234440"/>
            <a:ext cx="73152" cy="4526280"/>
          </a:xfrm>
          <a:prstGeom prst="rect">
            <a:avLst/>
          </a:prstGeom>
          <a:solidFill>
            <a:srgbClr val="3D7A46"/>
          </a:solidFill>
          <a:ln>
            <a:noFill/>
          </a:ln>
        </p:spPr>
      </p:sp>
      <p:sp>
        <p:nvSpPr>
          <p:cNvPr id="13" name="Text 13"/>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4" name="Text 14"/>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HOW ACCURACY IS MEASURED</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Ground Truth and Metric Definitions</a:t>
            </a:r>
          </a:p>
        </p:txBody>
      </p:sp>
      <p:sp>
        <p:nvSpPr>
          <p:cNvPr id="6" name="Shape 6"/>
          <p:cNvSpPr/>
          <p:nvPr/>
        </p:nvSpPr>
        <p:spPr>
          <a:xfrm>
            <a:off x="502920" y="987552"/>
            <a:ext cx="1143000" cy="45720"/>
          </a:xfrm>
          <a:prstGeom prst="rect">
            <a:avLst/>
          </a:prstGeom>
          <a:solidFill>
            <a:srgbClr val="D56A21"/>
          </a:solidFill>
          <a:ln>
            <a:noFill/>
          </a:ln>
        </p:spPr>
      </p:sp>
      <p:sp>
        <p:nvSpPr>
          <p:cNvPr id="7" name="Text 7"/>
          <p:cNvSpPr txBox="1"/>
          <p:nvPr/>
        </p:nvSpPr>
        <p:spPr>
          <a:xfrm>
            <a:off x="594360" y="1234440"/>
            <a:ext cx="3611880" cy="4526280"/>
          </a:xfrm>
          <a:prstGeom prst="roundRect">
            <a:avLst/>
          </a:prstGeom>
          <a:solidFill>
            <a:srgbClr val="FFFFFF"/>
          </a:solidFill>
          <a:ln w="9525">
            <a:solidFill>
              <a:srgbClr val="3D7A46"/>
            </a:solidFill>
          </a:ln>
        </p:spPr>
        <p:txBody>
          <a:bodyPr wrap="square" lIns="109728" rIns="109728" tIns="109728" bIns="109728">
            <a:spAutoFit/>
          </a:bodyPr>
          <a:lstStyle/>
          <a:p>
            <a:pPr algn="l"/>
            <a:r>
              <a:rPr lang="en-US" sz="1200">
                <a:solidFill>
                  <a:srgbClr val="202A33"/>
                </a:solidFill>
                <a:latin typeface="Aptos"/>
              </a:rPr>
              <a:t>Segmentation GT</a:t>
            </a:r>
          </a:p>
          <a:p>
            <a:pPr algn="l"/>
            <a:r>
              <a:rPr lang="en-US" sz="1200">
                <a:solidFill>
                  <a:srgbClr val="202A33"/>
                </a:solidFill>
                <a:latin typeface="Aptos"/>
              </a:rPr>
              <a:t>A co-located CARLA semantic-segmentation camera produces per-pixel class labels. CARLA tags are mapped to three classes: background, vehicle, and person.</a:t>
            </a:r>
          </a:p>
          <a:p/>
          <a:p>
            <a:pPr algn="l"/>
            <a:r>
              <a:rPr lang="en-US" sz="1200">
                <a:solidFill>
                  <a:srgbClr val="202A33"/>
                </a:solidFill>
                <a:latin typeface="Aptos"/>
              </a:rPr>
              <a:t>IoU = TP / (TP + FP + FN)</a:t>
            </a:r>
          </a:p>
        </p:txBody>
      </p:sp>
      <p:sp>
        <p:nvSpPr>
          <p:cNvPr id="8" name="Shape 8"/>
          <p:cNvSpPr/>
          <p:nvPr/>
        </p:nvSpPr>
        <p:spPr>
          <a:xfrm>
            <a:off x="594360" y="1234440"/>
            <a:ext cx="73152" cy="4526280"/>
          </a:xfrm>
          <a:prstGeom prst="rect">
            <a:avLst/>
          </a:prstGeom>
          <a:solidFill>
            <a:srgbClr val="3D7A46"/>
          </a:solidFill>
          <a:ln>
            <a:noFill/>
          </a:ln>
        </p:spPr>
      </p:sp>
      <p:sp>
        <p:nvSpPr>
          <p:cNvPr id="9" name="Text 9"/>
          <p:cNvSpPr txBox="1"/>
          <p:nvPr/>
        </p:nvSpPr>
        <p:spPr>
          <a:xfrm>
            <a:off x="4480560" y="1234440"/>
            <a:ext cx="3611880" cy="452628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Object GT</a:t>
            </a:r>
          </a:p>
          <a:p>
            <a:pPr algn="l"/>
            <a:r>
              <a:rPr lang="en-US" sz="1200">
                <a:solidFill>
                  <a:srgbClr val="202A33"/>
                </a:solidFill>
                <a:latin typeface="Aptos"/>
              </a:rPr>
              <a:t>CARLA vehicle actors provide world pose and bounding boxes. 3D boxes are projected into the RGB camera. Evaluation filters require visible center, minimum box area, and max distance for the strict OD comparison. The parked ego vehicle itself is excluded.</a:t>
            </a:r>
          </a:p>
        </p:txBody>
      </p:sp>
      <p:sp>
        <p:nvSpPr>
          <p:cNvPr id="10" name="Shape 10"/>
          <p:cNvSpPr/>
          <p:nvPr/>
        </p:nvSpPr>
        <p:spPr>
          <a:xfrm>
            <a:off x="4480560" y="1234440"/>
            <a:ext cx="73152" cy="4526280"/>
          </a:xfrm>
          <a:prstGeom prst="rect">
            <a:avLst/>
          </a:prstGeom>
          <a:solidFill>
            <a:srgbClr val="D56A21"/>
          </a:solidFill>
          <a:ln>
            <a:noFill/>
          </a:ln>
        </p:spPr>
      </p:sp>
      <p:sp>
        <p:nvSpPr>
          <p:cNvPr id="11" name="Text 11"/>
          <p:cNvSpPr txBox="1"/>
          <p:nvPr/>
        </p:nvSpPr>
        <p:spPr>
          <a:xfrm>
            <a:off x="8366760" y="1234440"/>
            <a:ext cx="2788920" cy="4526280"/>
          </a:xfrm>
          <a:prstGeom prst="roundRect">
            <a:avLst/>
          </a:prstGeom>
          <a:solidFill>
            <a:srgbClr val="FFFFFF"/>
          </a:solidFill>
          <a:ln w="9525">
            <a:solidFill>
              <a:srgbClr val="007C89"/>
            </a:solidFill>
          </a:ln>
        </p:spPr>
        <p:txBody>
          <a:bodyPr wrap="square" lIns="109728" rIns="109728" tIns="109728" bIns="109728">
            <a:spAutoFit/>
          </a:bodyPr>
          <a:lstStyle/>
          <a:p>
            <a:pPr algn="l"/>
            <a:r>
              <a:rPr lang="en-US" sz="1200">
                <a:solidFill>
                  <a:srgbClr val="202A33"/>
                </a:solidFill>
                <a:latin typeface="Aptos"/>
              </a:rPr>
              <a:t>OD Metrics</a:t>
            </a:r>
          </a:p>
          <a:p>
            <a:pPr algn="l"/>
            <a:r>
              <a:rPr lang="en-US" sz="1200">
                <a:solidFill>
                  <a:srgbClr val="202A33"/>
                </a:solidFill>
                <a:latin typeface="Aptos"/>
              </a:rPr>
              <a:t>Recall@d = matched GT / selected GT</a:t>
            </a:r>
          </a:p>
          <a:p/>
          <a:p>
            <a:pPr algn="l"/>
            <a:r>
              <a:rPr lang="en-US" sz="1200">
                <a:solidFill>
                  <a:srgbClr val="202A33"/>
                </a:solidFill>
                <a:latin typeface="Aptos"/>
              </a:rPr>
              <a:t>A match is a greedy nearest-neighbor pair within d meters in global XY.</a:t>
            </a:r>
          </a:p>
          <a:p/>
          <a:p>
            <a:pPr algn="l"/>
            <a:r>
              <a:rPr lang="en-US" sz="1200">
                <a:solidFill>
                  <a:srgbClr val="202A33"/>
                </a:solidFill>
                <a:latin typeface="Aptos"/>
              </a:rPr>
              <a:t>Mean XY error is the average distance over matched object centers.</a:t>
            </a:r>
          </a:p>
        </p:txBody>
      </p:sp>
      <p:sp>
        <p:nvSpPr>
          <p:cNvPr id="12" name="Shape 12"/>
          <p:cNvSpPr/>
          <p:nvPr/>
        </p:nvSpPr>
        <p:spPr>
          <a:xfrm>
            <a:off x="8366760" y="1234440"/>
            <a:ext cx="73152" cy="4526280"/>
          </a:xfrm>
          <a:prstGeom prst="rect">
            <a:avLst/>
          </a:prstGeom>
          <a:solidFill>
            <a:srgbClr val="007C89"/>
          </a:solidFill>
          <a:ln>
            <a:noFill/>
          </a:ln>
        </p:spPr>
      </p:sp>
      <p:sp>
        <p:nvSpPr>
          <p:cNvPr id="13" name="Text 13"/>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4" name="Text 14"/>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FUSION_AS_SEGMENTATION</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Segmentation Transfer Result</a:t>
            </a:r>
          </a:p>
        </p:txBody>
      </p:sp>
      <p:sp>
        <p:nvSpPr>
          <p:cNvPr id="6" name="Shape 6"/>
          <p:cNvSpPr/>
          <p:nvPr/>
        </p:nvSpPr>
        <p:spPr>
          <a:xfrm>
            <a:off x="502920" y="987552"/>
            <a:ext cx="1143000" cy="45720"/>
          </a:xfrm>
          <a:prstGeom prst="rect">
            <a:avLst/>
          </a:prstGeom>
          <a:solidFill>
            <a:srgbClr val="D56A21"/>
          </a:solidFill>
          <a:ln>
            <a:noFill/>
          </a:ln>
        </p:spPr>
      </p:sp>
      <p:pic>
        <p:nvPicPr>
          <p:cNvPr id="7" name="pole_vs_ego_platform_average_iou.png"/>
          <p:cNvPicPr/>
          <p:nvPr/>
        </p:nvPicPr>
        <p:blipFill>
          <a:blip r:embed="rId2"/>
          <a:stretch>
            <a:fillRect/>
          </a:stretch>
        </p:blipFill>
        <p:spPr>
          <a:xfrm>
            <a:off x="594360" y="1170432"/>
            <a:ext cx="5577840" cy="2971800"/>
          </a:xfrm>
          <a:prstGeom prst="rect">
            <a:avLst/>
          </a:prstGeom>
        </p:spPr>
      </p:pic>
      <p:pic>
        <p:nvPicPr>
          <p:cNvPr id="8" name="pole_vs_ego_stream_iou_core_metrics.png"/>
          <p:cNvPicPr/>
          <p:nvPr/>
        </p:nvPicPr>
        <p:blipFill>
          <a:blip r:embed="rId3"/>
          <a:stretch>
            <a:fillRect/>
          </a:stretch>
        </p:blipFill>
        <p:spPr>
          <a:xfrm>
            <a:off x="6355080" y="1170432"/>
            <a:ext cx="5303520" cy="2971800"/>
          </a:xfrm>
          <a:prstGeom prst="rect">
            <a:avLst/>
          </a:prstGeom>
        </p:spPr>
      </p:pic>
      <p:sp>
        <p:nvSpPr>
          <p:cNvPr id="9" name="Text 9"/>
          <p:cNvSpPr txBox="1"/>
          <p:nvPr/>
        </p:nvSpPr>
        <p:spPr>
          <a:xfrm>
            <a:off x="777240" y="4572000"/>
            <a:ext cx="3474720" cy="1097280"/>
          </a:xfrm>
          <a:prstGeom prst="roundRect">
            <a:avLst/>
          </a:prstGeom>
          <a:solidFill>
            <a:srgbClr val="FFFFFF"/>
          </a:solidFill>
          <a:ln w="9525">
            <a:solidFill>
              <a:srgbClr val="3D7A46"/>
            </a:solidFill>
          </a:ln>
        </p:spPr>
        <p:txBody>
          <a:bodyPr wrap="square" lIns="109728" rIns="109728" tIns="109728" bIns="109728">
            <a:spAutoFit/>
          </a:bodyPr>
          <a:lstStyle/>
          <a:p>
            <a:pPr algn="l"/>
            <a:r>
              <a:rPr lang="en-US" sz="1200">
                <a:solidFill>
                  <a:srgbClr val="202A33"/>
                </a:solidFill>
                <a:latin typeface="Aptos"/>
              </a:rPr>
              <a:t>Binary IoU</a:t>
            </a:r>
          </a:p>
          <a:p>
            <a:pPr algn="l"/>
            <a:r>
              <a:rPr lang="en-US" sz="1200">
                <a:solidFill>
                  <a:srgbClr val="202A33"/>
                </a:solidFill>
                <a:latin typeface="Aptos"/>
              </a:rPr>
              <a:t>Pole 0.384 -&gt; Ego 0.373</a:t>
            </a:r>
          </a:p>
          <a:p>
            <a:pPr algn="l"/>
            <a:r>
              <a:rPr lang="en-US" sz="1200">
                <a:solidFill>
                  <a:srgbClr val="202A33"/>
                </a:solidFill>
                <a:latin typeface="Aptos"/>
              </a:rPr>
              <a:t>Retention 97.0%</a:t>
            </a:r>
          </a:p>
        </p:txBody>
      </p:sp>
      <p:sp>
        <p:nvSpPr>
          <p:cNvPr id="10" name="Shape 10"/>
          <p:cNvSpPr/>
          <p:nvPr/>
        </p:nvSpPr>
        <p:spPr>
          <a:xfrm>
            <a:off x="777240" y="4572000"/>
            <a:ext cx="73152" cy="1097280"/>
          </a:xfrm>
          <a:prstGeom prst="rect">
            <a:avLst/>
          </a:prstGeom>
          <a:solidFill>
            <a:srgbClr val="3D7A46"/>
          </a:solidFill>
          <a:ln>
            <a:noFill/>
          </a:ln>
        </p:spPr>
      </p:sp>
      <p:sp>
        <p:nvSpPr>
          <p:cNvPr id="11" name="Text 11"/>
          <p:cNvSpPr txBox="1"/>
          <p:nvPr/>
        </p:nvSpPr>
        <p:spPr>
          <a:xfrm>
            <a:off x="4526280" y="4572000"/>
            <a:ext cx="3474720" cy="1097280"/>
          </a:xfrm>
          <a:prstGeom prst="roundRect">
            <a:avLst/>
          </a:prstGeom>
          <a:solidFill>
            <a:srgbClr val="FFFFFF"/>
          </a:solidFill>
          <a:ln w="9525">
            <a:solidFill>
              <a:srgbClr val="3D7A46"/>
            </a:solidFill>
          </a:ln>
        </p:spPr>
        <p:txBody>
          <a:bodyPr wrap="square" lIns="109728" rIns="109728" tIns="109728" bIns="109728">
            <a:spAutoFit/>
          </a:bodyPr>
          <a:lstStyle/>
          <a:p>
            <a:pPr algn="l"/>
            <a:r>
              <a:rPr lang="en-US" sz="1200">
                <a:solidFill>
                  <a:srgbClr val="202A33"/>
                </a:solidFill>
                <a:latin typeface="Aptos"/>
              </a:rPr>
              <a:t>Vehicle IoU</a:t>
            </a:r>
          </a:p>
          <a:p>
            <a:pPr algn="l"/>
            <a:r>
              <a:rPr lang="en-US" sz="1200">
                <a:solidFill>
                  <a:srgbClr val="202A33"/>
                </a:solidFill>
                <a:latin typeface="Aptos"/>
              </a:rPr>
              <a:t>Pole 0.768 -&gt; Ego 0.495</a:t>
            </a:r>
          </a:p>
          <a:p>
            <a:pPr algn="l"/>
            <a:r>
              <a:rPr lang="en-US" sz="1200">
                <a:solidFill>
                  <a:srgbClr val="202A33"/>
                </a:solidFill>
                <a:latin typeface="Aptos"/>
              </a:rPr>
              <a:t>Retention 64.4%</a:t>
            </a:r>
          </a:p>
        </p:txBody>
      </p:sp>
      <p:sp>
        <p:nvSpPr>
          <p:cNvPr id="12" name="Shape 12"/>
          <p:cNvSpPr/>
          <p:nvPr/>
        </p:nvSpPr>
        <p:spPr>
          <a:xfrm>
            <a:off x="4526280" y="4572000"/>
            <a:ext cx="73152" cy="1097280"/>
          </a:xfrm>
          <a:prstGeom prst="rect">
            <a:avLst/>
          </a:prstGeom>
          <a:solidFill>
            <a:srgbClr val="3D7A46"/>
          </a:solidFill>
          <a:ln>
            <a:noFill/>
          </a:ln>
        </p:spPr>
      </p:sp>
      <p:sp>
        <p:nvSpPr>
          <p:cNvPr id="13" name="Text 13"/>
          <p:cNvSpPr txBox="1"/>
          <p:nvPr/>
        </p:nvSpPr>
        <p:spPr>
          <a:xfrm>
            <a:off x="8275320" y="4572000"/>
            <a:ext cx="2743200" cy="109728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Interpretation</a:t>
            </a:r>
          </a:p>
          <a:p>
            <a:pPr algn="l"/>
            <a:r>
              <a:rPr lang="en-US" sz="1200">
                <a:solidFill>
                  <a:srgbClr val="202A33"/>
                </a:solidFill>
                <a:latin typeface="Aptos"/>
              </a:rPr>
              <a:t>Foreground transfer is strong, but vehicle segmentation degrades from the new viewpoint.</a:t>
            </a:r>
          </a:p>
        </p:txBody>
      </p:sp>
      <p:sp>
        <p:nvSpPr>
          <p:cNvPr id="14" name="Shape 14"/>
          <p:cNvSpPr/>
          <p:nvPr/>
        </p:nvSpPr>
        <p:spPr>
          <a:xfrm>
            <a:off x="8275320" y="4572000"/>
            <a:ext cx="73152" cy="1097280"/>
          </a:xfrm>
          <a:prstGeom prst="rect">
            <a:avLst/>
          </a:prstGeom>
          <a:solidFill>
            <a:srgbClr val="D56A21"/>
          </a:solidFill>
          <a:ln>
            <a:noFill/>
          </a:ln>
        </p:spPr>
      </p:sp>
      <p:sp>
        <p:nvSpPr>
          <p:cNvPr id="15" name="Text 15"/>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6" name="Text 16"/>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FUSION_AS_OD</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Object Detection Evaluation</a:t>
            </a:r>
          </a:p>
        </p:txBody>
      </p:sp>
      <p:sp>
        <p:nvSpPr>
          <p:cNvPr id="6" name="Shape 6"/>
          <p:cNvSpPr/>
          <p:nvPr/>
        </p:nvSpPr>
        <p:spPr>
          <a:xfrm>
            <a:off x="502920" y="987552"/>
            <a:ext cx="1143000" cy="45720"/>
          </a:xfrm>
          <a:prstGeom prst="rect">
            <a:avLst/>
          </a:prstGeom>
          <a:solidFill>
            <a:srgbClr val="D56A21"/>
          </a:solidFill>
          <a:ln>
            <a:noFill/>
          </a:ln>
        </p:spPr>
      </p:sp>
      <p:sp>
        <p:nvSpPr>
          <p:cNvPr id="7" name="Text 7"/>
          <p:cNvSpPr txBox="1"/>
          <p:nvPr/>
        </p:nvSpPr>
        <p:spPr>
          <a:xfrm>
            <a:off x="594360" y="1234440"/>
            <a:ext cx="3657600" cy="4526280"/>
          </a:xfrm>
          <a:prstGeom prst="roundRect">
            <a:avLst/>
          </a:prstGeom>
          <a:solidFill>
            <a:srgbClr val="FFFFFF"/>
          </a:solidFill>
          <a:ln w="9525">
            <a:solidFill>
              <a:srgbClr val="007C89"/>
            </a:solidFill>
          </a:ln>
        </p:spPr>
        <p:txBody>
          <a:bodyPr wrap="square" lIns="109728" rIns="109728" tIns="109728" bIns="109728">
            <a:spAutoFit/>
          </a:bodyPr>
          <a:lstStyle/>
          <a:p>
            <a:pPr algn="l"/>
            <a:r>
              <a:rPr lang="en-US" sz="1200">
                <a:solidFill>
                  <a:srgbClr val="202A33"/>
                </a:solidFill>
                <a:latin typeface="Aptos"/>
              </a:rPr>
              <a:t>Prediction Path</a:t>
            </a:r>
          </a:p>
          <a:p>
            <a:pPr algn="l"/>
            <a:r>
              <a:rPr lang="en-US" sz="1200">
                <a:solidFill>
                  <a:srgbClr val="202A33"/>
                </a:solidFill>
                <a:latin typeface="Aptos"/>
              </a:rPr>
              <a:t>The fusion object head decodes center heatmap peaks into world XYZ, yaw, size, parked score, and radar-support score. Predictions are logged per frame and stream.</a:t>
            </a:r>
          </a:p>
        </p:txBody>
      </p:sp>
      <p:sp>
        <p:nvSpPr>
          <p:cNvPr id="8" name="Shape 8"/>
          <p:cNvSpPr/>
          <p:nvPr/>
        </p:nvSpPr>
        <p:spPr>
          <a:xfrm>
            <a:off x="594360" y="1234440"/>
            <a:ext cx="73152" cy="4526280"/>
          </a:xfrm>
          <a:prstGeom prst="rect">
            <a:avLst/>
          </a:prstGeom>
          <a:solidFill>
            <a:srgbClr val="007C89"/>
          </a:solidFill>
          <a:ln>
            <a:noFill/>
          </a:ln>
        </p:spPr>
      </p:sp>
      <p:sp>
        <p:nvSpPr>
          <p:cNvPr id="9" name="Text 9"/>
          <p:cNvSpPr txBox="1"/>
          <p:nvPr/>
        </p:nvSpPr>
        <p:spPr>
          <a:xfrm>
            <a:off x="4526280" y="1234440"/>
            <a:ext cx="3337560" cy="4526280"/>
          </a:xfrm>
          <a:prstGeom prst="roundRect">
            <a:avLst/>
          </a:prstGeom>
          <a:solidFill>
            <a:srgbClr val="FFFFFF"/>
          </a:solidFill>
          <a:ln w="9525">
            <a:solidFill>
              <a:srgbClr val="B23A48"/>
            </a:solidFill>
          </a:ln>
        </p:spPr>
        <p:txBody>
          <a:bodyPr wrap="square" lIns="109728" rIns="109728" tIns="109728" bIns="109728">
            <a:spAutoFit/>
          </a:bodyPr>
          <a:lstStyle/>
          <a:p>
            <a:pPr algn="l"/>
            <a:r>
              <a:rPr lang="en-US" sz="1200">
                <a:solidFill>
                  <a:srgbClr val="202A33"/>
                </a:solidFill>
                <a:latin typeface="Aptos"/>
              </a:rPr>
              <a:t>Strict OD View</a:t>
            </a:r>
          </a:p>
          <a:p>
            <a:pPr algn="l"/>
            <a:r>
              <a:rPr lang="en-US" sz="1200">
                <a:solidFill>
                  <a:srgbClr val="202A33"/>
                </a:solidFill>
                <a:latin typeface="Aptos"/>
              </a:rPr>
              <a:t>Recall@2m asks whether the object is found with useful localization precision. This is the main transfer metric for spatial-map usefulness.</a:t>
            </a:r>
          </a:p>
        </p:txBody>
      </p:sp>
      <p:sp>
        <p:nvSpPr>
          <p:cNvPr id="10" name="Shape 10"/>
          <p:cNvSpPr/>
          <p:nvPr/>
        </p:nvSpPr>
        <p:spPr>
          <a:xfrm>
            <a:off x="4526280" y="1234440"/>
            <a:ext cx="73152" cy="4526280"/>
          </a:xfrm>
          <a:prstGeom prst="rect">
            <a:avLst/>
          </a:prstGeom>
          <a:solidFill>
            <a:srgbClr val="B23A48"/>
          </a:solidFill>
          <a:ln>
            <a:noFill/>
          </a:ln>
        </p:spPr>
      </p:sp>
      <p:sp>
        <p:nvSpPr>
          <p:cNvPr id="11" name="Text 11"/>
          <p:cNvSpPr txBox="1"/>
          <p:nvPr/>
        </p:nvSpPr>
        <p:spPr>
          <a:xfrm>
            <a:off x="8138160" y="1234440"/>
            <a:ext cx="3337560" cy="452628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Sensitivity View</a:t>
            </a:r>
          </a:p>
          <a:p>
            <a:pPr algn="l"/>
            <a:r>
              <a:rPr lang="en-US" sz="1200">
                <a:solidFill>
                  <a:srgbClr val="202A33"/>
                </a:solidFill>
                <a:latin typeface="Aptos"/>
              </a:rPr>
              <a:t>Recall@5m asks whether the model is roughly finding the object even if localization is loose. It helps separate center-detection failure from regression precision failure.</a:t>
            </a:r>
          </a:p>
        </p:txBody>
      </p:sp>
      <p:sp>
        <p:nvSpPr>
          <p:cNvPr id="12" name="Shape 12"/>
          <p:cNvSpPr/>
          <p:nvPr/>
        </p:nvSpPr>
        <p:spPr>
          <a:xfrm>
            <a:off x="8138160" y="1234440"/>
            <a:ext cx="73152" cy="4526280"/>
          </a:xfrm>
          <a:prstGeom prst="rect">
            <a:avLst/>
          </a:prstGeom>
          <a:solidFill>
            <a:srgbClr val="D56A21"/>
          </a:solidFill>
          <a:ln>
            <a:noFill/>
          </a:ln>
        </p:spPr>
      </p:sp>
      <p:sp>
        <p:nvSpPr>
          <p:cNvPr id="13" name="Text 13"/>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4" name="Text 14"/>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OD RESULT</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Object Recall by Stream</a:t>
            </a:r>
          </a:p>
        </p:txBody>
      </p:sp>
      <p:sp>
        <p:nvSpPr>
          <p:cNvPr id="6" name="Shape 6"/>
          <p:cNvSpPr/>
          <p:nvPr/>
        </p:nvSpPr>
        <p:spPr>
          <a:xfrm>
            <a:off x="502920" y="987552"/>
            <a:ext cx="1143000" cy="45720"/>
          </a:xfrm>
          <a:prstGeom prst="rect">
            <a:avLst/>
          </a:prstGeom>
          <a:solidFill>
            <a:srgbClr val="D56A21"/>
          </a:solidFill>
          <a:ln>
            <a:noFill/>
          </a:ln>
        </p:spPr>
      </p:sp>
      <p:pic>
        <p:nvPicPr>
          <p:cNvPr id="7" name="fusion_od_recall_by_stream.png"/>
          <p:cNvPicPr/>
          <p:nvPr/>
        </p:nvPicPr>
        <p:blipFill>
          <a:blip r:embed="rId2"/>
          <a:stretch>
            <a:fillRect/>
          </a:stretch>
        </p:blipFill>
        <p:spPr>
          <a:xfrm>
            <a:off x="685800" y="1188720"/>
            <a:ext cx="6492240" cy="3429000"/>
          </a:xfrm>
          <a:prstGeom prst="rect">
            <a:avLst/>
          </a:prstGeom>
        </p:spPr>
      </p:pic>
      <p:sp>
        <p:nvSpPr>
          <p:cNvPr id="8" name="Text 8"/>
          <p:cNvSpPr txBox="1"/>
          <p:nvPr/>
        </p:nvSpPr>
        <p:spPr>
          <a:xfrm>
            <a:off x="7498080" y="1234440"/>
            <a:ext cx="3657600" cy="1234440"/>
          </a:xfrm>
          <a:prstGeom prst="roundRect">
            <a:avLst/>
          </a:prstGeom>
          <a:solidFill>
            <a:srgbClr val="FFFFFF"/>
          </a:solidFill>
          <a:ln w="9525">
            <a:solidFill>
              <a:srgbClr val="007C89"/>
            </a:solidFill>
          </a:ln>
        </p:spPr>
        <p:txBody>
          <a:bodyPr wrap="square" lIns="109728" rIns="109728" tIns="109728" bIns="109728">
            <a:spAutoFit/>
          </a:bodyPr>
          <a:lstStyle/>
          <a:p>
            <a:pPr algn="l"/>
            <a:r>
              <a:rPr lang="en-US" sz="1200">
                <a:solidFill>
                  <a:srgbClr val="202A33"/>
                </a:solidFill>
                <a:latin typeface="Aptos"/>
              </a:rPr>
              <a:t>Pole In-Domain</a:t>
            </a:r>
          </a:p>
          <a:p>
            <a:pPr algn="l"/>
            <a:r>
              <a:rPr lang="en-US" sz="1200">
                <a:solidFill>
                  <a:srgbClr val="202A33"/>
                </a:solidFill>
                <a:latin typeface="Aptos"/>
              </a:rPr>
              <a:t>Recall@2m: 0.282 / 0.354</a:t>
            </a:r>
          </a:p>
          <a:p>
            <a:pPr algn="l"/>
            <a:r>
              <a:rPr lang="en-US" sz="1200">
                <a:solidFill>
                  <a:srgbClr val="202A33"/>
                </a:solidFill>
                <a:latin typeface="Aptos"/>
              </a:rPr>
              <a:t>Recall@5m: 0.523 / 0.637</a:t>
            </a:r>
          </a:p>
        </p:txBody>
      </p:sp>
      <p:sp>
        <p:nvSpPr>
          <p:cNvPr id="9" name="Shape 9"/>
          <p:cNvSpPr/>
          <p:nvPr/>
        </p:nvSpPr>
        <p:spPr>
          <a:xfrm>
            <a:off x="7498080" y="1234440"/>
            <a:ext cx="73152" cy="1234440"/>
          </a:xfrm>
          <a:prstGeom prst="rect">
            <a:avLst/>
          </a:prstGeom>
          <a:solidFill>
            <a:srgbClr val="007C89"/>
          </a:solidFill>
          <a:ln>
            <a:noFill/>
          </a:ln>
        </p:spPr>
      </p:sp>
      <p:sp>
        <p:nvSpPr>
          <p:cNvPr id="10" name="Text 10"/>
          <p:cNvSpPr txBox="1"/>
          <p:nvPr/>
        </p:nvSpPr>
        <p:spPr>
          <a:xfrm>
            <a:off x="7498080" y="2743200"/>
            <a:ext cx="3657600" cy="123444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Parked Ego Transfer</a:t>
            </a:r>
          </a:p>
          <a:p>
            <a:pPr algn="l"/>
            <a:r>
              <a:rPr lang="en-US" sz="1200">
                <a:solidFill>
                  <a:srgbClr val="202A33"/>
                </a:solidFill>
                <a:latin typeface="Aptos"/>
              </a:rPr>
              <a:t>Recall@2m: 0.025 / 0.024</a:t>
            </a:r>
          </a:p>
          <a:p>
            <a:pPr algn="l"/>
            <a:r>
              <a:rPr lang="en-US" sz="1200">
                <a:solidFill>
                  <a:srgbClr val="202A33"/>
                </a:solidFill>
                <a:latin typeface="Aptos"/>
              </a:rPr>
              <a:t>Recall@5m: 0.136 / 0.108</a:t>
            </a:r>
          </a:p>
        </p:txBody>
      </p:sp>
      <p:sp>
        <p:nvSpPr>
          <p:cNvPr id="11" name="Shape 11"/>
          <p:cNvSpPr/>
          <p:nvPr/>
        </p:nvSpPr>
        <p:spPr>
          <a:xfrm>
            <a:off x="7498080" y="2743200"/>
            <a:ext cx="73152" cy="1234440"/>
          </a:xfrm>
          <a:prstGeom prst="rect">
            <a:avLst/>
          </a:prstGeom>
          <a:solidFill>
            <a:srgbClr val="D56A21"/>
          </a:solidFill>
          <a:ln>
            <a:noFill/>
          </a:ln>
        </p:spPr>
      </p:sp>
      <p:sp>
        <p:nvSpPr>
          <p:cNvPr id="12" name="Text 12"/>
          <p:cNvSpPr txBox="1"/>
          <p:nvPr/>
        </p:nvSpPr>
        <p:spPr>
          <a:xfrm>
            <a:off x="7498080" y="4251960"/>
            <a:ext cx="3657600" cy="1143000"/>
          </a:xfrm>
          <a:prstGeom prst="roundRect">
            <a:avLst/>
          </a:prstGeom>
          <a:solidFill>
            <a:srgbClr val="FFFFFF"/>
          </a:solidFill>
          <a:ln w="9525">
            <a:solidFill>
              <a:srgbClr val="B23A48"/>
            </a:solidFill>
          </a:ln>
        </p:spPr>
        <p:txBody>
          <a:bodyPr wrap="square" lIns="109728" rIns="109728" tIns="109728" bIns="109728">
            <a:spAutoFit/>
          </a:bodyPr>
          <a:lstStyle/>
          <a:p>
            <a:pPr algn="l"/>
            <a:r>
              <a:rPr lang="en-US" sz="1200">
                <a:solidFill>
                  <a:srgbClr val="202A33"/>
                </a:solidFill>
                <a:latin typeface="Aptos"/>
              </a:rPr>
              <a:t>Reading</a:t>
            </a:r>
          </a:p>
          <a:p>
            <a:pPr algn="l"/>
            <a:r>
              <a:rPr lang="en-US" sz="1200">
                <a:solidFill>
                  <a:srgbClr val="202A33"/>
                </a:solidFill>
                <a:latin typeface="Aptos"/>
              </a:rPr>
              <a:t>The pole-trained object head remains much stronger on pole views. Parked-ego recall remains low even with a loose 5 m match gate.</a:t>
            </a:r>
          </a:p>
        </p:txBody>
      </p:sp>
      <p:sp>
        <p:nvSpPr>
          <p:cNvPr id="13" name="Shape 13"/>
          <p:cNvSpPr/>
          <p:nvPr/>
        </p:nvSpPr>
        <p:spPr>
          <a:xfrm>
            <a:off x="7498080" y="4251960"/>
            <a:ext cx="73152" cy="1143000"/>
          </a:xfrm>
          <a:prstGeom prst="rect">
            <a:avLst/>
          </a:prstGeom>
          <a:solidFill>
            <a:srgbClr val="B23A48"/>
          </a:solidFill>
          <a:ln>
            <a:noFill/>
          </a:ln>
        </p:spPr>
      </p:sp>
      <p:sp>
        <p:nvSpPr>
          <p:cNvPr id="14" name="Text 14"/>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5" name="Text 15"/>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RECALL AND LOCALIZATION</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OD Platform Summary</a:t>
            </a:r>
          </a:p>
        </p:txBody>
      </p:sp>
      <p:sp>
        <p:nvSpPr>
          <p:cNvPr id="6" name="Shape 6"/>
          <p:cNvSpPr/>
          <p:nvPr/>
        </p:nvSpPr>
        <p:spPr>
          <a:xfrm>
            <a:off x="502920" y="987552"/>
            <a:ext cx="1143000" cy="45720"/>
          </a:xfrm>
          <a:prstGeom prst="rect">
            <a:avLst/>
          </a:prstGeom>
          <a:solidFill>
            <a:srgbClr val="D56A21"/>
          </a:solidFill>
          <a:ln>
            <a:noFill/>
          </a:ln>
        </p:spPr>
      </p:sp>
      <p:pic>
        <p:nvPicPr>
          <p:cNvPr id="7" name="fusion_od_platform_summary.png"/>
          <p:cNvPicPr/>
          <p:nvPr/>
        </p:nvPicPr>
        <p:blipFill>
          <a:blip r:embed="rId2"/>
          <a:stretch>
            <a:fillRect/>
          </a:stretch>
        </p:blipFill>
        <p:spPr>
          <a:xfrm>
            <a:off x="685800" y="1143000"/>
            <a:ext cx="6720840" cy="3429000"/>
          </a:xfrm>
          <a:prstGeom prst="rect">
            <a:avLst/>
          </a:prstGeom>
        </p:spPr>
      </p:pic>
      <p:sp>
        <p:nvSpPr>
          <p:cNvPr id="8" name="Text 8"/>
          <p:cNvSpPr txBox="1"/>
          <p:nvPr/>
        </p:nvSpPr>
        <p:spPr>
          <a:xfrm>
            <a:off x="7726680" y="1234440"/>
            <a:ext cx="3474720" cy="1097280"/>
          </a:xfrm>
          <a:prstGeom prst="roundRect">
            <a:avLst/>
          </a:prstGeom>
          <a:solidFill>
            <a:srgbClr val="FFFFFF"/>
          </a:solidFill>
          <a:ln w="9525">
            <a:solidFill>
              <a:srgbClr val="B23A48"/>
            </a:solidFill>
          </a:ln>
        </p:spPr>
        <p:txBody>
          <a:bodyPr wrap="square" lIns="109728" rIns="109728" tIns="109728" bIns="109728">
            <a:spAutoFit/>
          </a:bodyPr>
          <a:lstStyle/>
          <a:p>
            <a:pPr algn="l"/>
            <a:r>
              <a:rPr lang="en-US" sz="1200">
                <a:solidFill>
                  <a:srgbClr val="202A33"/>
                </a:solidFill>
                <a:latin typeface="Aptos"/>
              </a:rPr>
              <a:t>Average Recall@2m</a:t>
            </a:r>
          </a:p>
          <a:p>
            <a:pPr algn="l"/>
            <a:r>
              <a:rPr lang="en-US" sz="1200">
                <a:solidFill>
                  <a:srgbClr val="202A33"/>
                </a:solidFill>
                <a:latin typeface="Aptos"/>
              </a:rPr>
              <a:t>Pole 0.318</a:t>
            </a:r>
          </a:p>
          <a:p>
            <a:pPr algn="l"/>
            <a:r>
              <a:rPr lang="en-US" sz="1200">
                <a:solidFill>
                  <a:srgbClr val="202A33"/>
                </a:solidFill>
                <a:latin typeface="Aptos"/>
              </a:rPr>
              <a:t>Parked Ego 0.025</a:t>
            </a:r>
          </a:p>
          <a:p>
            <a:pPr algn="l"/>
            <a:r>
              <a:rPr lang="en-US" sz="1200">
                <a:solidFill>
                  <a:srgbClr val="202A33"/>
                </a:solidFill>
                <a:latin typeface="Aptos"/>
              </a:rPr>
              <a:t>Retention 7.7%</a:t>
            </a:r>
          </a:p>
        </p:txBody>
      </p:sp>
      <p:sp>
        <p:nvSpPr>
          <p:cNvPr id="9" name="Shape 9"/>
          <p:cNvSpPr/>
          <p:nvPr/>
        </p:nvSpPr>
        <p:spPr>
          <a:xfrm>
            <a:off x="7726680" y="1234440"/>
            <a:ext cx="73152" cy="1097280"/>
          </a:xfrm>
          <a:prstGeom prst="rect">
            <a:avLst/>
          </a:prstGeom>
          <a:solidFill>
            <a:srgbClr val="B23A48"/>
          </a:solidFill>
          <a:ln>
            <a:noFill/>
          </a:ln>
        </p:spPr>
      </p:sp>
      <p:sp>
        <p:nvSpPr>
          <p:cNvPr id="10" name="Text 10"/>
          <p:cNvSpPr txBox="1"/>
          <p:nvPr/>
        </p:nvSpPr>
        <p:spPr>
          <a:xfrm>
            <a:off x="7726680" y="2606040"/>
            <a:ext cx="3474720" cy="109728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Average Recall@5m</a:t>
            </a:r>
          </a:p>
          <a:p>
            <a:pPr algn="l"/>
            <a:r>
              <a:rPr lang="en-US" sz="1200">
                <a:solidFill>
                  <a:srgbClr val="202A33"/>
                </a:solidFill>
                <a:latin typeface="Aptos"/>
              </a:rPr>
              <a:t>Pole 0.580</a:t>
            </a:r>
          </a:p>
          <a:p>
            <a:pPr algn="l"/>
            <a:r>
              <a:rPr lang="en-US" sz="1200">
                <a:solidFill>
                  <a:srgbClr val="202A33"/>
                </a:solidFill>
                <a:latin typeface="Aptos"/>
              </a:rPr>
              <a:t>Parked Ego 0.122</a:t>
            </a:r>
          </a:p>
          <a:p>
            <a:pPr algn="l"/>
            <a:r>
              <a:rPr lang="en-US" sz="1200">
                <a:solidFill>
                  <a:srgbClr val="202A33"/>
                </a:solidFill>
                <a:latin typeface="Aptos"/>
              </a:rPr>
              <a:t>Retention 21.0%</a:t>
            </a:r>
          </a:p>
        </p:txBody>
      </p:sp>
      <p:sp>
        <p:nvSpPr>
          <p:cNvPr id="11" name="Shape 11"/>
          <p:cNvSpPr/>
          <p:nvPr/>
        </p:nvSpPr>
        <p:spPr>
          <a:xfrm>
            <a:off x="7726680" y="2606040"/>
            <a:ext cx="73152" cy="1097280"/>
          </a:xfrm>
          <a:prstGeom prst="rect">
            <a:avLst/>
          </a:prstGeom>
          <a:solidFill>
            <a:srgbClr val="D56A21"/>
          </a:solidFill>
          <a:ln>
            <a:noFill/>
          </a:ln>
        </p:spPr>
      </p:sp>
      <p:sp>
        <p:nvSpPr>
          <p:cNvPr id="12" name="Text 12"/>
          <p:cNvSpPr txBox="1"/>
          <p:nvPr/>
        </p:nvSpPr>
        <p:spPr>
          <a:xfrm>
            <a:off x="7726680" y="3977640"/>
            <a:ext cx="3474720" cy="1097280"/>
          </a:xfrm>
          <a:prstGeom prst="roundRect">
            <a:avLst/>
          </a:prstGeom>
          <a:solidFill>
            <a:srgbClr val="FFFFFF"/>
          </a:solidFill>
          <a:ln w="9525">
            <a:solidFill>
              <a:srgbClr val="007C89"/>
            </a:solidFill>
          </a:ln>
        </p:spPr>
        <p:txBody>
          <a:bodyPr wrap="square" lIns="109728" rIns="109728" tIns="109728" bIns="109728">
            <a:spAutoFit/>
          </a:bodyPr>
          <a:lstStyle/>
          <a:p>
            <a:pPr algn="l"/>
            <a:r>
              <a:rPr lang="en-US" sz="1200">
                <a:solidFill>
                  <a:srgbClr val="202A33"/>
                </a:solidFill>
                <a:latin typeface="Aptos"/>
              </a:rPr>
              <a:t>Mean XY Error</a:t>
            </a:r>
          </a:p>
          <a:p>
            <a:pPr algn="l"/>
            <a:r>
              <a:rPr lang="en-US" sz="1200">
                <a:solidFill>
                  <a:srgbClr val="202A33"/>
                </a:solidFill>
                <a:latin typeface="Aptos"/>
              </a:rPr>
              <a:t>2m gate: Pole 1.12 m, Ego 1.36 m</a:t>
            </a:r>
          </a:p>
          <a:p>
            <a:pPr algn="l"/>
            <a:r>
              <a:rPr lang="en-US" sz="1200">
                <a:solidFill>
                  <a:srgbClr val="202A33"/>
                </a:solidFill>
                <a:latin typeface="Aptos"/>
              </a:rPr>
              <a:t>5m gate: Pole 2.06 m, Ego 3.21 m</a:t>
            </a:r>
          </a:p>
        </p:txBody>
      </p:sp>
      <p:sp>
        <p:nvSpPr>
          <p:cNvPr id="13" name="Shape 13"/>
          <p:cNvSpPr/>
          <p:nvPr/>
        </p:nvSpPr>
        <p:spPr>
          <a:xfrm>
            <a:off x="7726680" y="3977640"/>
            <a:ext cx="73152" cy="1097280"/>
          </a:xfrm>
          <a:prstGeom prst="rect">
            <a:avLst/>
          </a:prstGeom>
          <a:solidFill>
            <a:srgbClr val="007C89"/>
          </a:solidFill>
          <a:ln>
            <a:noFill/>
          </a:ln>
        </p:spPr>
      </p:sp>
      <p:sp>
        <p:nvSpPr>
          <p:cNvPr id="14" name="Text 14"/>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5" name="Text 15"/>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POLE-TRAINED CHECKPOINT</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Transfer Retention Across Tasks</a:t>
            </a:r>
          </a:p>
        </p:txBody>
      </p:sp>
      <p:sp>
        <p:nvSpPr>
          <p:cNvPr id="6" name="Shape 6"/>
          <p:cNvSpPr/>
          <p:nvPr/>
        </p:nvSpPr>
        <p:spPr>
          <a:xfrm>
            <a:off x="502920" y="987552"/>
            <a:ext cx="1143000" cy="45720"/>
          </a:xfrm>
          <a:prstGeom prst="rect">
            <a:avLst/>
          </a:prstGeom>
          <a:solidFill>
            <a:srgbClr val="D56A21"/>
          </a:solidFill>
          <a:ln>
            <a:noFill/>
          </a:ln>
        </p:spPr>
      </p:sp>
      <p:pic>
        <p:nvPicPr>
          <p:cNvPr id="7" name="fusion_transfer_retention_summary.png"/>
          <p:cNvPicPr/>
          <p:nvPr/>
        </p:nvPicPr>
        <p:blipFill>
          <a:blip r:embed="rId2"/>
          <a:stretch>
            <a:fillRect/>
          </a:stretch>
        </p:blipFill>
        <p:spPr>
          <a:xfrm>
            <a:off x="640080" y="1143000"/>
            <a:ext cx="6537960" cy="3063240"/>
          </a:xfrm>
          <a:prstGeom prst="rect">
            <a:avLst/>
          </a:prstGeom>
        </p:spPr>
      </p:pic>
      <p:sp>
        <p:nvSpPr>
          <p:cNvPr id="8" name="Text 8"/>
          <p:cNvSpPr txBox="1"/>
          <p:nvPr/>
        </p:nvSpPr>
        <p:spPr>
          <a:xfrm>
            <a:off x="7452360" y="1234440"/>
            <a:ext cx="3703320" cy="1234440"/>
          </a:xfrm>
          <a:prstGeom prst="roundRect">
            <a:avLst/>
          </a:prstGeom>
          <a:solidFill>
            <a:srgbClr val="FFFFFF"/>
          </a:solidFill>
          <a:ln w="9525">
            <a:solidFill>
              <a:srgbClr val="3D7A46"/>
            </a:solidFill>
          </a:ln>
        </p:spPr>
        <p:txBody>
          <a:bodyPr wrap="square" lIns="109728" rIns="109728" tIns="109728" bIns="109728">
            <a:spAutoFit/>
          </a:bodyPr>
          <a:lstStyle/>
          <a:p>
            <a:pPr algn="l"/>
            <a:r>
              <a:rPr lang="en-US" sz="1200">
                <a:solidFill>
                  <a:srgbClr val="202A33"/>
                </a:solidFill>
                <a:latin typeface="Aptos"/>
              </a:rPr>
              <a:t>Segmentation</a:t>
            </a:r>
          </a:p>
          <a:p>
            <a:pPr algn="l"/>
            <a:r>
              <a:rPr lang="en-US" sz="1200">
                <a:solidFill>
                  <a:srgbClr val="202A33"/>
                </a:solidFill>
                <a:latin typeface="Aptos"/>
              </a:rPr>
              <a:t>Binary foreground segmentation nearly transfers. Vehicle IoU transfers at about 64% of pole performance.</a:t>
            </a:r>
          </a:p>
        </p:txBody>
      </p:sp>
      <p:sp>
        <p:nvSpPr>
          <p:cNvPr id="9" name="Shape 9"/>
          <p:cNvSpPr/>
          <p:nvPr/>
        </p:nvSpPr>
        <p:spPr>
          <a:xfrm>
            <a:off x="7452360" y="1234440"/>
            <a:ext cx="73152" cy="1234440"/>
          </a:xfrm>
          <a:prstGeom prst="rect">
            <a:avLst/>
          </a:prstGeom>
          <a:solidFill>
            <a:srgbClr val="3D7A46"/>
          </a:solidFill>
          <a:ln>
            <a:noFill/>
          </a:ln>
        </p:spPr>
      </p:sp>
      <p:sp>
        <p:nvSpPr>
          <p:cNvPr id="10" name="Text 10"/>
          <p:cNvSpPr txBox="1"/>
          <p:nvPr/>
        </p:nvSpPr>
        <p:spPr>
          <a:xfrm>
            <a:off x="7452360" y="2743200"/>
            <a:ext cx="3703320" cy="1234440"/>
          </a:xfrm>
          <a:prstGeom prst="roundRect">
            <a:avLst/>
          </a:prstGeom>
          <a:solidFill>
            <a:srgbClr val="FFFFFF"/>
          </a:solidFill>
          <a:ln w="9525">
            <a:solidFill>
              <a:srgbClr val="B23A48"/>
            </a:solidFill>
          </a:ln>
        </p:spPr>
        <p:txBody>
          <a:bodyPr wrap="square" lIns="109728" rIns="109728" tIns="109728" bIns="109728">
            <a:spAutoFit/>
          </a:bodyPr>
          <a:lstStyle/>
          <a:p>
            <a:pPr algn="l"/>
            <a:r>
              <a:rPr lang="en-US" sz="1200">
                <a:solidFill>
                  <a:srgbClr val="202A33"/>
                </a:solidFill>
                <a:latin typeface="Aptos"/>
              </a:rPr>
              <a:t>Object Detection</a:t>
            </a:r>
          </a:p>
          <a:p>
            <a:pPr algn="l"/>
            <a:r>
              <a:rPr lang="en-US" sz="1200">
                <a:solidFill>
                  <a:srgbClr val="202A33"/>
                </a:solidFill>
                <a:latin typeface="Aptos"/>
              </a:rPr>
              <a:t>OD recall transfers poorly: about 8% retention at 2 m, about 21% retention at 5 m.</a:t>
            </a:r>
          </a:p>
        </p:txBody>
      </p:sp>
      <p:sp>
        <p:nvSpPr>
          <p:cNvPr id="11" name="Shape 11"/>
          <p:cNvSpPr/>
          <p:nvPr/>
        </p:nvSpPr>
        <p:spPr>
          <a:xfrm>
            <a:off x="7452360" y="2743200"/>
            <a:ext cx="73152" cy="1234440"/>
          </a:xfrm>
          <a:prstGeom prst="rect">
            <a:avLst/>
          </a:prstGeom>
          <a:solidFill>
            <a:srgbClr val="B23A48"/>
          </a:solidFill>
          <a:ln>
            <a:noFill/>
          </a:ln>
        </p:spPr>
      </p:sp>
      <p:sp>
        <p:nvSpPr>
          <p:cNvPr id="12" name="Text 12"/>
          <p:cNvSpPr txBox="1"/>
          <p:nvPr/>
        </p:nvSpPr>
        <p:spPr>
          <a:xfrm>
            <a:off x="7452360" y="4251960"/>
            <a:ext cx="3703320" cy="123444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Why It Matters</a:t>
            </a:r>
          </a:p>
          <a:p>
            <a:pPr algn="l"/>
            <a:r>
              <a:rPr lang="en-US" sz="1200">
                <a:solidFill>
                  <a:srgbClr val="202A33"/>
                </a:solidFill>
                <a:latin typeface="Aptos"/>
              </a:rPr>
              <a:t>Spatial maps need object centers and pose, not just foreground pixels. OD transfer is the blocker for parked-ego map sharing.</a:t>
            </a:r>
          </a:p>
        </p:txBody>
      </p:sp>
      <p:sp>
        <p:nvSpPr>
          <p:cNvPr id="13" name="Shape 13"/>
          <p:cNvSpPr/>
          <p:nvPr/>
        </p:nvSpPr>
        <p:spPr>
          <a:xfrm>
            <a:off x="7452360" y="4251960"/>
            <a:ext cx="73152" cy="1234440"/>
          </a:xfrm>
          <a:prstGeom prst="rect">
            <a:avLst/>
          </a:prstGeom>
          <a:solidFill>
            <a:srgbClr val="D56A21"/>
          </a:solidFill>
          <a:ln>
            <a:noFill/>
          </a:ln>
        </p:spPr>
      </p:sp>
      <p:sp>
        <p:nvSpPr>
          <p:cNvPr id="14" name="Text 14"/>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5" name="Text 15"/>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WHAT THE NUMBERS IMPLY</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Interpretation</a:t>
            </a:r>
          </a:p>
        </p:txBody>
      </p:sp>
      <p:sp>
        <p:nvSpPr>
          <p:cNvPr id="6" name="Shape 6"/>
          <p:cNvSpPr/>
          <p:nvPr/>
        </p:nvSpPr>
        <p:spPr>
          <a:xfrm>
            <a:off x="502920" y="987552"/>
            <a:ext cx="1143000" cy="45720"/>
          </a:xfrm>
          <a:prstGeom prst="rect">
            <a:avLst/>
          </a:prstGeom>
          <a:solidFill>
            <a:srgbClr val="D56A21"/>
          </a:solidFill>
          <a:ln>
            <a:noFill/>
          </a:ln>
        </p:spPr>
      </p:sp>
      <p:sp>
        <p:nvSpPr>
          <p:cNvPr id="7" name="Text 7"/>
          <p:cNvSpPr txBox="1"/>
          <p:nvPr/>
        </p:nvSpPr>
        <p:spPr>
          <a:xfrm>
            <a:off x="594360" y="1234440"/>
            <a:ext cx="3520440" cy="4526280"/>
          </a:xfrm>
          <a:prstGeom prst="roundRect">
            <a:avLst/>
          </a:prstGeom>
          <a:solidFill>
            <a:srgbClr val="FFFFFF"/>
          </a:solidFill>
          <a:ln w="9525">
            <a:solidFill>
              <a:srgbClr val="007C89"/>
            </a:solidFill>
          </a:ln>
        </p:spPr>
        <p:txBody>
          <a:bodyPr wrap="square" lIns="109728" rIns="109728" tIns="109728" bIns="109728">
            <a:spAutoFit/>
          </a:bodyPr>
          <a:lstStyle/>
          <a:p>
            <a:pPr algn="l"/>
            <a:r>
              <a:rPr lang="en-US" sz="1200">
                <a:solidFill>
                  <a:srgbClr val="202A33"/>
                </a:solidFill>
                <a:latin typeface="Aptos"/>
              </a:rPr>
              <a:t>Not a Total Coordinate Failure</a:t>
            </a:r>
          </a:p>
          <a:p>
            <a:pPr algn="l"/>
            <a:r>
              <a:rPr lang="en-US" sz="1200">
                <a:solidFill>
                  <a:srgbClr val="202A33"/>
                </a:solidFill>
                <a:latin typeface="Aptos"/>
              </a:rPr>
              <a:t>Matched OD predictions have reasonable XY error: about 1.1 m on pole streams at the 2 m gate. The model can localize objects it detects.</a:t>
            </a:r>
          </a:p>
        </p:txBody>
      </p:sp>
      <p:sp>
        <p:nvSpPr>
          <p:cNvPr id="8" name="Shape 8"/>
          <p:cNvSpPr/>
          <p:nvPr/>
        </p:nvSpPr>
        <p:spPr>
          <a:xfrm>
            <a:off x="594360" y="1234440"/>
            <a:ext cx="73152" cy="4526280"/>
          </a:xfrm>
          <a:prstGeom prst="rect">
            <a:avLst/>
          </a:prstGeom>
          <a:solidFill>
            <a:srgbClr val="007C89"/>
          </a:solidFill>
          <a:ln>
            <a:noFill/>
          </a:ln>
        </p:spPr>
      </p:sp>
      <p:sp>
        <p:nvSpPr>
          <p:cNvPr id="9" name="Text 9"/>
          <p:cNvSpPr txBox="1"/>
          <p:nvPr/>
        </p:nvSpPr>
        <p:spPr>
          <a:xfrm>
            <a:off x="4343400" y="1234440"/>
            <a:ext cx="3520440" cy="452628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Likely Failure Mode</a:t>
            </a:r>
          </a:p>
          <a:p>
            <a:pPr algn="l"/>
            <a:r>
              <a:rPr lang="en-US" sz="1200">
                <a:solidFill>
                  <a:srgbClr val="202A33"/>
                </a:solidFill>
                <a:latin typeface="Aptos"/>
              </a:rPr>
              <a:t>The object-center detector and confidence distribution do not transfer from high pole views to parked-ego front views. The segmentation head is more robust than the object head.</a:t>
            </a:r>
          </a:p>
        </p:txBody>
      </p:sp>
      <p:sp>
        <p:nvSpPr>
          <p:cNvPr id="10" name="Shape 10"/>
          <p:cNvSpPr/>
          <p:nvPr/>
        </p:nvSpPr>
        <p:spPr>
          <a:xfrm>
            <a:off x="4343400" y="1234440"/>
            <a:ext cx="73152" cy="4526280"/>
          </a:xfrm>
          <a:prstGeom prst="rect">
            <a:avLst/>
          </a:prstGeom>
          <a:solidFill>
            <a:srgbClr val="D56A21"/>
          </a:solidFill>
          <a:ln>
            <a:noFill/>
          </a:ln>
        </p:spPr>
      </p:sp>
      <p:sp>
        <p:nvSpPr>
          <p:cNvPr id="11" name="Text 11"/>
          <p:cNvSpPr txBox="1"/>
          <p:nvPr/>
        </p:nvSpPr>
        <p:spPr>
          <a:xfrm>
            <a:off x="8092440" y="1234440"/>
            <a:ext cx="3520440" cy="4526280"/>
          </a:xfrm>
          <a:prstGeom prst="roundRect">
            <a:avLst/>
          </a:prstGeom>
          <a:solidFill>
            <a:srgbClr val="FFFFFF"/>
          </a:solidFill>
          <a:ln w="9525">
            <a:solidFill>
              <a:srgbClr val="7057A3"/>
            </a:solidFill>
          </a:ln>
        </p:spPr>
        <p:txBody>
          <a:bodyPr wrap="square" lIns="109728" rIns="109728" tIns="109728" bIns="109728">
            <a:spAutoFit/>
          </a:bodyPr>
          <a:lstStyle/>
          <a:p>
            <a:pPr algn="l"/>
            <a:r>
              <a:rPr lang="en-US" sz="1200">
                <a:solidFill>
                  <a:srgbClr val="202A33"/>
                </a:solidFill>
                <a:latin typeface="Aptos"/>
              </a:rPr>
              <a:t>Checkpoint Caveat</a:t>
            </a:r>
          </a:p>
          <a:p>
            <a:pPr algn="l"/>
            <a:r>
              <a:rPr lang="en-US" sz="1200">
                <a:solidFill>
                  <a:srgbClr val="202A33"/>
                </a:solidFill>
                <a:latin typeface="Aptos"/>
              </a:rPr>
              <a:t>Checkpoint metadata stores best_miou and selection score. It does not store object AP/recall, so the saved best checkpoint may be segmentation-selected rather than OD-selected.</a:t>
            </a:r>
          </a:p>
        </p:txBody>
      </p:sp>
      <p:sp>
        <p:nvSpPr>
          <p:cNvPr id="12" name="Shape 12"/>
          <p:cNvSpPr/>
          <p:nvPr/>
        </p:nvSpPr>
        <p:spPr>
          <a:xfrm>
            <a:off x="8092440" y="1234440"/>
            <a:ext cx="73152" cy="4526280"/>
          </a:xfrm>
          <a:prstGeom prst="rect">
            <a:avLst/>
          </a:prstGeom>
          <a:solidFill>
            <a:srgbClr val="7057A3"/>
          </a:solidFill>
          <a:ln>
            <a:noFill/>
          </a:ln>
        </p:spPr>
      </p:sp>
      <p:sp>
        <p:nvSpPr>
          <p:cNvPr id="13" name="Text 13"/>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4" name="Text 14"/>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FFF"/>
          </a:solidFill>
          <a:ln>
            <a:noFill/>
          </a:ln>
        </p:spPr>
      </p:sp>
      <p:sp>
        <p:nvSpPr>
          <p:cNvPr id="3" name="Shape 3"/>
          <p:cNvSpPr/>
          <p:nvPr/>
        </p:nvSpPr>
        <p:spPr>
          <a:xfrm>
            <a:off x="0" y="0"/>
            <a:ext cx="164592" cy="6858000"/>
          </a:xfrm>
          <a:prstGeom prst="rect">
            <a:avLst/>
          </a:prstGeom>
          <a:solidFill>
            <a:srgbClr val="007C89"/>
          </a:solidFill>
          <a:ln>
            <a:noFill/>
          </a:ln>
        </p:spPr>
      </p:sp>
      <p:sp>
        <p:nvSpPr>
          <p:cNvPr id="4" name="Text 4"/>
          <p:cNvSpPr txBox="1"/>
          <p:nvPr/>
        </p:nvSpPr>
        <p:spPr>
          <a:xfrm>
            <a:off x="502920" y="201168"/>
            <a:ext cx="6858000" cy="228600"/>
          </a:xfrm>
          <a:prstGeom prst="rect">
            <a:avLst/>
          </a:prstGeom>
          <a:noFill/>
          <a:ln>
            <a:noFill/>
          </a:ln>
        </p:spPr>
        <p:txBody>
          <a:bodyPr wrap="square" lIns="73152" rIns="73152" tIns="73152" bIns="73152">
            <a:spAutoFit/>
          </a:bodyPr>
          <a:lstStyle/>
          <a:p>
            <a:pPr algn="l"/>
            <a:r>
              <a:rPr lang="en-US" sz="800" b="1">
                <a:solidFill>
                  <a:srgbClr val="007C89"/>
                </a:solidFill>
                <a:latin typeface="Aptos"/>
              </a:rPr>
              <a:t>DECISION</a:t>
            </a:r>
          </a:p>
        </p:txBody>
      </p:sp>
      <p:sp>
        <p:nvSpPr>
          <p:cNvPr id="5" name="Text 5"/>
          <p:cNvSpPr txBox="1"/>
          <p:nvPr/>
        </p:nvSpPr>
        <p:spPr>
          <a:xfrm>
            <a:off x="502920" y="420624"/>
            <a:ext cx="10972800" cy="530352"/>
          </a:xfrm>
          <a:prstGeom prst="rect">
            <a:avLst/>
          </a:prstGeom>
          <a:noFill/>
          <a:ln>
            <a:noFill/>
          </a:ln>
        </p:spPr>
        <p:txBody>
          <a:bodyPr wrap="square" lIns="73152" rIns="73152" tIns="73152" bIns="73152">
            <a:spAutoFit/>
          </a:bodyPr>
          <a:lstStyle/>
          <a:p>
            <a:pPr algn="l"/>
            <a:r>
              <a:rPr lang="en-US" sz="2500" b="1">
                <a:solidFill>
                  <a:srgbClr val="17324D"/>
                </a:solidFill>
                <a:latin typeface="Aptos"/>
              </a:rPr>
              <a:t>Conclusion and Next Steps</a:t>
            </a:r>
          </a:p>
        </p:txBody>
      </p:sp>
      <p:sp>
        <p:nvSpPr>
          <p:cNvPr id="6" name="Shape 6"/>
          <p:cNvSpPr/>
          <p:nvPr/>
        </p:nvSpPr>
        <p:spPr>
          <a:xfrm>
            <a:off x="502920" y="987552"/>
            <a:ext cx="1143000" cy="45720"/>
          </a:xfrm>
          <a:prstGeom prst="rect">
            <a:avLst/>
          </a:prstGeom>
          <a:solidFill>
            <a:srgbClr val="D56A21"/>
          </a:solidFill>
          <a:ln>
            <a:noFill/>
          </a:ln>
        </p:spPr>
      </p:sp>
      <p:sp>
        <p:nvSpPr>
          <p:cNvPr id="7" name="Text 7"/>
          <p:cNvSpPr txBox="1"/>
          <p:nvPr/>
        </p:nvSpPr>
        <p:spPr>
          <a:xfrm>
            <a:off x="685800" y="1325880"/>
            <a:ext cx="10881360" cy="749808"/>
          </a:xfrm>
          <a:prstGeom prst="rect">
            <a:avLst/>
          </a:prstGeom>
          <a:noFill/>
          <a:ln>
            <a:noFill/>
          </a:ln>
        </p:spPr>
        <p:txBody>
          <a:bodyPr wrap="square" lIns="73152" rIns="73152" tIns="73152" bIns="73152">
            <a:spAutoFit/>
          </a:bodyPr>
          <a:lstStyle/>
          <a:p>
            <a:pPr algn="ctr"/>
            <a:r>
              <a:rPr lang="en-US" sz="2000" b="1">
                <a:solidFill>
                  <a:srgbClr val="17324D"/>
                </a:solidFill>
                <a:latin typeface="Aptos"/>
              </a:rPr>
              <a:t>Conclusion: the pole-trained RGB+radar fusion model partially transfers for segmentation, but does not transfer well enough for parked-ego object detection/localization.</a:t>
            </a:r>
          </a:p>
        </p:txBody>
      </p:sp>
      <p:sp>
        <p:nvSpPr>
          <p:cNvPr id="8" name="Text 8"/>
          <p:cNvSpPr txBox="1"/>
          <p:nvPr/>
        </p:nvSpPr>
        <p:spPr>
          <a:xfrm>
            <a:off x="777240" y="2423160"/>
            <a:ext cx="3429000" cy="2971800"/>
          </a:xfrm>
          <a:prstGeom prst="roundRect">
            <a:avLst/>
          </a:prstGeom>
          <a:solidFill>
            <a:srgbClr val="FFFFFF"/>
          </a:solidFill>
          <a:ln w="9525">
            <a:solidFill>
              <a:srgbClr val="B23A48"/>
            </a:solidFill>
          </a:ln>
        </p:spPr>
        <p:txBody>
          <a:bodyPr wrap="square" lIns="109728" rIns="109728" tIns="109728" bIns="109728">
            <a:spAutoFit/>
          </a:bodyPr>
          <a:lstStyle/>
          <a:p>
            <a:pPr algn="l"/>
            <a:r>
              <a:rPr lang="en-US" sz="1200">
                <a:solidFill>
                  <a:srgbClr val="202A33"/>
                </a:solidFill>
                <a:latin typeface="Aptos"/>
              </a:rPr>
              <a:t>Use As-Is?</a:t>
            </a:r>
          </a:p>
          <a:p>
            <a:pPr algn="l"/>
            <a:r>
              <a:rPr lang="en-US" sz="1200">
                <a:solidFill>
                  <a:srgbClr val="202A33"/>
                </a:solidFill>
                <a:latin typeface="Aptos"/>
              </a:rPr>
              <a:t>Segmentation: usable for baseline transfer analysis.</a:t>
            </a:r>
          </a:p>
          <a:p/>
          <a:p>
            <a:pPr algn="l"/>
            <a:r>
              <a:rPr lang="en-US" sz="1200">
                <a:solidFill>
                  <a:srgbClr val="202A33"/>
                </a:solidFill>
                <a:latin typeface="Aptos"/>
              </a:rPr>
              <a:t>OD/localization: not sufficient for parked-ego spatial-map experiments.</a:t>
            </a:r>
          </a:p>
        </p:txBody>
      </p:sp>
      <p:sp>
        <p:nvSpPr>
          <p:cNvPr id="9" name="Shape 9"/>
          <p:cNvSpPr/>
          <p:nvPr/>
        </p:nvSpPr>
        <p:spPr>
          <a:xfrm>
            <a:off x="777240" y="2423160"/>
            <a:ext cx="73152" cy="2971800"/>
          </a:xfrm>
          <a:prstGeom prst="rect">
            <a:avLst/>
          </a:prstGeom>
          <a:solidFill>
            <a:srgbClr val="B23A48"/>
          </a:solidFill>
          <a:ln>
            <a:noFill/>
          </a:ln>
        </p:spPr>
      </p:sp>
      <p:sp>
        <p:nvSpPr>
          <p:cNvPr id="10" name="Text 10"/>
          <p:cNvSpPr txBox="1"/>
          <p:nvPr/>
        </p:nvSpPr>
        <p:spPr>
          <a:xfrm>
            <a:off x="4434840" y="2423160"/>
            <a:ext cx="3429000" cy="2971800"/>
          </a:xfrm>
          <a:prstGeom prst="roundRect">
            <a:avLst/>
          </a:prstGeom>
          <a:solidFill>
            <a:srgbClr val="FFFFFF"/>
          </a:solidFill>
          <a:ln w="9525">
            <a:solidFill>
              <a:srgbClr val="3D7A46"/>
            </a:solidFill>
          </a:ln>
        </p:spPr>
        <p:txBody>
          <a:bodyPr wrap="square" lIns="109728" rIns="109728" tIns="109728" bIns="109728">
            <a:spAutoFit/>
          </a:bodyPr>
          <a:lstStyle/>
          <a:p>
            <a:pPr algn="l"/>
            <a:r>
              <a:rPr lang="en-US" sz="1200">
                <a:solidFill>
                  <a:srgbClr val="202A33"/>
                </a:solidFill>
                <a:latin typeface="Aptos"/>
              </a:rPr>
              <a:t>Recommended Fix</a:t>
            </a:r>
          </a:p>
          <a:p>
            <a:pPr algn="l"/>
            <a:r>
              <a:rPr lang="en-US" sz="1200">
                <a:solidFill>
                  <a:srgbClr val="202A33"/>
                </a:solidFill>
                <a:latin typeface="Aptos"/>
              </a:rPr>
              <a:t>Collect parked-ego RGB/radar/object-label samples and fine-tune or retrain the object head. Keep pole data mixed in to avoid forgetting.</a:t>
            </a:r>
          </a:p>
        </p:txBody>
      </p:sp>
      <p:sp>
        <p:nvSpPr>
          <p:cNvPr id="11" name="Shape 11"/>
          <p:cNvSpPr/>
          <p:nvPr/>
        </p:nvSpPr>
        <p:spPr>
          <a:xfrm>
            <a:off x="4434840" y="2423160"/>
            <a:ext cx="73152" cy="2971800"/>
          </a:xfrm>
          <a:prstGeom prst="rect">
            <a:avLst/>
          </a:prstGeom>
          <a:solidFill>
            <a:srgbClr val="3D7A46"/>
          </a:solidFill>
          <a:ln>
            <a:noFill/>
          </a:ln>
        </p:spPr>
      </p:sp>
      <p:sp>
        <p:nvSpPr>
          <p:cNvPr id="12" name="Text 12"/>
          <p:cNvSpPr txBox="1"/>
          <p:nvPr/>
        </p:nvSpPr>
        <p:spPr>
          <a:xfrm>
            <a:off x="8092440" y="2423160"/>
            <a:ext cx="3429000" cy="2971800"/>
          </a:xfrm>
          <a:prstGeom prst="roundRect">
            <a:avLst/>
          </a:prstGeom>
          <a:solidFill>
            <a:srgbClr val="FFFFFF"/>
          </a:solidFill>
          <a:ln w="9525">
            <a:solidFill>
              <a:srgbClr val="D56A21"/>
            </a:solidFill>
          </a:ln>
        </p:spPr>
        <p:txBody>
          <a:bodyPr wrap="square" lIns="109728" rIns="109728" tIns="109728" bIns="109728">
            <a:spAutoFit/>
          </a:bodyPr>
          <a:lstStyle/>
          <a:p>
            <a:pPr algn="l"/>
            <a:r>
              <a:rPr lang="en-US" sz="1200">
                <a:solidFill>
                  <a:srgbClr val="202A33"/>
                </a:solidFill>
                <a:latin typeface="Aptos"/>
              </a:rPr>
              <a:t>Evaluation Next</a:t>
            </a:r>
          </a:p>
          <a:p>
            <a:pPr algn="l"/>
            <a:r>
              <a:rPr lang="en-US" sz="1200">
                <a:solidFill>
                  <a:srgbClr val="202A33"/>
                </a:solidFill>
                <a:latin typeface="Aptos"/>
              </a:rPr>
              <a:t>Pull full OD CSVs if we want yaw/dimension plots, score calibration, false positives per frame, and confidence-threshold sweeps.</a:t>
            </a:r>
          </a:p>
        </p:txBody>
      </p:sp>
      <p:sp>
        <p:nvSpPr>
          <p:cNvPr id="13" name="Shape 13"/>
          <p:cNvSpPr/>
          <p:nvPr/>
        </p:nvSpPr>
        <p:spPr>
          <a:xfrm>
            <a:off x="8092440" y="2423160"/>
            <a:ext cx="73152" cy="2971800"/>
          </a:xfrm>
          <a:prstGeom prst="rect">
            <a:avLst/>
          </a:prstGeom>
          <a:solidFill>
            <a:srgbClr val="D56A21"/>
          </a:solidFill>
          <a:ln>
            <a:noFill/>
          </a:ln>
        </p:spPr>
      </p:sp>
      <p:sp>
        <p:nvSpPr>
          <p:cNvPr id="14" name="Text 14"/>
          <p:cNvSpPr txBox="1"/>
          <p:nvPr/>
        </p:nvSpPr>
        <p:spPr>
          <a:xfrm>
            <a:off x="502920" y="6510528"/>
            <a:ext cx="4754880" cy="182880"/>
          </a:xfrm>
          <a:prstGeom prst="rect">
            <a:avLst/>
          </a:prstGeom>
          <a:noFill/>
          <a:ln>
            <a:noFill/>
          </a:ln>
        </p:spPr>
        <p:txBody>
          <a:bodyPr wrap="square" lIns="73152" rIns="73152" tIns="73152" bIns="73152">
            <a:spAutoFit/>
          </a:bodyPr>
          <a:lstStyle/>
          <a:p>
            <a:pPr algn="l"/>
            <a:r>
              <a:rPr lang="en-US" sz="700">
                <a:solidFill>
                  <a:srgbClr val="637381"/>
                </a:solidFill>
                <a:latin typeface="Aptos"/>
              </a:rPr>
              <a:t>SceneSense fusion transferability</a:t>
            </a:r>
          </a:p>
        </p:txBody>
      </p:sp>
      <p:sp>
        <p:nvSpPr>
          <p:cNvPr id="15" name="Text 15"/>
          <p:cNvSpPr txBox="1"/>
          <p:nvPr/>
        </p:nvSpPr>
        <p:spPr>
          <a:xfrm>
            <a:off x="11155680" y="6510528"/>
            <a:ext cx="502920" cy="182880"/>
          </a:xfrm>
          <a:prstGeom prst="rect">
            <a:avLst/>
          </a:prstGeom>
          <a:noFill/>
          <a:ln>
            <a:noFill/>
          </a:ln>
        </p:spPr>
        <p:txBody>
          <a:bodyPr wrap="square" lIns="73152" rIns="73152" tIns="73152" bIns="73152">
            <a:spAutoFit/>
          </a:bodyPr>
          <a:lstStyle/>
          <a:p>
            <a:pPr algn="r"/>
            <a:r>
              <a:rPr lang="en-US" sz="700">
                <a:solidFill>
                  <a:srgbClr val="637381"/>
                </a:solidFill>
                <a:latin typeface="Aptos"/>
              </a:rPr>
              <a:t>10</a:t>
            </a:r>
          </a:p>
        </p:txBody>
      </p:sp>
    </p:spTree>
  </p:cSld>
  <p:clrMapOvr>
    <a:masterClrMapping/>
  </p:clrMapOvr>
</p:sld>
</file>

<file path=ppt/theme/theme1.xml><?xml version="1.0" encoding="utf-8"?>
<a:theme xmlns:a="http://schemas.openxmlformats.org/drawingml/2006/main" name="SceneSense Transfer">
  <a:themeElements>
    <a:clrScheme name="SceneSense">
      <a:dk1>
        <a:srgbClr val="202A33"/>
      </a:dk1>
      <a:lt1>
        <a:srgbClr val="FFFFFF"/>
      </a:lt1>
      <a:dk2>
        <a:srgbClr val="17324D"/>
      </a:dk2>
      <a:lt2>
        <a:srgbClr val="F3F6F8"/>
      </a:lt2>
      <a:accent1>
        <a:srgbClr val="007C89"/>
      </a:accent1>
      <a:accent2>
        <a:srgbClr val="D56A21"/>
      </a:accent2>
      <a:accent3>
        <a:srgbClr val="3D7A46"/>
      </a:accent3>
      <a:accent4>
        <a:srgbClr val="2F6FAD"/>
      </a:accent4>
      <a:accent5>
        <a:srgbClr val="7057A3"/>
      </a:accent5>
      <a:accent6>
        <a:srgbClr val="B23A48"/>
      </a:accent6>
      <a:hlink>
        <a:srgbClr val="2F6FAD"/>
      </a:hlink>
      <a:folHlink>
        <a:srgbClr val="7057A3"/>
      </a:folHlink>
    </a:clrScheme>
    <a:fontScheme name="SceneSense">
      <a:majorFont>
        <a:latin typeface="Aptos Display"/>
        <a:ea typeface=""/>
        <a:cs typeface=""/>
      </a:majorFont>
      <a:minorFont>
        <a:latin typeface="Aptos"/>
        <a:ea typeface=""/>
        <a:cs typeface=""/>
      </a:minorFont>
    </a:fontScheme>
    <a:fmtScheme name="SceneSense">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SceneSense Transfer Deck Generator</Application>
  <PresentationFormat>On-screen Show (16:9)</PresentationFormat>
  <Slides>10</Slides>
  <Company>SceneSense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SceneSense Fusion Model Transferability</dc:title>
  <dc:creator>SceneSense Project</dc:creator>
  <cp:lastModifiedBy>Codex</cp:lastModifiedBy>
  <dc:description>Pole-trained RGB+radar fusion model transfer from traffic-light poles to parked ego vehicles.</dc:description>
  <dcterms:created xsi:type="dcterms:W3CDTF">2026-06-04T00:00:00Z</dcterms:created>
  <dcterms:modified xsi:type="dcterms:W3CDTF">2026-06-04T00:00:00Z</dcterms:modified>
</cp:coreProperties>
</file>